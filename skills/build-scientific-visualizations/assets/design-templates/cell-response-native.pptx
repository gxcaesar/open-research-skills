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6c35a10ed4495a" /><Relationship Type="http://schemas.openxmlformats.org/officeDocument/2006/relationships/extended-properties" Target="/docProps/app.xml" Id="R6986bd80ba284091" /><Relationship Type="http://schemas.openxmlformats.org/officeDocument/2006/relationships/officeDocument" Target="/ppt/presentation.xml" Id="R7a4606cfc1d149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3b941b1a294396"/>
  </p:sldMasterIdLst>
  <p:notesMasterIdLst>
    <p:notesMasterId xmlns:r="http://schemas.openxmlformats.org/officeDocument/2006/relationships" r:id="R9032e935e08f40c8"/>
  </p:notesMasterIdLst>
  <p:sldIdLst>
    <p:sldId xmlns:r="http://schemas.openxmlformats.org/officeDocument/2006/relationships" id="256" r:id="R3b7b9c05f26c4f02"/>
  </p:sldIdLst>
  <p:sldSz cx="6480000" cy="378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b38a5ed46e437a" /><Relationship Type="http://schemas.openxmlformats.org/officeDocument/2006/relationships/slideMaster" Target="/ppt/slideMasters/slideMaster1.xml" Id="Rd43b941b1a294396" /><Relationship Type="http://schemas.openxmlformats.org/officeDocument/2006/relationships/notesMaster" Target="/ppt/notesMasters/notesMaster1.xml" Id="R9032e935e08f40c8" /><Relationship Type="http://schemas.openxmlformats.org/officeDocument/2006/relationships/presProps" Target="/ppt/presProps.xml" Id="R6756f5be2a8a4be4" /><Relationship Type="http://schemas.openxmlformats.org/officeDocument/2006/relationships/tableStyles" Target="/ppt/tableStyles.xml" Id="R36b810688d9947bd" /><Relationship Type="http://schemas.openxmlformats.org/officeDocument/2006/relationships/slide" Target="/ppt/slides/slide1.xml" Id="R3b7b9c05f26c4f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0df60189b44d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634b2a2cab4270" /><Relationship Type="http://schemas.openxmlformats.org/officeDocument/2006/relationships/notesMaster" Target="/ppt/notesMasters/notesMaster1.xml" Id="Rc93871f4d7c447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schematic reconstructed from an AI-generated concept. Cell silhouettes, node counts, profile tiles and shading are not measurements or a specified published architecture. Dashed arrows denote prediction and conditioning.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80a37ba314a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8218a5eac24e3c" /><Relationship Type="http://schemas.openxmlformats.org/officeDocument/2006/relationships/slideLayout" Target="/ppt/slideLayouts/slideLayout1.xml" Id="R886545093af848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6545093af848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f88f7306a45c1" /><Relationship Type="http://schemas.openxmlformats.org/officeDocument/2006/relationships/notesSlide" Target="/ppt/notesSlides/notesSlide1.xml" Id="R3b4cd59dc14c47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" name="title">
            <a:extLst xmlns:a="http://schemas.openxmlformats.org/drawingml/2006/main">
              <a:ext uri="{FF2B5EF4-FFF2-40B4-BE49-F238E27FC236}">
                <a16:creationId xmlns:a16="http://schemas.microsoft.com/office/drawing/2014/main" id="{B0621EF4-02D5-40D5-8C84-DFE1318F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000" y="81000"/>
            <a:ext cx="5508000" cy="29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01" b="1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701" b="1">
                <a:solidFill>
                  <a:srgbClr val="27323D"/>
                </a:solidFill>
                <a:latin typeface="Arial"/>
                <a:ea typeface="Arial"/>
                <a:cs typeface="Arial"/>
              </a:rPr>
              <a:t>Cell-state response modeling</a:t>
            </a:r>
          </a:p>
        </p:txBody>
      </p:sp>
      <p:sp>
        <p:nvSpPr>
          <p:cNvPr id="2" name="cell-state-heading">
            <a:extLst xmlns:a="http://schemas.openxmlformats.org/drawingml/2006/main">
              <a:ext uri="{FF2B5EF4-FFF2-40B4-BE49-F238E27FC236}">
                <a16:creationId xmlns:a16="http://schemas.microsoft.com/office/drawing/2014/main" id="{26D92E6F-EF37-46B7-BBD9-E16D4673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00" y="696600"/>
            <a:ext cx="1431000" cy="2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63" b="1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063" b="1">
                <a:solidFill>
                  <a:srgbClr val="27323D"/>
                </a:solidFill>
                <a:latin typeface="Arial"/>
                <a:ea typeface="Arial"/>
                <a:cs typeface="Arial"/>
              </a:rPr>
              <a:t>Cell state</a:t>
            </a:r>
          </a:p>
        </p:txBody>
      </p:sp>
      <p:sp>
        <p:nvSpPr>
          <p:cNvPr id="3" name="input-cell-a-membrane">
            <a:extLst xmlns:a="http://schemas.openxmlformats.org/drawingml/2006/main">
              <a:ext uri="{FF2B5EF4-FFF2-40B4-BE49-F238E27FC236}">
                <a16:creationId xmlns:a16="http://schemas.microsoft.com/office/drawing/2014/main" id="{86AB3524-A4C6-4B34-BDBE-23DE07E5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200" y="993600"/>
            <a:ext cx="507600" cy="496800"/>
          </a:xfrm>
          <a:custGeom xmlns:a="http://schemas.openxmlformats.org/drawingml/2006/main">
            <a:pathLst>
              <a:path w="952500" h="952500">
                <a:moveTo>
                  <a:pt x="323850" y="28575"/>
                </a:moveTo>
                <a:lnTo>
                  <a:pt x="335413" y="27503"/>
                </a:lnTo>
                <a:lnTo>
                  <a:pt x="346634" y="36957"/>
                </a:lnTo>
                <a:lnTo>
                  <a:pt x="358026" y="54507"/>
                </a:lnTo>
                <a:lnTo>
                  <a:pt x="370103" y="77724"/>
                </a:lnTo>
                <a:lnTo>
                  <a:pt x="383381" y="104180"/>
                </a:lnTo>
                <a:lnTo>
                  <a:pt x="398374" y="131445"/>
                </a:lnTo>
                <a:lnTo>
                  <a:pt x="415595" y="157091"/>
                </a:lnTo>
                <a:lnTo>
                  <a:pt x="435559" y="178689"/>
                </a:lnTo>
                <a:lnTo>
                  <a:pt x="458781" y="193810"/>
                </a:lnTo>
                <a:lnTo>
                  <a:pt x="485775" y="200025"/>
                </a:lnTo>
                <a:lnTo>
                  <a:pt x="519927" y="195372"/>
                </a:lnTo>
                <a:lnTo>
                  <a:pt x="562585" y="181280"/>
                </a:lnTo>
                <a:lnTo>
                  <a:pt x="611205" y="160406"/>
                </a:lnTo>
                <a:lnTo>
                  <a:pt x="663245" y="135407"/>
                </a:lnTo>
                <a:lnTo>
                  <a:pt x="716161" y="108942"/>
                </a:lnTo>
                <a:lnTo>
                  <a:pt x="767410" y="83668"/>
                </a:lnTo>
                <a:lnTo>
                  <a:pt x="814449" y="62241"/>
                </a:lnTo>
                <a:lnTo>
                  <a:pt x="854735" y="47320"/>
                </a:lnTo>
                <a:lnTo>
                  <a:pt x="885725" y="41562"/>
                </a:lnTo>
                <a:lnTo>
                  <a:pt x="904875" y="47625"/>
                </a:lnTo>
                <a:lnTo>
                  <a:pt x="911047" y="65565"/>
                </a:lnTo>
                <a:lnTo>
                  <a:pt x="906247" y="92659"/>
                </a:lnTo>
                <a:lnTo>
                  <a:pt x="892645" y="127392"/>
                </a:lnTo>
                <a:lnTo>
                  <a:pt x="872414" y="168250"/>
                </a:lnTo>
                <a:lnTo>
                  <a:pt x="847725" y="213717"/>
                </a:lnTo>
                <a:lnTo>
                  <a:pt x="820750" y="262280"/>
                </a:lnTo>
                <a:lnTo>
                  <a:pt x="793661" y="312425"/>
                </a:lnTo>
                <a:lnTo>
                  <a:pt x="768629" y="362636"/>
                </a:lnTo>
                <a:lnTo>
                  <a:pt x="747827" y="411399"/>
                </a:lnTo>
                <a:lnTo>
                  <a:pt x="733425" y="457200"/>
                </a:lnTo>
                <a:lnTo>
                  <a:pt x="725286" y="504687"/>
                </a:lnTo>
                <a:lnTo>
                  <a:pt x="721081" y="558013"/>
                </a:lnTo>
                <a:lnTo>
                  <a:pt x="719695" y="614920"/>
                </a:lnTo>
                <a:lnTo>
                  <a:pt x="720014" y="673151"/>
                </a:lnTo>
                <a:lnTo>
                  <a:pt x="720923" y="730448"/>
                </a:lnTo>
                <a:lnTo>
                  <a:pt x="721309" y="784555"/>
                </a:lnTo>
                <a:lnTo>
                  <a:pt x="720057" y="833214"/>
                </a:lnTo>
                <a:lnTo>
                  <a:pt x="716051" y="874166"/>
                </a:lnTo>
                <a:lnTo>
                  <a:pt x="708179" y="905156"/>
                </a:lnTo>
                <a:lnTo>
                  <a:pt x="695325" y="923925"/>
                </a:lnTo>
                <a:lnTo>
                  <a:pt x="677904" y="927897"/>
                </a:lnTo>
                <a:lnTo>
                  <a:pt x="657301" y="917981"/>
                </a:lnTo>
                <a:lnTo>
                  <a:pt x="633860" y="897150"/>
                </a:lnTo>
                <a:lnTo>
                  <a:pt x="607924" y="868375"/>
                </a:lnTo>
                <a:lnTo>
                  <a:pt x="579834" y="834628"/>
                </a:lnTo>
                <a:lnTo>
                  <a:pt x="549935" y="798881"/>
                </a:lnTo>
                <a:lnTo>
                  <a:pt x="518570" y="764105"/>
                </a:lnTo>
                <a:lnTo>
                  <a:pt x="486080" y="733273"/>
                </a:lnTo>
                <a:lnTo>
                  <a:pt x="452809" y="709355"/>
                </a:lnTo>
                <a:lnTo>
                  <a:pt x="419100" y="695325"/>
                </a:lnTo>
                <a:lnTo>
                  <a:pt x="381281" y="692220"/>
                </a:lnTo>
                <a:lnTo>
                  <a:pt x="336956" y="697535"/>
                </a:lnTo>
                <a:lnTo>
                  <a:pt x="288384" y="708927"/>
                </a:lnTo>
                <a:lnTo>
                  <a:pt x="237820" y="724052"/>
                </a:lnTo>
                <a:lnTo>
                  <a:pt x="187523" y="740569"/>
                </a:lnTo>
                <a:lnTo>
                  <a:pt x="139751" y="756133"/>
                </a:lnTo>
                <a:lnTo>
                  <a:pt x="96760" y="768401"/>
                </a:lnTo>
                <a:lnTo>
                  <a:pt x="60808" y="775030"/>
                </a:lnTo>
                <a:lnTo>
                  <a:pt x="34152" y="773678"/>
                </a:lnTo>
                <a:lnTo>
                  <a:pt x="19050" y="762000"/>
                </a:lnTo>
                <a:lnTo>
                  <a:pt x="17135" y="739292"/>
                </a:lnTo>
                <a:lnTo>
                  <a:pt x="26975" y="707593"/>
                </a:lnTo>
                <a:lnTo>
                  <a:pt x="46225" y="668674"/>
                </a:lnTo>
                <a:lnTo>
                  <a:pt x="72542" y="624307"/>
                </a:lnTo>
                <a:lnTo>
                  <a:pt x="103584" y="576263"/>
                </a:lnTo>
                <a:lnTo>
                  <a:pt x="137008" y="526313"/>
                </a:lnTo>
                <a:lnTo>
                  <a:pt x="170469" y="476231"/>
                </a:lnTo>
                <a:lnTo>
                  <a:pt x="201625" y="427787"/>
                </a:lnTo>
                <a:lnTo>
                  <a:pt x="228133" y="382753"/>
                </a:lnTo>
                <a:lnTo>
                  <a:pt x="247650" y="342900"/>
                </a:lnTo>
                <a:lnTo>
                  <a:pt x="261056" y="305038"/>
                </a:lnTo>
                <a:lnTo>
                  <a:pt x="271272" y="265557"/>
                </a:lnTo>
                <a:lnTo>
                  <a:pt x="279011" y="225600"/>
                </a:lnTo>
                <a:lnTo>
                  <a:pt x="284988" y="186309"/>
                </a:lnTo>
                <a:lnTo>
                  <a:pt x="289917" y="148828"/>
                </a:lnTo>
                <a:lnTo>
                  <a:pt x="294513" y="114300"/>
                </a:lnTo>
                <a:lnTo>
                  <a:pt x="299490" y="83868"/>
                </a:lnTo>
                <a:lnTo>
                  <a:pt x="305562" y="58674"/>
                </a:lnTo>
                <a:lnTo>
                  <a:pt x="313444" y="39862"/>
                </a:lnTo>
                <a:close/>
              </a:path>
            </a:pathLst>
          </a:custGeom>
          <a:solidFill xmlns:a="http://schemas.openxmlformats.org/drawingml/2006/main">
            <a:srgbClr val="E7EEF5"/>
          </a:solidFill>
          <a:ln xmlns:a="http://schemas.openxmlformats.org/drawingml/2006/main" w="9180">
            <a:solidFill>
              <a:srgbClr val="5B7F9E"/>
            </a:solidFill>
          </a:ln>
        </p:spPr>
      </p:sp>
      <p:sp>
        <p:nvSpPr>
          <p:cNvPr id="4" name="input-cell-a-nucleus">
            <a:extLst xmlns:a="http://schemas.openxmlformats.org/drawingml/2006/main">
              <a:ext uri="{FF2B5EF4-FFF2-40B4-BE49-F238E27FC236}">
                <a16:creationId xmlns:a16="http://schemas.microsoft.com/office/drawing/2014/main" id="{D678B577-AA54-46D3-839A-65B6537A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240" y="1187352"/>
            <a:ext cx="116748" cy="15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BD6"/>
          </a:solidFill>
          <a:ln xmlns:a="http://schemas.openxmlformats.org/drawingml/2006/main" w="7560">
            <a:solidFill>
              <a:srgbClr val="5B7F9E"/>
            </a:solidFill>
          </a:ln>
        </p:spPr>
      </p:sp>
      <p:sp>
        <p:nvSpPr>
          <p:cNvPr id="5" name="input-cell-b-membrane">
            <a:extLst xmlns:a="http://schemas.openxmlformats.org/drawingml/2006/main">
              <a:ext uri="{FF2B5EF4-FFF2-40B4-BE49-F238E27FC236}">
                <a16:creationId xmlns:a16="http://schemas.microsoft.com/office/drawing/2014/main" id="{10612658-F323-45DF-9D5A-F4486B73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40000" y="1333800"/>
            <a:ext cx="334800" cy="35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9180">
            <a:solidFill>
              <a:srgbClr val="5B7F9E"/>
            </a:solidFill>
          </a:ln>
        </p:spPr>
      </p:sp>
      <p:sp>
        <p:nvSpPr>
          <p:cNvPr id="6" name="input-cell-b-nucleus">
            <a:extLst xmlns:a="http://schemas.openxmlformats.org/drawingml/2006/main">
              <a:ext uri="{FF2B5EF4-FFF2-40B4-BE49-F238E27FC236}">
                <a16:creationId xmlns:a16="http://schemas.microsoft.com/office/drawing/2014/main" id="{4D1A93C9-B0A9-48D0-A3E7-3BD3484B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673920" y="1470690"/>
            <a:ext cx="77004" cy="1088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BD6"/>
          </a:solidFill>
          <a:ln xmlns:a="http://schemas.openxmlformats.org/drawingml/2006/main" w="7560">
            <a:solidFill>
              <a:srgbClr val="5B7F9E"/>
            </a:solidFill>
          </a:ln>
        </p:spPr>
      </p:sp>
      <p:sp>
        <p:nvSpPr>
          <p:cNvPr id="7" name="input-cell-c-membrane">
            <a:extLst xmlns:a="http://schemas.openxmlformats.org/drawingml/2006/main">
              <a:ext uri="{FF2B5EF4-FFF2-40B4-BE49-F238E27FC236}">
                <a16:creationId xmlns:a16="http://schemas.microsoft.com/office/drawing/2014/main" id="{DBB570AC-CEB4-481D-84D0-9E925AC8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0000">
            <a:off x="183600" y="1539000"/>
            <a:ext cx="453600" cy="232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9180">
            <a:solidFill>
              <a:srgbClr val="5B7F9E"/>
            </a:solidFill>
          </a:ln>
        </p:spPr>
      </p:sp>
      <p:sp>
        <p:nvSpPr>
          <p:cNvPr id="8" name="input-cell-c-nucleus">
            <a:extLst xmlns:a="http://schemas.openxmlformats.org/drawingml/2006/main">
              <a:ext uri="{FF2B5EF4-FFF2-40B4-BE49-F238E27FC236}">
                <a16:creationId xmlns:a16="http://schemas.microsoft.com/office/drawing/2014/main" id="{90707698-EE2A-4A19-ADD7-77928461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20000">
            <a:off x="365040" y="1629558"/>
            <a:ext cx="104328" cy="719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BD6"/>
          </a:solidFill>
          <a:ln xmlns:a="http://schemas.openxmlformats.org/drawingml/2006/main" w="7560">
            <a:solidFill>
              <a:srgbClr val="5B7F9E"/>
            </a:solidFill>
          </a:ln>
        </p:spPr>
      </p:sp>
      <p:sp>
        <p:nvSpPr>
          <p:cNvPr id="9" name="input-profile-0-0">
            <a:extLst xmlns:a="http://schemas.openxmlformats.org/drawingml/2006/main">
              <a:ext uri="{FF2B5EF4-FFF2-40B4-BE49-F238E27FC236}">
                <a16:creationId xmlns:a16="http://schemas.microsoft.com/office/drawing/2014/main" id="{E036E6DD-5F62-4CAD-A5F9-6EBE4EFD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800" y="11232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10" name="input-profile-0-1">
            <a:extLst xmlns:a="http://schemas.openxmlformats.org/drawingml/2006/main">
              <a:ext uri="{FF2B5EF4-FFF2-40B4-BE49-F238E27FC236}">
                <a16:creationId xmlns:a16="http://schemas.microsoft.com/office/drawing/2014/main" id="{D854D8E7-FD37-40EC-BC15-C6925BE1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000" y="11232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B"/>
          </a:solidFill>
          <a:ln xmlns:a="http://schemas.openxmlformats.org/drawingml/2006/main" w="0">
            <a:noFill/>
          </a:ln>
        </p:spPr>
      </p:sp>
      <p:sp>
        <p:nvSpPr>
          <p:cNvPr id="11" name="input-profile-0-2">
            <a:extLst xmlns:a="http://schemas.openxmlformats.org/drawingml/2006/main">
              <a:ext uri="{FF2B5EF4-FFF2-40B4-BE49-F238E27FC236}">
                <a16:creationId xmlns:a16="http://schemas.microsoft.com/office/drawing/2014/main" id="{1CA0C2ED-CB8E-406B-92C9-E55C585B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200" y="11232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C9"/>
          </a:solidFill>
          <a:ln xmlns:a="http://schemas.openxmlformats.org/drawingml/2006/main" w="0">
            <a:noFill/>
          </a:ln>
        </p:spPr>
      </p:sp>
      <p:sp>
        <p:nvSpPr>
          <p:cNvPr id="12" name="input-profile-0-3">
            <a:extLst xmlns:a="http://schemas.openxmlformats.org/drawingml/2006/main">
              <a:ext uri="{FF2B5EF4-FFF2-40B4-BE49-F238E27FC236}">
                <a16:creationId xmlns:a16="http://schemas.microsoft.com/office/drawing/2014/main" id="{D8B69E9D-0E6D-4688-9956-09D09686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400" y="11232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ADC"/>
          </a:solidFill>
          <a:ln xmlns:a="http://schemas.openxmlformats.org/drawingml/2006/main" w="0">
            <a:noFill/>
          </a:ln>
        </p:spPr>
      </p:sp>
      <p:sp>
        <p:nvSpPr>
          <p:cNvPr id="13" name="input-profile-1-0">
            <a:extLst xmlns:a="http://schemas.openxmlformats.org/drawingml/2006/main">
              <a:ext uri="{FF2B5EF4-FFF2-40B4-BE49-F238E27FC236}">
                <a16:creationId xmlns:a16="http://schemas.microsoft.com/office/drawing/2014/main" id="{36F69AAA-D04C-4254-9110-3FA9FBE2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800" y="12744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ADC"/>
          </a:solidFill>
          <a:ln xmlns:a="http://schemas.openxmlformats.org/drawingml/2006/main" w="0">
            <a:noFill/>
          </a:ln>
        </p:spPr>
      </p:sp>
      <p:sp>
        <p:nvSpPr>
          <p:cNvPr id="14" name="input-profile-1-1">
            <a:extLst xmlns:a="http://schemas.openxmlformats.org/drawingml/2006/main">
              <a:ext uri="{FF2B5EF4-FFF2-40B4-BE49-F238E27FC236}">
                <a16:creationId xmlns:a16="http://schemas.microsoft.com/office/drawing/2014/main" id="{E8861DF2-0D28-4CC4-985A-22CE3BA1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000" y="12744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C9"/>
          </a:solidFill>
          <a:ln xmlns:a="http://schemas.openxmlformats.org/drawingml/2006/main" w="0">
            <a:noFill/>
          </a:ln>
        </p:spPr>
      </p:sp>
      <p:sp>
        <p:nvSpPr>
          <p:cNvPr id="15" name="input-profile-1-2">
            <a:extLst xmlns:a="http://schemas.openxmlformats.org/drawingml/2006/main">
              <a:ext uri="{FF2B5EF4-FFF2-40B4-BE49-F238E27FC236}">
                <a16:creationId xmlns:a16="http://schemas.microsoft.com/office/drawing/2014/main" id="{5D6F2BAB-AF08-49E0-A1DC-3936E290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200" y="12744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B"/>
          </a:solidFill>
          <a:ln xmlns:a="http://schemas.openxmlformats.org/drawingml/2006/main" w="0">
            <a:noFill/>
          </a:ln>
        </p:spPr>
      </p:sp>
      <p:sp>
        <p:nvSpPr>
          <p:cNvPr id="16" name="input-profile-1-3">
            <a:extLst xmlns:a="http://schemas.openxmlformats.org/drawingml/2006/main">
              <a:ext uri="{FF2B5EF4-FFF2-40B4-BE49-F238E27FC236}">
                <a16:creationId xmlns:a16="http://schemas.microsoft.com/office/drawing/2014/main" id="{7778EFB3-B07A-4B13-B06C-1A1C153B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400" y="12744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17" name="input-profile-2-0">
            <a:extLst xmlns:a="http://schemas.openxmlformats.org/drawingml/2006/main">
              <a:ext uri="{FF2B5EF4-FFF2-40B4-BE49-F238E27FC236}">
                <a16:creationId xmlns:a16="http://schemas.microsoft.com/office/drawing/2014/main" id="{FADE71F6-E371-45F3-BA9B-EC2F034F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800" y="14256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18" name="input-profile-2-1">
            <a:extLst xmlns:a="http://schemas.openxmlformats.org/drawingml/2006/main">
              <a:ext uri="{FF2B5EF4-FFF2-40B4-BE49-F238E27FC236}">
                <a16:creationId xmlns:a16="http://schemas.microsoft.com/office/drawing/2014/main" id="{70A950FC-6D53-4C00-8F41-594EB7A2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000" y="14256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ADC"/>
          </a:solidFill>
          <a:ln xmlns:a="http://schemas.openxmlformats.org/drawingml/2006/main" w="0">
            <a:noFill/>
          </a:ln>
        </p:spPr>
      </p:sp>
      <p:sp>
        <p:nvSpPr>
          <p:cNvPr id="19" name="input-profile-2-2">
            <a:extLst xmlns:a="http://schemas.openxmlformats.org/drawingml/2006/main">
              <a:ext uri="{FF2B5EF4-FFF2-40B4-BE49-F238E27FC236}">
                <a16:creationId xmlns:a16="http://schemas.microsoft.com/office/drawing/2014/main" id="{12716C58-C8AA-4807-8E4B-EF99F6AA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200" y="14256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B"/>
          </a:solidFill>
          <a:ln xmlns:a="http://schemas.openxmlformats.org/drawingml/2006/main" w="0">
            <a:noFill/>
          </a:ln>
        </p:spPr>
      </p:sp>
      <p:sp>
        <p:nvSpPr>
          <p:cNvPr id="20" name="input-profile-2-3">
            <a:extLst xmlns:a="http://schemas.openxmlformats.org/drawingml/2006/main">
              <a:ext uri="{FF2B5EF4-FFF2-40B4-BE49-F238E27FC236}">
                <a16:creationId xmlns:a16="http://schemas.microsoft.com/office/drawing/2014/main" id="{7089BEC1-F030-45EC-B100-86B4D403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400" y="14256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C9"/>
          </a:solidFill>
          <a:ln xmlns:a="http://schemas.openxmlformats.org/drawingml/2006/main" w="0">
            <a:noFill/>
          </a:ln>
        </p:spPr>
      </p:sp>
      <p:sp>
        <p:nvSpPr>
          <p:cNvPr id="21" name="input-profile-3-0">
            <a:extLst xmlns:a="http://schemas.openxmlformats.org/drawingml/2006/main">
              <a:ext uri="{FF2B5EF4-FFF2-40B4-BE49-F238E27FC236}">
                <a16:creationId xmlns:a16="http://schemas.microsoft.com/office/drawing/2014/main" id="{AA9EEFB5-4152-4FB3-95B4-CEB82AF7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800" y="15768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B"/>
          </a:solidFill>
          <a:ln xmlns:a="http://schemas.openxmlformats.org/drawingml/2006/main" w="0">
            <a:noFill/>
          </a:ln>
        </p:spPr>
      </p:sp>
      <p:sp>
        <p:nvSpPr>
          <p:cNvPr id="22" name="input-profile-3-1">
            <a:extLst xmlns:a="http://schemas.openxmlformats.org/drawingml/2006/main">
              <a:ext uri="{FF2B5EF4-FFF2-40B4-BE49-F238E27FC236}">
                <a16:creationId xmlns:a16="http://schemas.microsoft.com/office/drawing/2014/main" id="{4C1EC4BE-F24C-4641-A481-77EDBA33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000" y="15768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23" name="input-profile-3-2">
            <a:extLst xmlns:a="http://schemas.openxmlformats.org/drawingml/2006/main">
              <a:ext uri="{FF2B5EF4-FFF2-40B4-BE49-F238E27FC236}">
                <a16:creationId xmlns:a16="http://schemas.microsoft.com/office/drawing/2014/main" id="{4623582C-D060-4FC6-BA7B-B2F2F6BE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5200" y="15768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C9"/>
          </a:solidFill>
          <a:ln xmlns:a="http://schemas.openxmlformats.org/drawingml/2006/main" w="0">
            <a:noFill/>
          </a:ln>
        </p:spPr>
      </p:sp>
      <p:sp>
        <p:nvSpPr>
          <p:cNvPr id="24" name="input-profile-3-3">
            <a:extLst xmlns:a="http://schemas.openxmlformats.org/drawingml/2006/main">
              <a:ext uri="{FF2B5EF4-FFF2-40B4-BE49-F238E27FC236}">
                <a16:creationId xmlns:a16="http://schemas.microsoft.com/office/drawing/2014/main" id="{FBC7B179-CE0A-4474-9E5E-1ABBA443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6400" y="15768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ADC"/>
          </a:solidFill>
          <a:ln xmlns:a="http://schemas.openxmlformats.org/drawingml/2006/main" w="0">
            <a:noFill/>
          </a:ln>
        </p:spPr>
      </p:sp>
      <p:sp>
        <p:nvSpPr>
          <p:cNvPr id="25" name="input-caption">
            <a:extLst xmlns:a="http://schemas.openxmlformats.org/drawingml/2006/main">
              <a:ext uri="{FF2B5EF4-FFF2-40B4-BE49-F238E27FC236}">
                <a16:creationId xmlns:a16="http://schemas.microsoft.com/office/drawing/2014/main" id="{D5F8830F-7BDE-44CA-BBE7-FD880DBF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400" y="1771200"/>
            <a:ext cx="739800" cy="18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Input profile</a:t>
            </a:r>
          </a:p>
        </p:txBody>
      </p:sp>
      <p:sp>
        <p:nvSpPr>
          <p:cNvPr id="26" name="model-field">
            <a:extLst xmlns:a="http://schemas.openxmlformats.org/drawingml/2006/main">
              <a:ext uri="{FF2B5EF4-FFF2-40B4-BE49-F238E27FC236}">
                <a16:creationId xmlns:a16="http://schemas.microsoft.com/office/drawing/2014/main" id="{42BDE2CC-8485-40AE-B872-9C4EB82F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0000" y="810000"/>
            <a:ext cx="1647000" cy="1053000"/>
          </a:xfrm>
          <a:custGeom xmlns:a="http://schemas.openxmlformats.org/drawingml/2006/main">
            <a:pathLst>
              <a:path w="952500" h="952500">
                <a:moveTo>
                  <a:pt x="19050" y="466725"/>
                </a:moveTo>
                <a:lnTo>
                  <a:pt x="21836" y="438712"/>
                </a:lnTo>
                <a:lnTo>
                  <a:pt x="25527" y="411785"/>
                </a:lnTo>
                <a:lnTo>
                  <a:pt x="30266" y="385886"/>
                </a:lnTo>
                <a:lnTo>
                  <a:pt x="36195" y="360959"/>
                </a:lnTo>
                <a:lnTo>
                  <a:pt x="43458" y="336947"/>
                </a:lnTo>
                <a:lnTo>
                  <a:pt x="52197" y="313792"/>
                </a:lnTo>
                <a:lnTo>
                  <a:pt x="62555" y="291436"/>
                </a:lnTo>
                <a:lnTo>
                  <a:pt x="74676" y="269824"/>
                </a:lnTo>
                <a:lnTo>
                  <a:pt x="88702" y="248898"/>
                </a:lnTo>
                <a:lnTo>
                  <a:pt x="104775" y="228600"/>
                </a:lnTo>
                <a:lnTo>
                  <a:pt x="123249" y="208807"/>
                </a:lnTo>
                <a:lnTo>
                  <a:pt x="144170" y="189509"/>
                </a:lnTo>
                <a:lnTo>
                  <a:pt x="167226" y="170821"/>
                </a:lnTo>
                <a:lnTo>
                  <a:pt x="192100" y="152857"/>
                </a:lnTo>
                <a:lnTo>
                  <a:pt x="218480" y="135731"/>
                </a:lnTo>
                <a:lnTo>
                  <a:pt x="246050" y="119558"/>
                </a:lnTo>
                <a:lnTo>
                  <a:pt x="274496" y="104451"/>
                </a:lnTo>
                <a:lnTo>
                  <a:pt x="303505" y="90526"/>
                </a:lnTo>
                <a:lnTo>
                  <a:pt x="332761" y="77895"/>
                </a:lnTo>
                <a:lnTo>
                  <a:pt x="361950" y="66675"/>
                </a:lnTo>
                <a:lnTo>
                  <a:pt x="392278" y="56512"/>
                </a:lnTo>
                <a:lnTo>
                  <a:pt x="424739" y="47092"/>
                </a:lnTo>
                <a:lnTo>
                  <a:pt x="458705" y="38586"/>
                </a:lnTo>
                <a:lnTo>
                  <a:pt x="493547" y="31166"/>
                </a:lnTo>
                <a:lnTo>
                  <a:pt x="528638" y="25003"/>
                </a:lnTo>
                <a:lnTo>
                  <a:pt x="563347" y="20269"/>
                </a:lnTo>
                <a:lnTo>
                  <a:pt x="597046" y="17135"/>
                </a:lnTo>
                <a:lnTo>
                  <a:pt x="629107" y="15773"/>
                </a:lnTo>
                <a:lnTo>
                  <a:pt x="658901" y="16354"/>
                </a:lnTo>
                <a:lnTo>
                  <a:pt x="685800" y="19050"/>
                </a:lnTo>
                <a:lnTo>
                  <a:pt x="710241" y="23889"/>
                </a:lnTo>
                <a:lnTo>
                  <a:pt x="733120" y="30709"/>
                </a:lnTo>
                <a:lnTo>
                  <a:pt x="754494" y="39395"/>
                </a:lnTo>
                <a:lnTo>
                  <a:pt x="774421" y="49835"/>
                </a:lnTo>
                <a:lnTo>
                  <a:pt x="792956" y="61913"/>
                </a:lnTo>
                <a:lnTo>
                  <a:pt x="810158" y="75514"/>
                </a:lnTo>
                <a:lnTo>
                  <a:pt x="826084" y="90526"/>
                </a:lnTo>
                <a:lnTo>
                  <a:pt x="840791" y="106832"/>
                </a:lnTo>
                <a:lnTo>
                  <a:pt x="854335" y="124320"/>
                </a:lnTo>
                <a:lnTo>
                  <a:pt x="866775" y="142875"/>
                </a:lnTo>
                <a:lnTo>
                  <a:pt x="877676" y="162892"/>
                </a:lnTo>
                <a:lnTo>
                  <a:pt x="886739" y="184709"/>
                </a:lnTo>
                <a:lnTo>
                  <a:pt x="894221" y="208126"/>
                </a:lnTo>
                <a:lnTo>
                  <a:pt x="900379" y="232943"/>
                </a:lnTo>
                <a:lnTo>
                  <a:pt x="905470" y="258961"/>
                </a:lnTo>
                <a:lnTo>
                  <a:pt x="909752" y="285979"/>
                </a:lnTo>
                <a:lnTo>
                  <a:pt x="913481" y="313796"/>
                </a:lnTo>
                <a:lnTo>
                  <a:pt x="916915" y="342214"/>
                </a:lnTo>
                <a:lnTo>
                  <a:pt x="920310" y="371032"/>
                </a:lnTo>
                <a:lnTo>
                  <a:pt x="923925" y="400050"/>
                </a:lnTo>
                <a:lnTo>
                  <a:pt x="928102" y="430335"/>
                </a:lnTo>
                <a:lnTo>
                  <a:pt x="932764" y="462686"/>
                </a:lnTo>
                <a:lnTo>
                  <a:pt x="937541" y="496505"/>
                </a:lnTo>
                <a:lnTo>
                  <a:pt x="942061" y="531190"/>
                </a:lnTo>
                <a:lnTo>
                  <a:pt x="945952" y="566142"/>
                </a:lnTo>
                <a:lnTo>
                  <a:pt x="948842" y="600761"/>
                </a:lnTo>
                <a:lnTo>
                  <a:pt x="950362" y="634446"/>
                </a:lnTo>
                <a:lnTo>
                  <a:pt x="950138" y="666598"/>
                </a:lnTo>
                <a:lnTo>
                  <a:pt x="947799" y="696616"/>
                </a:lnTo>
                <a:lnTo>
                  <a:pt x="942975" y="723900"/>
                </a:lnTo>
                <a:lnTo>
                  <a:pt x="935888" y="749251"/>
                </a:lnTo>
                <a:lnTo>
                  <a:pt x="927049" y="773735"/>
                </a:lnTo>
                <a:lnTo>
                  <a:pt x="916515" y="797152"/>
                </a:lnTo>
                <a:lnTo>
                  <a:pt x="904342" y="819302"/>
                </a:lnTo>
                <a:lnTo>
                  <a:pt x="890588" y="839986"/>
                </a:lnTo>
                <a:lnTo>
                  <a:pt x="875309" y="859003"/>
                </a:lnTo>
                <a:lnTo>
                  <a:pt x="858564" y="876152"/>
                </a:lnTo>
                <a:lnTo>
                  <a:pt x="840410" y="891235"/>
                </a:lnTo>
                <a:lnTo>
                  <a:pt x="820903" y="904051"/>
                </a:lnTo>
                <a:lnTo>
                  <a:pt x="800100" y="914400"/>
                </a:lnTo>
                <a:lnTo>
                  <a:pt x="777354" y="921377"/>
                </a:lnTo>
                <a:lnTo>
                  <a:pt x="752246" y="924687"/>
                </a:lnTo>
                <a:lnTo>
                  <a:pt x="725176" y="925044"/>
                </a:lnTo>
                <a:lnTo>
                  <a:pt x="696544" y="923163"/>
                </a:lnTo>
                <a:lnTo>
                  <a:pt x="666750" y="919758"/>
                </a:lnTo>
                <a:lnTo>
                  <a:pt x="636194" y="915543"/>
                </a:lnTo>
                <a:lnTo>
                  <a:pt x="605276" y="911233"/>
                </a:lnTo>
                <a:lnTo>
                  <a:pt x="574396" y="907542"/>
                </a:lnTo>
                <a:lnTo>
                  <a:pt x="543954" y="905185"/>
                </a:lnTo>
                <a:lnTo>
                  <a:pt x="514350" y="904875"/>
                </a:lnTo>
                <a:lnTo>
                  <a:pt x="484608" y="906918"/>
                </a:lnTo>
                <a:lnTo>
                  <a:pt x="453771" y="910742"/>
                </a:lnTo>
                <a:lnTo>
                  <a:pt x="422267" y="915748"/>
                </a:lnTo>
                <a:lnTo>
                  <a:pt x="390525" y="921334"/>
                </a:lnTo>
                <a:lnTo>
                  <a:pt x="358973" y="926902"/>
                </a:lnTo>
                <a:lnTo>
                  <a:pt x="328041" y="931850"/>
                </a:lnTo>
                <a:lnTo>
                  <a:pt x="298156" y="935579"/>
                </a:lnTo>
                <a:lnTo>
                  <a:pt x="269748" y="937489"/>
                </a:lnTo>
                <a:lnTo>
                  <a:pt x="243245" y="936979"/>
                </a:lnTo>
                <a:lnTo>
                  <a:pt x="219075" y="933450"/>
                </a:lnTo>
                <a:lnTo>
                  <a:pt x="196925" y="927573"/>
                </a:lnTo>
                <a:lnTo>
                  <a:pt x="176174" y="920344"/>
                </a:lnTo>
                <a:lnTo>
                  <a:pt x="156796" y="911647"/>
                </a:lnTo>
                <a:lnTo>
                  <a:pt x="138760" y="901370"/>
                </a:lnTo>
                <a:lnTo>
                  <a:pt x="122039" y="889397"/>
                </a:lnTo>
                <a:lnTo>
                  <a:pt x="106604" y="875614"/>
                </a:lnTo>
                <a:lnTo>
                  <a:pt x="92426" y="859907"/>
                </a:lnTo>
                <a:lnTo>
                  <a:pt x="79477" y="842162"/>
                </a:lnTo>
                <a:lnTo>
                  <a:pt x="67728" y="822265"/>
                </a:lnTo>
                <a:lnTo>
                  <a:pt x="57150" y="800100"/>
                </a:lnTo>
                <a:lnTo>
                  <a:pt x="47768" y="774435"/>
                </a:lnTo>
                <a:lnTo>
                  <a:pt x="39624" y="744703"/>
                </a:lnTo>
                <a:lnTo>
                  <a:pt x="32718" y="711789"/>
                </a:lnTo>
                <a:lnTo>
                  <a:pt x="27051" y="676580"/>
                </a:lnTo>
                <a:lnTo>
                  <a:pt x="22622" y="639961"/>
                </a:lnTo>
                <a:lnTo>
                  <a:pt x="19431" y="602818"/>
                </a:lnTo>
                <a:lnTo>
                  <a:pt x="17478" y="566037"/>
                </a:lnTo>
                <a:lnTo>
                  <a:pt x="16764" y="530504"/>
                </a:lnTo>
                <a:lnTo>
                  <a:pt x="17288" y="497105"/>
                </a:lnTo>
                <a:close/>
              </a:path>
            </a:pathLst>
          </a:custGeom>
          <a:solidFill xmlns:a="http://schemas.openxmlformats.org/drawingml/2006/main">
            <a:srgbClr val="E5F1EC"/>
          </a:solidFill>
          <a:ln xmlns:a="http://schemas.openxmlformats.org/drawingml/2006/main" w="0">
            <a:noFill/>
          </a:ln>
        </p:spPr>
      </p:sp>
      <p:sp>
        <p:nvSpPr>
          <p:cNvPr id="27" name="model-node-0">
            <a:extLst xmlns:a="http://schemas.openxmlformats.org/drawingml/2006/main">
              <a:ext uri="{FF2B5EF4-FFF2-40B4-BE49-F238E27FC236}">
                <a16:creationId xmlns:a16="http://schemas.microsoft.com/office/drawing/2014/main" id="{28F6ACE7-6296-4398-830E-9619D4F5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1400" y="1069200"/>
            <a:ext cx="194400" cy="19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CAE"/>
          </a:solidFill>
          <a:ln xmlns:a="http://schemas.openxmlformats.org/drawingml/2006/main" w="9720">
            <a:solidFill>
              <a:srgbClr val="4F8A7B"/>
            </a:solidFill>
          </a:ln>
        </p:spPr>
      </p:sp>
      <p:sp>
        <p:nvSpPr>
          <p:cNvPr id="28" name="model-node-1">
            <a:extLst xmlns:a="http://schemas.openxmlformats.org/drawingml/2006/main">
              <a:ext uri="{FF2B5EF4-FFF2-40B4-BE49-F238E27FC236}">
                <a16:creationId xmlns:a16="http://schemas.microsoft.com/office/drawing/2014/main" id="{91221E12-0B72-4604-867E-13A50437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2000" y="858600"/>
            <a:ext cx="183600" cy="18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6CD"/>
          </a:solidFill>
          <a:ln xmlns:a="http://schemas.openxmlformats.org/drawingml/2006/main" w="9720">
            <a:solidFill>
              <a:srgbClr val="4F8A7B"/>
            </a:solidFill>
          </a:ln>
        </p:spPr>
      </p:sp>
      <p:sp>
        <p:nvSpPr>
          <p:cNvPr id="29" name="model-node-2">
            <a:extLst xmlns:a="http://schemas.openxmlformats.org/drawingml/2006/main">
              <a:ext uri="{FF2B5EF4-FFF2-40B4-BE49-F238E27FC236}">
                <a16:creationId xmlns:a16="http://schemas.microsoft.com/office/drawing/2014/main" id="{CBB3CF3E-8FDE-4339-B033-B4F3C886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8600" y="1015200"/>
            <a:ext cx="140400" cy="14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6CD"/>
          </a:solidFill>
          <a:ln xmlns:a="http://schemas.openxmlformats.org/drawingml/2006/main" w="9720">
            <a:solidFill>
              <a:srgbClr val="4F8A7B"/>
            </a:solidFill>
          </a:ln>
        </p:spPr>
      </p:sp>
      <p:sp>
        <p:nvSpPr>
          <p:cNvPr id="30" name="model-node-3">
            <a:extLst xmlns:a="http://schemas.openxmlformats.org/drawingml/2006/main">
              <a:ext uri="{FF2B5EF4-FFF2-40B4-BE49-F238E27FC236}">
                <a16:creationId xmlns:a16="http://schemas.microsoft.com/office/drawing/2014/main" id="{C8426E9B-0237-49F5-9695-BEED1930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800" y="1279800"/>
            <a:ext cx="140400" cy="14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CAE"/>
          </a:solidFill>
          <a:ln xmlns:a="http://schemas.openxmlformats.org/drawingml/2006/main" w="9720">
            <a:solidFill>
              <a:srgbClr val="4F8A7B"/>
            </a:solidFill>
          </a:ln>
        </p:spPr>
      </p:sp>
      <p:sp>
        <p:nvSpPr>
          <p:cNvPr id="31" name="model-node-4">
            <a:extLst xmlns:a="http://schemas.openxmlformats.org/drawingml/2006/main">
              <a:ext uri="{FF2B5EF4-FFF2-40B4-BE49-F238E27FC236}">
                <a16:creationId xmlns:a16="http://schemas.microsoft.com/office/drawing/2014/main" id="{0EC36AAD-8FA5-4D42-84E5-C06B6592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1000" y="1517400"/>
            <a:ext cx="162000" cy="1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6CD"/>
          </a:solidFill>
          <a:ln xmlns:a="http://schemas.openxmlformats.org/drawingml/2006/main" w="9720">
            <a:solidFill>
              <a:srgbClr val="4F8A7B"/>
            </a:solidFill>
          </a:ln>
        </p:spPr>
      </p:sp>
      <p:sp>
        <p:nvSpPr>
          <p:cNvPr id="32" name="model-node-5">
            <a:extLst xmlns:a="http://schemas.openxmlformats.org/drawingml/2006/main">
              <a:ext uri="{FF2B5EF4-FFF2-40B4-BE49-F238E27FC236}">
                <a16:creationId xmlns:a16="http://schemas.microsoft.com/office/drawing/2014/main" id="{C6E99090-38CA-4E3C-9EF2-0F648273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200" y="1593000"/>
            <a:ext cx="172800" cy="172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6CD"/>
          </a:solidFill>
          <a:ln xmlns:a="http://schemas.openxmlformats.org/drawingml/2006/main" w="9720">
            <a:solidFill>
              <a:srgbClr val="4F8A7B"/>
            </a:solidFill>
          </a:ln>
        </p:spPr>
      </p:sp>
      <p:sp>
        <p:nvSpPr>
          <p:cNvPr id="33" name="model-node-6">
            <a:extLst xmlns:a="http://schemas.openxmlformats.org/drawingml/2006/main">
              <a:ext uri="{FF2B5EF4-FFF2-40B4-BE49-F238E27FC236}">
                <a16:creationId xmlns:a16="http://schemas.microsoft.com/office/drawing/2014/main" id="{475F1A2D-2FA5-449C-92A0-4829AF2B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3400" y="1452600"/>
            <a:ext cx="140400" cy="140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BCAE"/>
          </a:solidFill>
          <a:ln xmlns:a="http://schemas.openxmlformats.org/drawingml/2006/main" w="9720">
            <a:solidFill>
              <a:srgbClr val="4F8A7B"/>
            </a:solidFill>
          </a:ln>
        </p:spPr>
      </p:sp>
      <p:sp>
        <p:nvSpPr>
          <p:cNvPr id="34" name="model-node-7">
            <a:extLst xmlns:a="http://schemas.openxmlformats.org/drawingml/2006/main">
              <a:ext uri="{FF2B5EF4-FFF2-40B4-BE49-F238E27FC236}">
                <a16:creationId xmlns:a16="http://schemas.microsoft.com/office/drawing/2014/main" id="{EDC71376-676C-4E75-9D93-A7FE7693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6600" y="1398600"/>
            <a:ext cx="108000" cy="10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6CD"/>
          </a:solidFill>
          <a:ln xmlns:a="http://schemas.openxmlformats.org/drawingml/2006/main" w="9720">
            <a:solidFill>
              <a:srgbClr val="4F8A7B"/>
            </a:solidFill>
          </a:ln>
        </p:spPr>
      </p:sp>
      <p:sp>
        <p:nvSpPr>
          <p:cNvPr id="35" name="model-node-8">
            <a:extLst xmlns:a="http://schemas.openxmlformats.org/drawingml/2006/main">
              <a:ext uri="{FF2B5EF4-FFF2-40B4-BE49-F238E27FC236}">
                <a16:creationId xmlns:a16="http://schemas.microsoft.com/office/drawing/2014/main" id="{4CBF2A80-C659-4C77-9694-DB2EA13A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1400" y="1236600"/>
            <a:ext cx="248400" cy="248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B6A7"/>
          </a:solidFill>
          <a:ln xmlns:a="http://schemas.openxmlformats.org/drawingml/2006/main" w="9720">
            <a:solidFill>
              <a:srgbClr val="4F8A7B"/>
            </a:solidFill>
          </a:ln>
        </p:spPr>
      </p:sp>
      <p:cxnSp>
        <p:nvCxnSpPr>
          <p:cNvPr id="132" name=""/>
          <p:cNvCxnSpPr>
            <a:stCxn xmlns:a="http://schemas.openxmlformats.org/drawingml/2006/main" id="27" idx="7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2817331" y="950400"/>
            <a:ext cx="314669" cy="147269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33" name=""/>
          <p:cNvCxnSpPr>
            <a:stCxn xmlns:a="http://schemas.openxmlformats.org/drawingml/2006/main" id="28" idx="6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315600" y="950400"/>
            <a:ext cx="263561" cy="85361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34" name=""/>
          <p:cNvCxnSpPr>
            <a:stCxn xmlns:a="http://schemas.openxmlformats.org/drawingml/2006/main" id="29" idx="5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678439" y="1135039"/>
            <a:ext cx="132922" cy="165322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35" name=""/>
          <p:cNvCxnSpPr>
            <a:stCxn xmlns:a="http://schemas.openxmlformats.org/drawingml/2006/main" id="30" idx="3"/>
            <a:endCxn xmlns:a="http://schemas.openxmlformats.org/drawingml/2006/main" id="31" idx="7"/>
          </p:cNvCxnSpPr>
          <p:nvPr/>
        </p:nvCxnSpPr>
        <p:spPr>
          <a:xfrm xmlns:a="http://schemas.openxmlformats.org/drawingml/2006/main" flipH="1">
            <a:off x="3729276" y="1399639"/>
            <a:ext cx="82085" cy="141485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36" name=""/>
          <p:cNvCxnSpPr>
            <a:stCxn xmlns:a="http://schemas.openxmlformats.org/drawingml/2006/main" id="31" idx="2"/>
            <a:endCxn xmlns:a="http://schemas.openxmlformats.org/drawingml/2006/main" id="32" idx="6"/>
          </p:cNvCxnSpPr>
          <p:nvPr/>
        </p:nvCxnSpPr>
        <p:spPr>
          <a:xfrm xmlns:a="http://schemas.openxmlformats.org/drawingml/2006/main" flipH="1">
            <a:off x="3240000" y="1598400"/>
            <a:ext cx="351000" cy="81000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37" name=""/>
          <p:cNvCxnSpPr>
            <a:stCxn xmlns:a="http://schemas.openxmlformats.org/drawingml/2006/main" id="32" idx="2"/>
            <a:endCxn xmlns:a="http://schemas.openxmlformats.org/drawingml/2006/main" id="33" idx="6"/>
          </p:cNvCxnSpPr>
          <p:nvPr/>
        </p:nvCxnSpPr>
        <p:spPr>
          <a:xfrm xmlns:a="http://schemas.openxmlformats.org/drawingml/2006/main" flipH="1" flipV="1">
            <a:off x="2683800" y="1522800"/>
            <a:ext cx="383400" cy="156600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38" name=""/>
          <p:cNvCxnSpPr>
            <a:stCxn xmlns:a="http://schemas.openxmlformats.org/drawingml/2006/main" id="33" idx="7"/>
            <a:endCxn xmlns:a="http://schemas.openxmlformats.org/drawingml/2006/main" id="27" idx="4"/>
          </p:cNvCxnSpPr>
          <p:nvPr/>
        </p:nvCxnSpPr>
        <p:spPr>
          <a:xfrm xmlns:a="http://schemas.openxmlformats.org/drawingml/2006/main" flipV="1">
            <a:off x="2663239" y="1263600"/>
            <a:ext cx="85361" cy="209561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39" name=""/>
          <p:cNvCxnSpPr>
            <a:stCxn xmlns:a="http://schemas.openxmlformats.org/drawingml/2006/main" id="27" idx="5"/>
            <a:endCxn xmlns:a="http://schemas.openxmlformats.org/drawingml/2006/main" id="35" idx="2"/>
          </p:cNvCxnSpPr>
          <p:nvPr/>
        </p:nvCxnSpPr>
        <p:spPr>
          <a:xfrm xmlns:a="http://schemas.openxmlformats.org/drawingml/2006/main">
            <a:off x="2817331" y="1235131"/>
            <a:ext cx="374069" cy="125669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40" name=""/>
          <p:cNvCxnSpPr>
            <a:stCxn xmlns:a="http://schemas.openxmlformats.org/drawingml/2006/main" id="28" idx="4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3223800" y="1042200"/>
            <a:ext cx="91800" cy="194400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41" name=""/>
          <p:cNvCxnSpPr>
            <a:stCxn xmlns:a="http://schemas.openxmlformats.org/drawingml/2006/main" id="29" idx="3"/>
            <a:endCxn xmlns:a="http://schemas.openxmlformats.org/drawingml/2006/main" id="35" idx="7"/>
          </p:cNvCxnSpPr>
          <p:nvPr/>
        </p:nvCxnSpPr>
        <p:spPr>
          <a:xfrm xmlns:a="http://schemas.openxmlformats.org/drawingml/2006/main" flipH="1">
            <a:off x="3403423" y="1135039"/>
            <a:ext cx="175738" cy="137938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42" name=""/>
          <p:cNvCxnSpPr>
            <a:stCxn xmlns:a="http://schemas.openxmlformats.org/drawingml/2006/main" id="31" idx="1"/>
            <a:endCxn xmlns:a="http://schemas.openxmlformats.org/drawingml/2006/main" id="35" idx="5"/>
          </p:cNvCxnSpPr>
          <p:nvPr/>
        </p:nvCxnSpPr>
        <p:spPr>
          <a:xfrm xmlns:a="http://schemas.openxmlformats.org/drawingml/2006/main" flipH="1" flipV="1">
            <a:off x="3403423" y="1448623"/>
            <a:ext cx="211302" cy="92502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43" name=""/>
          <p:cNvCxnSpPr>
            <a:stCxn xmlns:a="http://schemas.openxmlformats.org/drawingml/2006/main" id="32" idx="0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V="1">
            <a:off x="3153600" y="1448623"/>
            <a:ext cx="74177" cy="144377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44" name=""/>
          <p:cNvCxnSpPr>
            <a:stCxn xmlns:a="http://schemas.openxmlformats.org/drawingml/2006/main" id="34" idx="6"/>
            <a:endCxn xmlns:a="http://schemas.openxmlformats.org/drawingml/2006/main" id="35" idx="2"/>
          </p:cNvCxnSpPr>
          <p:nvPr/>
        </p:nvCxnSpPr>
        <p:spPr>
          <a:xfrm xmlns:a="http://schemas.openxmlformats.org/drawingml/2006/main" flipV="1">
            <a:off x="2964600" y="1360800"/>
            <a:ext cx="226800" cy="91800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45" name=""/>
          <p:cNvCxnSpPr>
            <a:stCxn xmlns:a="http://schemas.openxmlformats.org/drawingml/2006/main" id="27" idx="5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817331" y="1235131"/>
            <a:ext cx="55085" cy="179285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46" name=""/>
          <p:cNvCxnSpPr>
            <a:stCxn xmlns:a="http://schemas.openxmlformats.org/drawingml/2006/main" id="33" idx="6"/>
            <a:endCxn xmlns:a="http://schemas.openxmlformats.org/drawingml/2006/main" id="34" idx="2"/>
          </p:cNvCxnSpPr>
          <p:nvPr/>
        </p:nvCxnSpPr>
        <p:spPr>
          <a:xfrm xmlns:a="http://schemas.openxmlformats.org/drawingml/2006/main" flipV="1">
            <a:off x="2683800" y="1452600"/>
            <a:ext cx="172800" cy="70200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cxnSp>
        <p:nvCxnSpPr>
          <p:cNvPr id="147" name=""/>
          <p:cNvCxnSpPr>
            <a:stCxn xmlns:a="http://schemas.openxmlformats.org/drawingml/2006/main" id="34" idx="5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2948784" y="1490784"/>
            <a:ext cx="143722" cy="127522"/>
          </a:xfrm>
          <a:prstGeom xmlns:a="http://schemas.openxmlformats.org/drawingml/2006/main" prst="straightConnector1">
            <a:avLst/>
          </a:prstGeom>
          <a:ln xmlns:a="http://schemas.openxmlformats.org/drawingml/2006/main" w="8640">
            <a:solidFill>
              <a:srgbClr val="4F8A7B"/>
            </a:solidFill>
            <a:prstDash val="solid"/>
          </a:ln>
        </p:spPr>
      </p:cxnSp>
      <p:sp>
        <p:nvSpPr>
          <p:cNvPr id="52" name="response-model-heading">
            <a:extLst xmlns:a="http://schemas.openxmlformats.org/drawingml/2006/main">
              <a:ext uri="{FF2B5EF4-FFF2-40B4-BE49-F238E27FC236}">
                <a16:creationId xmlns:a16="http://schemas.microsoft.com/office/drawing/2014/main" id="{27989F9F-D63C-40B9-8E3E-EE411701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000" y="561600"/>
            <a:ext cx="1620000" cy="2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63" b="1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063" b="1">
                <a:solidFill>
                  <a:srgbClr val="27323D"/>
                </a:solidFill>
                <a:latin typeface="Arial"/>
                <a:ea typeface="Arial"/>
                <a:cs typeface="Arial"/>
              </a:rPr>
              <a:t>Response model</a:t>
            </a:r>
          </a:p>
        </p:txBody>
      </p:sp>
      <p:sp>
        <p:nvSpPr>
          <p:cNvPr id="53" name="model-caption">
            <a:extLst xmlns:a="http://schemas.openxmlformats.org/drawingml/2006/main">
              <a:ext uri="{FF2B5EF4-FFF2-40B4-BE49-F238E27FC236}">
                <a16:creationId xmlns:a16="http://schemas.microsoft.com/office/drawing/2014/main" id="{65291B1D-4043-4B4A-9557-D25A0B90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2000" y="1873800"/>
            <a:ext cx="1890000" cy="19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Conditioned representation</a:t>
            </a:r>
          </a:p>
        </p:txBody>
      </p:sp>
      <p:sp>
        <p:nvSpPr>
          <p:cNvPr id="54" name="encode-start">
            <a:extLst xmlns:a="http://schemas.openxmlformats.org/drawingml/2006/main">
              <a:ext uri="{FF2B5EF4-FFF2-40B4-BE49-F238E27FC236}">
                <a16:creationId xmlns:a16="http://schemas.microsoft.com/office/drawing/2014/main" id="{D4F867A1-350C-4623-B1D4-EEDD4ADC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8600" y="1409400"/>
            <a:ext cx="1080" cy="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encode-end">
            <a:extLst xmlns:a="http://schemas.openxmlformats.org/drawingml/2006/main">
              <a:ext uri="{FF2B5EF4-FFF2-40B4-BE49-F238E27FC236}">
                <a16:creationId xmlns:a16="http://schemas.microsoft.com/office/drawing/2014/main" id="{DC06BC93-28D4-46E6-9AFD-4648C4D9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400" y="1409400"/>
            <a:ext cx="1080" cy="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1669680" y="1409940"/>
            <a:ext cx="711720" cy="0"/>
          </a:xfrm>
          <a:prstGeom xmlns:a="http://schemas.openxmlformats.org/drawingml/2006/main" prst="straightConnector1">
            <a:avLst/>
          </a:prstGeom>
          <a:ln xmlns:a="http://schemas.openxmlformats.org/drawingml/2006/main" w="11880">
            <a:solidFill>
              <a:srgbClr val="27323D"/>
            </a:solidFill>
            <a:prstDash val="solid"/>
            <a:tailEnd type="triangle" w="med" len="med"/>
          </a:ln>
        </p:spPr>
      </p:cxnSp>
      <p:sp>
        <p:nvSpPr>
          <p:cNvPr id="57" name="encode-label">
            <a:extLst xmlns:a="http://schemas.openxmlformats.org/drawingml/2006/main">
              <a:ext uri="{FF2B5EF4-FFF2-40B4-BE49-F238E27FC236}">
                <a16:creationId xmlns:a16="http://schemas.microsoft.com/office/drawing/2014/main" id="{A2409A28-DFA3-4D24-BF51-CBAD6F7E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9600" y="1188000"/>
            <a:ext cx="583200" cy="18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93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893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encode</a:t>
            </a:r>
          </a:p>
        </p:txBody>
      </p:sp>
      <p:sp>
        <p:nvSpPr>
          <p:cNvPr id="58" name="predict-start">
            <a:extLst xmlns:a="http://schemas.openxmlformats.org/drawingml/2006/main">
              <a:ext uri="{FF2B5EF4-FFF2-40B4-BE49-F238E27FC236}">
                <a16:creationId xmlns:a16="http://schemas.microsoft.com/office/drawing/2014/main" id="{B250F8B1-3507-4DF8-87BA-0D16E852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000" y="1409400"/>
            <a:ext cx="1080" cy="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predict-end">
            <a:extLst xmlns:a="http://schemas.openxmlformats.org/drawingml/2006/main">
              <a:ext uri="{FF2B5EF4-FFF2-40B4-BE49-F238E27FC236}">
                <a16:creationId xmlns:a16="http://schemas.microsoft.com/office/drawing/2014/main" id="{39FADC9F-FF58-4D64-BF94-B541F19A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3800" y="1409400"/>
            <a:ext cx="1080" cy="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4132080" y="1409940"/>
            <a:ext cx="711720" cy="0"/>
          </a:xfrm>
          <a:prstGeom xmlns:a="http://schemas.openxmlformats.org/drawingml/2006/main" prst="straightConnector1">
            <a:avLst/>
          </a:prstGeom>
          <a:ln xmlns:a="http://schemas.openxmlformats.org/drawingml/2006/main" w="11880">
            <a:solidFill>
              <a:srgbClr val="27323D"/>
            </a:solidFill>
            <a:prstDash val="dash"/>
            <a:tailEnd type="triangle" w="med" len="med"/>
          </a:ln>
        </p:spPr>
      </p:cxnSp>
      <p:sp>
        <p:nvSpPr>
          <p:cNvPr id="61" name="predict-label">
            <a:extLst xmlns:a="http://schemas.openxmlformats.org/drawingml/2006/main">
              <a:ext uri="{FF2B5EF4-FFF2-40B4-BE49-F238E27FC236}">
                <a16:creationId xmlns:a16="http://schemas.microsoft.com/office/drawing/2014/main" id="{BEC032BD-E93C-473B-932B-6D6A6B17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1200" y="1188000"/>
            <a:ext cx="583200" cy="18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93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893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62" name="predicted-heading">
            <a:extLst xmlns:a="http://schemas.openxmlformats.org/drawingml/2006/main">
              <a:ext uri="{FF2B5EF4-FFF2-40B4-BE49-F238E27FC236}">
                <a16:creationId xmlns:a16="http://schemas.microsoft.com/office/drawing/2014/main" id="{87D131F0-6605-4CC9-BF1D-D5AD3042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9400" y="696600"/>
            <a:ext cx="1501200" cy="22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63" b="1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063" b="1">
                <a:solidFill>
                  <a:srgbClr val="27323D"/>
                </a:solidFill>
                <a:latin typeface="Arial"/>
                <a:ea typeface="Arial"/>
                <a:cs typeface="Arial"/>
              </a:rPr>
              <a:t>Predicted response</a:t>
            </a:r>
          </a:p>
        </p:txBody>
      </p:sp>
      <p:sp>
        <p:nvSpPr>
          <p:cNvPr id="63" name="predicted-profile-0-0">
            <a:extLst xmlns:a="http://schemas.openxmlformats.org/drawingml/2006/main">
              <a:ext uri="{FF2B5EF4-FFF2-40B4-BE49-F238E27FC236}">
                <a16:creationId xmlns:a16="http://schemas.microsoft.com/office/drawing/2014/main" id="{87C844D9-CF1F-4309-9D07-EC41E207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800" y="11232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64" name="predicted-profile-0-1">
            <a:extLst xmlns:a="http://schemas.openxmlformats.org/drawingml/2006/main">
              <a:ext uri="{FF2B5EF4-FFF2-40B4-BE49-F238E27FC236}">
                <a16:creationId xmlns:a16="http://schemas.microsoft.com/office/drawing/2014/main" id="{D14B25F3-5953-41D1-A79D-6EE12241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000" y="11232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B"/>
          </a:solidFill>
          <a:ln xmlns:a="http://schemas.openxmlformats.org/drawingml/2006/main" w="0">
            <a:noFill/>
          </a:ln>
        </p:spPr>
      </p:sp>
      <p:sp>
        <p:nvSpPr>
          <p:cNvPr id="65" name="predicted-profile-0-2">
            <a:extLst xmlns:a="http://schemas.openxmlformats.org/drawingml/2006/main">
              <a:ext uri="{FF2B5EF4-FFF2-40B4-BE49-F238E27FC236}">
                <a16:creationId xmlns:a16="http://schemas.microsoft.com/office/drawing/2014/main" id="{C61DC414-9955-43EF-9847-58161D9B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200" y="11232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ADC"/>
          </a:solidFill>
          <a:ln xmlns:a="http://schemas.openxmlformats.org/drawingml/2006/main" w="0">
            <a:noFill/>
          </a:ln>
        </p:spPr>
      </p:sp>
      <p:sp>
        <p:nvSpPr>
          <p:cNvPr id="66" name="predicted-profile-0-3">
            <a:extLst xmlns:a="http://schemas.openxmlformats.org/drawingml/2006/main">
              <a:ext uri="{FF2B5EF4-FFF2-40B4-BE49-F238E27FC236}">
                <a16:creationId xmlns:a16="http://schemas.microsoft.com/office/drawing/2014/main" id="{EF6499FD-D619-42FC-934E-3E0B532E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8400" y="11232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C9"/>
          </a:solidFill>
          <a:ln xmlns:a="http://schemas.openxmlformats.org/drawingml/2006/main" w="0">
            <a:noFill/>
          </a:ln>
        </p:spPr>
      </p:sp>
      <p:sp>
        <p:nvSpPr>
          <p:cNvPr id="67" name="predicted-profile-1-0">
            <a:extLst xmlns:a="http://schemas.openxmlformats.org/drawingml/2006/main">
              <a:ext uri="{FF2B5EF4-FFF2-40B4-BE49-F238E27FC236}">
                <a16:creationId xmlns:a16="http://schemas.microsoft.com/office/drawing/2014/main" id="{F73370AB-8BBF-4499-808F-B239BBED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800" y="12744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ADC"/>
          </a:solidFill>
          <a:ln xmlns:a="http://schemas.openxmlformats.org/drawingml/2006/main" w="0">
            <a:noFill/>
          </a:ln>
        </p:spPr>
      </p:sp>
      <p:sp>
        <p:nvSpPr>
          <p:cNvPr id="68" name="predicted-profile-1-1">
            <a:extLst xmlns:a="http://schemas.openxmlformats.org/drawingml/2006/main">
              <a:ext uri="{FF2B5EF4-FFF2-40B4-BE49-F238E27FC236}">
                <a16:creationId xmlns:a16="http://schemas.microsoft.com/office/drawing/2014/main" id="{268F0CCE-4FDF-42B1-964D-C2B0ADF7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000" y="12744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69" name="predicted-profile-1-2">
            <a:extLst xmlns:a="http://schemas.openxmlformats.org/drawingml/2006/main">
              <a:ext uri="{FF2B5EF4-FFF2-40B4-BE49-F238E27FC236}">
                <a16:creationId xmlns:a16="http://schemas.microsoft.com/office/drawing/2014/main" id="{EA4D82FF-98B9-4E87-9D4A-83E7613A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200" y="12744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B"/>
          </a:solidFill>
          <a:ln xmlns:a="http://schemas.openxmlformats.org/drawingml/2006/main" w="0">
            <a:noFill/>
          </a:ln>
        </p:spPr>
      </p:sp>
      <p:sp>
        <p:nvSpPr>
          <p:cNvPr id="70" name="predicted-profile-1-3">
            <a:extLst xmlns:a="http://schemas.openxmlformats.org/drawingml/2006/main">
              <a:ext uri="{FF2B5EF4-FFF2-40B4-BE49-F238E27FC236}">
                <a16:creationId xmlns:a16="http://schemas.microsoft.com/office/drawing/2014/main" id="{0D2918CE-3717-4A6B-B53C-283EC1F3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8400" y="12744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C9"/>
          </a:solidFill>
          <a:ln xmlns:a="http://schemas.openxmlformats.org/drawingml/2006/main" w="0">
            <a:noFill/>
          </a:ln>
        </p:spPr>
      </p:sp>
      <p:sp>
        <p:nvSpPr>
          <p:cNvPr id="71" name="predicted-profile-2-0">
            <a:extLst xmlns:a="http://schemas.openxmlformats.org/drawingml/2006/main">
              <a:ext uri="{FF2B5EF4-FFF2-40B4-BE49-F238E27FC236}">
                <a16:creationId xmlns:a16="http://schemas.microsoft.com/office/drawing/2014/main" id="{82BD81FC-97C9-4E3B-8353-60CBE182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800" y="14256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72" name="predicted-profile-2-1">
            <a:extLst xmlns:a="http://schemas.openxmlformats.org/drawingml/2006/main">
              <a:ext uri="{FF2B5EF4-FFF2-40B4-BE49-F238E27FC236}">
                <a16:creationId xmlns:a16="http://schemas.microsoft.com/office/drawing/2014/main" id="{5815E949-5DFF-4FA9-A2F4-C932DF60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000" y="14256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C9"/>
          </a:solidFill>
          <a:ln xmlns:a="http://schemas.openxmlformats.org/drawingml/2006/main" w="0">
            <a:noFill/>
          </a:ln>
        </p:spPr>
      </p:sp>
      <p:sp>
        <p:nvSpPr>
          <p:cNvPr id="73" name="predicted-profile-2-2">
            <a:extLst xmlns:a="http://schemas.openxmlformats.org/drawingml/2006/main">
              <a:ext uri="{FF2B5EF4-FFF2-40B4-BE49-F238E27FC236}">
                <a16:creationId xmlns:a16="http://schemas.microsoft.com/office/drawing/2014/main" id="{1D72BB7E-A1EB-4313-A691-3AFBEB1A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200" y="14256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B"/>
          </a:solidFill>
          <a:ln xmlns:a="http://schemas.openxmlformats.org/drawingml/2006/main" w="0">
            <a:noFill/>
          </a:ln>
        </p:spPr>
      </p:sp>
      <p:sp>
        <p:nvSpPr>
          <p:cNvPr id="74" name="predicted-profile-2-3">
            <a:extLst xmlns:a="http://schemas.openxmlformats.org/drawingml/2006/main">
              <a:ext uri="{FF2B5EF4-FFF2-40B4-BE49-F238E27FC236}">
                <a16:creationId xmlns:a16="http://schemas.microsoft.com/office/drawing/2014/main" id="{93ED7619-3C36-478A-A649-47834E95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8400" y="14256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0">
            <a:noFill/>
          </a:ln>
        </p:spPr>
      </p:sp>
      <p:sp>
        <p:nvSpPr>
          <p:cNvPr id="75" name="predicted-profile-3-0">
            <a:extLst xmlns:a="http://schemas.openxmlformats.org/drawingml/2006/main">
              <a:ext uri="{FF2B5EF4-FFF2-40B4-BE49-F238E27FC236}">
                <a16:creationId xmlns:a16="http://schemas.microsoft.com/office/drawing/2014/main" id="{FAB16D0E-1D74-40B1-9C63-9E9A63A6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800" y="15768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FEB"/>
          </a:solidFill>
          <a:ln xmlns:a="http://schemas.openxmlformats.org/drawingml/2006/main" w="0">
            <a:noFill/>
          </a:ln>
        </p:spPr>
      </p:sp>
      <p:sp>
        <p:nvSpPr>
          <p:cNvPr id="76" name="predicted-profile-3-1">
            <a:extLst xmlns:a="http://schemas.openxmlformats.org/drawingml/2006/main">
              <a:ext uri="{FF2B5EF4-FFF2-40B4-BE49-F238E27FC236}">
                <a16:creationId xmlns:a16="http://schemas.microsoft.com/office/drawing/2014/main" id="{682CB2CC-C286-4616-AEC3-3824FB65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000" y="15768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ADC"/>
          </a:solidFill>
          <a:ln xmlns:a="http://schemas.openxmlformats.org/drawingml/2006/main" w="0">
            <a:noFill/>
          </a:ln>
        </p:spPr>
      </p:sp>
      <p:sp>
        <p:nvSpPr>
          <p:cNvPr id="77" name="predicted-profile-3-2">
            <a:extLst xmlns:a="http://schemas.openxmlformats.org/drawingml/2006/main">
              <a:ext uri="{FF2B5EF4-FFF2-40B4-BE49-F238E27FC236}">
                <a16:creationId xmlns:a16="http://schemas.microsoft.com/office/drawing/2014/main" id="{7983E6C7-DEBD-46AB-90BD-807D9B06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200" y="15768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AC9"/>
          </a:solidFill>
          <a:ln xmlns:a="http://schemas.openxmlformats.org/drawingml/2006/main" w="0">
            <a:noFill/>
          </a:ln>
        </p:spPr>
      </p:sp>
      <p:sp>
        <p:nvSpPr>
          <p:cNvPr id="78" name="predicted-profile-3-3">
            <a:extLst xmlns:a="http://schemas.openxmlformats.org/drawingml/2006/main">
              <a:ext uri="{FF2B5EF4-FFF2-40B4-BE49-F238E27FC236}">
                <a16:creationId xmlns:a16="http://schemas.microsoft.com/office/drawing/2014/main" id="{40FB9FFB-800D-43D9-BD62-25AAC3F7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8400" y="1576800"/>
            <a:ext cx="145800" cy="14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CADC"/>
          </a:solidFill>
          <a:ln xmlns:a="http://schemas.openxmlformats.org/drawingml/2006/main" w="0">
            <a:noFill/>
          </a:ln>
        </p:spPr>
      </p:sp>
      <p:sp>
        <p:nvSpPr>
          <p:cNvPr id="79" name="output-cell-a-membrane">
            <a:extLst xmlns:a="http://schemas.openxmlformats.org/drawingml/2006/main">
              <a:ext uri="{FF2B5EF4-FFF2-40B4-BE49-F238E27FC236}">
                <a16:creationId xmlns:a16="http://schemas.microsoft.com/office/drawing/2014/main" id="{19628C73-4BAF-4245-8C00-FE8D1157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000" y="1026000"/>
            <a:ext cx="383400" cy="38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9180">
            <a:solidFill>
              <a:srgbClr val="5B7F9E"/>
            </a:solidFill>
          </a:ln>
        </p:spPr>
      </p:sp>
      <p:sp>
        <p:nvSpPr>
          <p:cNvPr id="80" name="output-cell-a-nucleus">
            <a:extLst xmlns:a="http://schemas.openxmlformats.org/drawingml/2006/main">
              <a:ext uri="{FF2B5EF4-FFF2-40B4-BE49-F238E27FC236}">
                <a16:creationId xmlns:a16="http://schemas.microsoft.com/office/drawing/2014/main" id="{0E5CF0CA-36A5-4CBB-A971-209F02C3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2360" y="1175526"/>
            <a:ext cx="88182" cy="1188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BD6"/>
          </a:solidFill>
          <a:ln xmlns:a="http://schemas.openxmlformats.org/drawingml/2006/main" w="7560">
            <a:solidFill>
              <a:srgbClr val="5B7F9E"/>
            </a:solidFill>
          </a:ln>
        </p:spPr>
      </p:sp>
      <p:sp>
        <p:nvSpPr>
          <p:cNvPr id="81" name="output-cell-b-membrane">
            <a:extLst xmlns:a="http://schemas.openxmlformats.org/drawingml/2006/main">
              <a:ext uri="{FF2B5EF4-FFF2-40B4-BE49-F238E27FC236}">
                <a16:creationId xmlns:a16="http://schemas.microsoft.com/office/drawing/2014/main" id="{0F3A88A7-C753-4DAF-AF68-6A2EF41D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0000">
            <a:off x="5664600" y="1479600"/>
            <a:ext cx="426600" cy="2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EF5"/>
          </a:solidFill>
          <a:ln xmlns:a="http://schemas.openxmlformats.org/drawingml/2006/main" w="9180">
            <a:solidFill>
              <a:srgbClr val="5B7F9E"/>
            </a:solidFill>
          </a:ln>
        </p:spPr>
      </p:sp>
      <p:sp>
        <p:nvSpPr>
          <p:cNvPr id="82" name="output-cell-b-nucleus">
            <a:extLst xmlns:a="http://schemas.openxmlformats.org/drawingml/2006/main">
              <a:ext uri="{FF2B5EF4-FFF2-40B4-BE49-F238E27FC236}">
                <a16:creationId xmlns:a16="http://schemas.microsoft.com/office/drawing/2014/main" id="{234B5051-E86B-4E41-972E-DABC4691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0000">
            <a:off x="5835240" y="1563840"/>
            <a:ext cx="98118" cy="66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BD6"/>
          </a:solidFill>
          <a:ln xmlns:a="http://schemas.openxmlformats.org/drawingml/2006/main" w="7560">
            <a:solidFill>
              <a:srgbClr val="5B7F9E"/>
            </a:solidFill>
          </a:ln>
        </p:spPr>
      </p:sp>
      <p:sp>
        <p:nvSpPr>
          <p:cNvPr id="83" name="output-cell-c-membrane">
            <a:extLst xmlns:a="http://schemas.openxmlformats.org/drawingml/2006/main">
              <a:ext uri="{FF2B5EF4-FFF2-40B4-BE49-F238E27FC236}">
                <a16:creationId xmlns:a16="http://schemas.microsoft.com/office/drawing/2014/main" id="{59E175B6-23E7-4709-A567-B6AACCF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5999400" y="1404000"/>
            <a:ext cx="405000" cy="502200"/>
          </a:xfrm>
          <a:custGeom xmlns:a="http://schemas.openxmlformats.org/drawingml/2006/main">
            <a:pathLst>
              <a:path w="952500" h="952500">
                <a:moveTo>
                  <a:pt x="323850" y="28575"/>
                </a:moveTo>
                <a:lnTo>
                  <a:pt x="335413" y="27503"/>
                </a:lnTo>
                <a:lnTo>
                  <a:pt x="346634" y="36957"/>
                </a:lnTo>
                <a:lnTo>
                  <a:pt x="358026" y="54507"/>
                </a:lnTo>
                <a:lnTo>
                  <a:pt x="370103" y="77724"/>
                </a:lnTo>
                <a:lnTo>
                  <a:pt x="383381" y="104180"/>
                </a:lnTo>
                <a:lnTo>
                  <a:pt x="398374" y="131445"/>
                </a:lnTo>
                <a:lnTo>
                  <a:pt x="415595" y="157091"/>
                </a:lnTo>
                <a:lnTo>
                  <a:pt x="435559" y="178689"/>
                </a:lnTo>
                <a:lnTo>
                  <a:pt x="458781" y="193810"/>
                </a:lnTo>
                <a:lnTo>
                  <a:pt x="485775" y="200025"/>
                </a:lnTo>
                <a:lnTo>
                  <a:pt x="519927" y="195372"/>
                </a:lnTo>
                <a:lnTo>
                  <a:pt x="562585" y="181280"/>
                </a:lnTo>
                <a:lnTo>
                  <a:pt x="611205" y="160406"/>
                </a:lnTo>
                <a:lnTo>
                  <a:pt x="663245" y="135407"/>
                </a:lnTo>
                <a:lnTo>
                  <a:pt x="716161" y="108942"/>
                </a:lnTo>
                <a:lnTo>
                  <a:pt x="767410" y="83668"/>
                </a:lnTo>
                <a:lnTo>
                  <a:pt x="814449" y="62241"/>
                </a:lnTo>
                <a:lnTo>
                  <a:pt x="854735" y="47320"/>
                </a:lnTo>
                <a:lnTo>
                  <a:pt x="885725" y="41562"/>
                </a:lnTo>
                <a:lnTo>
                  <a:pt x="904875" y="47625"/>
                </a:lnTo>
                <a:lnTo>
                  <a:pt x="911047" y="65565"/>
                </a:lnTo>
                <a:lnTo>
                  <a:pt x="906247" y="92659"/>
                </a:lnTo>
                <a:lnTo>
                  <a:pt x="892645" y="127392"/>
                </a:lnTo>
                <a:lnTo>
                  <a:pt x="872414" y="168250"/>
                </a:lnTo>
                <a:lnTo>
                  <a:pt x="847725" y="213717"/>
                </a:lnTo>
                <a:lnTo>
                  <a:pt x="820750" y="262280"/>
                </a:lnTo>
                <a:lnTo>
                  <a:pt x="793661" y="312425"/>
                </a:lnTo>
                <a:lnTo>
                  <a:pt x="768629" y="362636"/>
                </a:lnTo>
                <a:lnTo>
                  <a:pt x="747827" y="411399"/>
                </a:lnTo>
                <a:lnTo>
                  <a:pt x="733425" y="457200"/>
                </a:lnTo>
                <a:lnTo>
                  <a:pt x="725286" y="504687"/>
                </a:lnTo>
                <a:lnTo>
                  <a:pt x="721081" y="558013"/>
                </a:lnTo>
                <a:lnTo>
                  <a:pt x="719695" y="614920"/>
                </a:lnTo>
                <a:lnTo>
                  <a:pt x="720014" y="673151"/>
                </a:lnTo>
                <a:lnTo>
                  <a:pt x="720923" y="730448"/>
                </a:lnTo>
                <a:lnTo>
                  <a:pt x="721309" y="784555"/>
                </a:lnTo>
                <a:lnTo>
                  <a:pt x="720057" y="833214"/>
                </a:lnTo>
                <a:lnTo>
                  <a:pt x="716051" y="874166"/>
                </a:lnTo>
                <a:lnTo>
                  <a:pt x="708179" y="905156"/>
                </a:lnTo>
                <a:lnTo>
                  <a:pt x="695325" y="923925"/>
                </a:lnTo>
                <a:lnTo>
                  <a:pt x="677904" y="927897"/>
                </a:lnTo>
                <a:lnTo>
                  <a:pt x="657301" y="917981"/>
                </a:lnTo>
                <a:lnTo>
                  <a:pt x="633860" y="897150"/>
                </a:lnTo>
                <a:lnTo>
                  <a:pt x="607924" y="868375"/>
                </a:lnTo>
                <a:lnTo>
                  <a:pt x="579834" y="834628"/>
                </a:lnTo>
                <a:lnTo>
                  <a:pt x="549935" y="798881"/>
                </a:lnTo>
                <a:lnTo>
                  <a:pt x="518570" y="764105"/>
                </a:lnTo>
                <a:lnTo>
                  <a:pt x="486080" y="733273"/>
                </a:lnTo>
                <a:lnTo>
                  <a:pt x="452809" y="709355"/>
                </a:lnTo>
                <a:lnTo>
                  <a:pt x="419100" y="695325"/>
                </a:lnTo>
                <a:lnTo>
                  <a:pt x="381281" y="692220"/>
                </a:lnTo>
                <a:lnTo>
                  <a:pt x="336956" y="697535"/>
                </a:lnTo>
                <a:lnTo>
                  <a:pt x="288384" y="708927"/>
                </a:lnTo>
                <a:lnTo>
                  <a:pt x="237820" y="724052"/>
                </a:lnTo>
                <a:lnTo>
                  <a:pt x="187523" y="740569"/>
                </a:lnTo>
                <a:lnTo>
                  <a:pt x="139751" y="756133"/>
                </a:lnTo>
                <a:lnTo>
                  <a:pt x="96760" y="768401"/>
                </a:lnTo>
                <a:lnTo>
                  <a:pt x="60808" y="775030"/>
                </a:lnTo>
                <a:lnTo>
                  <a:pt x="34152" y="773678"/>
                </a:lnTo>
                <a:lnTo>
                  <a:pt x="19050" y="762000"/>
                </a:lnTo>
                <a:lnTo>
                  <a:pt x="17135" y="739292"/>
                </a:lnTo>
                <a:lnTo>
                  <a:pt x="26975" y="707593"/>
                </a:lnTo>
                <a:lnTo>
                  <a:pt x="46225" y="668674"/>
                </a:lnTo>
                <a:lnTo>
                  <a:pt x="72542" y="624307"/>
                </a:lnTo>
                <a:lnTo>
                  <a:pt x="103584" y="576263"/>
                </a:lnTo>
                <a:lnTo>
                  <a:pt x="137008" y="526313"/>
                </a:lnTo>
                <a:lnTo>
                  <a:pt x="170469" y="476231"/>
                </a:lnTo>
                <a:lnTo>
                  <a:pt x="201625" y="427787"/>
                </a:lnTo>
                <a:lnTo>
                  <a:pt x="228133" y="382753"/>
                </a:lnTo>
                <a:lnTo>
                  <a:pt x="247650" y="342900"/>
                </a:lnTo>
                <a:lnTo>
                  <a:pt x="261056" y="305038"/>
                </a:lnTo>
                <a:lnTo>
                  <a:pt x="271272" y="265557"/>
                </a:lnTo>
                <a:lnTo>
                  <a:pt x="279011" y="225600"/>
                </a:lnTo>
                <a:lnTo>
                  <a:pt x="284988" y="186309"/>
                </a:lnTo>
                <a:lnTo>
                  <a:pt x="289917" y="148828"/>
                </a:lnTo>
                <a:lnTo>
                  <a:pt x="294513" y="114300"/>
                </a:lnTo>
                <a:lnTo>
                  <a:pt x="299490" y="83868"/>
                </a:lnTo>
                <a:lnTo>
                  <a:pt x="305562" y="58674"/>
                </a:lnTo>
                <a:lnTo>
                  <a:pt x="313444" y="39862"/>
                </a:lnTo>
                <a:close/>
              </a:path>
            </a:pathLst>
          </a:custGeom>
          <a:solidFill xmlns:a="http://schemas.openxmlformats.org/drawingml/2006/main">
            <a:srgbClr val="E7EEF5"/>
          </a:solidFill>
          <a:ln xmlns:a="http://schemas.openxmlformats.org/drawingml/2006/main" w="9180">
            <a:solidFill>
              <a:srgbClr val="5B7F9E"/>
            </a:solidFill>
          </a:ln>
        </p:spPr>
      </p:sp>
      <p:sp>
        <p:nvSpPr>
          <p:cNvPr id="84" name="output-cell-c-nucleus">
            <a:extLst xmlns:a="http://schemas.openxmlformats.org/drawingml/2006/main">
              <a:ext uri="{FF2B5EF4-FFF2-40B4-BE49-F238E27FC236}">
                <a16:creationId xmlns:a16="http://schemas.microsoft.com/office/drawing/2014/main" id="{CA00B850-739C-45A0-9B9F-337A1728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6161400" y="1599858"/>
            <a:ext cx="93150" cy="15568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BBD6"/>
          </a:solidFill>
          <a:ln xmlns:a="http://schemas.openxmlformats.org/drawingml/2006/main" w="7560">
            <a:solidFill>
              <a:srgbClr val="5B7F9E"/>
            </a:solidFill>
          </a:ln>
        </p:spPr>
      </p:sp>
      <p:sp>
        <p:nvSpPr>
          <p:cNvPr id="85" name="predicted-caption">
            <a:extLst xmlns:a="http://schemas.openxmlformats.org/drawingml/2006/main">
              <a:ext uri="{FF2B5EF4-FFF2-40B4-BE49-F238E27FC236}">
                <a16:creationId xmlns:a16="http://schemas.microsoft.com/office/drawing/2014/main" id="{228803EA-5088-47D5-848D-79A8CE81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1771200"/>
            <a:ext cx="880200" cy="18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Predicted profile</a:t>
            </a:r>
          </a:p>
        </p:txBody>
      </p:sp>
      <p:sp>
        <p:nvSpPr>
          <p:cNvPr id="86" name="condition-start">
            <a:extLst xmlns:a="http://schemas.openxmlformats.org/drawingml/2006/main">
              <a:ext uri="{FF2B5EF4-FFF2-40B4-BE49-F238E27FC236}">
                <a16:creationId xmlns:a16="http://schemas.microsoft.com/office/drawing/2014/main" id="{FA43F0B1-FBAD-4EB4-B7EC-13AC8B7A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0000" y="2619000"/>
            <a:ext cx="1080" cy="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condition-end">
            <a:extLst xmlns:a="http://schemas.openxmlformats.org/drawingml/2006/main">
              <a:ext uri="{FF2B5EF4-FFF2-40B4-BE49-F238E27FC236}">
                <a16:creationId xmlns:a16="http://schemas.microsoft.com/office/drawing/2014/main" id="{BA74DBDA-21BD-4887-97F6-38EB94A5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0000" y="2111400"/>
            <a:ext cx="1080" cy="1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86" idx="0"/>
            <a:endCxn xmlns:a="http://schemas.openxmlformats.org/drawingml/2006/main" id="87" idx="2"/>
          </p:cNvCxnSpPr>
          <p:nvPr/>
        </p:nvCxnSpPr>
        <p:spPr>
          <a:xfrm xmlns:a="http://schemas.openxmlformats.org/drawingml/2006/main" flipV="1">
            <a:off x="3240540" y="2112480"/>
            <a:ext cx="0" cy="506520"/>
          </a:xfrm>
          <a:prstGeom xmlns:a="http://schemas.openxmlformats.org/drawingml/2006/main" prst="straightConnector1">
            <a:avLst/>
          </a:prstGeom>
          <a:ln xmlns:a="http://schemas.openxmlformats.org/drawingml/2006/main" w="11880">
            <a:solidFill>
              <a:srgbClr val="27323D"/>
            </a:solidFill>
            <a:prstDash val="dash"/>
            <a:tailEnd type="triangle" w="med" len="med"/>
          </a:ln>
        </p:spPr>
      </p:cxnSp>
      <p:sp>
        <p:nvSpPr>
          <p:cNvPr id="89" name="condition-label">
            <a:extLst xmlns:a="http://schemas.openxmlformats.org/drawingml/2006/main">
              <a:ext uri="{FF2B5EF4-FFF2-40B4-BE49-F238E27FC236}">
                <a16:creationId xmlns:a16="http://schemas.microsoft.com/office/drawing/2014/main" id="{6F582404-4702-4EE3-9333-765D9067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5600" y="2289600"/>
            <a:ext cx="729000" cy="18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93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893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90" name="perturbation-heading">
            <a:extLst xmlns:a="http://schemas.openxmlformats.org/drawingml/2006/main">
              <a:ext uri="{FF2B5EF4-FFF2-40B4-BE49-F238E27FC236}">
                <a16:creationId xmlns:a16="http://schemas.microsoft.com/office/drawing/2014/main" id="{0B320012-E7D4-4E3D-81C6-00F90F9A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4000" y="2721600"/>
            <a:ext cx="1512000" cy="21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63" b="1">
                <a:solidFill>
                  <a:srgbClr val="27323D"/>
                </a:solidFill>
                <a:latin typeface="Arial"/>
                <a:ea typeface="Arial"/>
                <a:cs typeface="Arial"/>
              </a:defRPr>
            </a:pPr>
            <a:r>
              <a:rPr sz="1063" b="1">
                <a:solidFill>
                  <a:srgbClr val="27323D"/>
                </a:solidFill>
                <a:latin typeface="Arial"/>
                <a:ea typeface="Arial"/>
                <a:cs typeface="Arial"/>
              </a:rPr>
              <a:t>Perturbation</a:t>
            </a:r>
          </a:p>
        </p:txBody>
      </p:sp>
      <p:sp>
        <p:nvSpPr>
          <p:cNvPr id="91" name="perturbation-token">
            <a:extLst xmlns:a="http://schemas.openxmlformats.org/drawingml/2006/main">
              <a:ext uri="{FF2B5EF4-FFF2-40B4-BE49-F238E27FC236}">
                <a16:creationId xmlns:a16="http://schemas.microsoft.com/office/drawing/2014/main" id="{329F3C21-C631-4E9A-9006-40583011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000" y="2975400"/>
            <a:ext cx="631800" cy="475200"/>
          </a:xfrm>
          <a:custGeom xmlns:a="http://schemas.openxmlformats.org/drawingml/2006/main">
            <a:pathLst>
              <a:path w="952500" h="952500">
                <a:moveTo>
                  <a:pt x="19050" y="457200"/>
                </a:moveTo>
                <a:lnTo>
                  <a:pt x="20131" y="429220"/>
                </a:lnTo>
                <a:lnTo>
                  <a:pt x="24079" y="400812"/>
                </a:lnTo>
                <a:lnTo>
                  <a:pt x="30523" y="372404"/>
                </a:lnTo>
                <a:lnTo>
                  <a:pt x="39091" y="344424"/>
                </a:lnTo>
                <a:lnTo>
                  <a:pt x="49411" y="317302"/>
                </a:lnTo>
                <a:lnTo>
                  <a:pt x="61112" y="291465"/>
                </a:lnTo>
                <a:lnTo>
                  <a:pt x="73824" y="267343"/>
                </a:lnTo>
                <a:lnTo>
                  <a:pt x="87173" y="245364"/>
                </a:lnTo>
                <a:lnTo>
                  <a:pt x="100789" y="225957"/>
                </a:lnTo>
                <a:lnTo>
                  <a:pt x="114300" y="209550"/>
                </a:lnTo>
                <a:lnTo>
                  <a:pt x="128316" y="197072"/>
                </a:lnTo>
                <a:lnTo>
                  <a:pt x="143561" y="188595"/>
                </a:lnTo>
                <a:lnTo>
                  <a:pt x="159834" y="183261"/>
                </a:lnTo>
                <a:lnTo>
                  <a:pt x="176936" y="180213"/>
                </a:lnTo>
                <a:lnTo>
                  <a:pt x="194667" y="178594"/>
                </a:lnTo>
                <a:lnTo>
                  <a:pt x="212827" y="177546"/>
                </a:lnTo>
                <a:lnTo>
                  <a:pt x="231215" y="176213"/>
                </a:lnTo>
                <a:lnTo>
                  <a:pt x="249631" y="173736"/>
                </a:lnTo>
                <a:lnTo>
                  <a:pt x="267876" y="169259"/>
                </a:lnTo>
                <a:lnTo>
                  <a:pt x="285750" y="161925"/>
                </a:lnTo>
                <a:lnTo>
                  <a:pt x="303505" y="151119"/>
                </a:lnTo>
                <a:lnTo>
                  <a:pt x="321488" y="137389"/>
                </a:lnTo>
                <a:lnTo>
                  <a:pt x="339642" y="121620"/>
                </a:lnTo>
                <a:lnTo>
                  <a:pt x="357911" y="104699"/>
                </a:lnTo>
                <a:lnTo>
                  <a:pt x="376238" y="87511"/>
                </a:lnTo>
                <a:lnTo>
                  <a:pt x="394564" y="70942"/>
                </a:lnTo>
                <a:lnTo>
                  <a:pt x="412833" y="55878"/>
                </a:lnTo>
                <a:lnTo>
                  <a:pt x="430987" y="43205"/>
                </a:lnTo>
                <a:lnTo>
                  <a:pt x="448970" y="33809"/>
                </a:lnTo>
                <a:lnTo>
                  <a:pt x="466725" y="28575"/>
                </a:lnTo>
                <a:lnTo>
                  <a:pt x="484599" y="27194"/>
                </a:lnTo>
                <a:lnTo>
                  <a:pt x="502844" y="28575"/>
                </a:lnTo>
                <a:lnTo>
                  <a:pt x="521260" y="32433"/>
                </a:lnTo>
                <a:lnTo>
                  <a:pt x="539648" y="38481"/>
                </a:lnTo>
                <a:lnTo>
                  <a:pt x="557808" y="46434"/>
                </a:lnTo>
                <a:lnTo>
                  <a:pt x="575539" y="56007"/>
                </a:lnTo>
                <a:lnTo>
                  <a:pt x="592641" y="66913"/>
                </a:lnTo>
                <a:lnTo>
                  <a:pt x="608914" y="78867"/>
                </a:lnTo>
                <a:lnTo>
                  <a:pt x="624159" y="91583"/>
                </a:lnTo>
                <a:lnTo>
                  <a:pt x="638175" y="104775"/>
                </a:lnTo>
                <a:lnTo>
                  <a:pt x="650315" y="119324"/>
                </a:lnTo>
                <a:lnTo>
                  <a:pt x="660425" y="136017"/>
                </a:lnTo>
                <a:lnTo>
                  <a:pt x="669050" y="154424"/>
                </a:lnTo>
                <a:lnTo>
                  <a:pt x="676732" y="174117"/>
                </a:lnTo>
                <a:lnTo>
                  <a:pt x="684014" y="194667"/>
                </a:lnTo>
                <a:lnTo>
                  <a:pt x="691439" y="215646"/>
                </a:lnTo>
                <a:lnTo>
                  <a:pt x="699549" y="236625"/>
                </a:lnTo>
                <a:lnTo>
                  <a:pt x="708889" y="257175"/>
                </a:lnTo>
                <a:lnTo>
                  <a:pt x="720000" y="276868"/>
                </a:lnTo>
                <a:lnTo>
                  <a:pt x="733425" y="295275"/>
                </a:lnTo>
                <a:lnTo>
                  <a:pt x="750470" y="312068"/>
                </a:lnTo>
                <a:lnTo>
                  <a:pt x="771296" y="327508"/>
                </a:lnTo>
                <a:lnTo>
                  <a:pt x="794733" y="342052"/>
                </a:lnTo>
                <a:lnTo>
                  <a:pt x="819607" y="356159"/>
                </a:lnTo>
                <a:lnTo>
                  <a:pt x="844748" y="370284"/>
                </a:lnTo>
                <a:lnTo>
                  <a:pt x="868985" y="384886"/>
                </a:lnTo>
                <a:lnTo>
                  <a:pt x="891145" y="400421"/>
                </a:lnTo>
                <a:lnTo>
                  <a:pt x="910057" y="417347"/>
                </a:lnTo>
                <a:lnTo>
                  <a:pt x="924549" y="436121"/>
                </a:lnTo>
                <a:lnTo>
                  <a:pt x="933450" y="457200"/>
                </a:lnTo>
                <a:lnTo>
                  <a:pt x="936922" y="481617"/>
                </a:lnTo>
                <a:lnTo>
                  <a:pt x="936269" y="509473"/>
                </a:lnTo>
                <a:lnTo>
                  <a:pt x="932036" y="539825"/>
                </a:lnTo>
                <a:lnTo>
                  <a:pt x="924763" y="571729"/>
                </a:lnTo>
                <a:lnTo>
                  <a:pt x="914995" y="604242"/>
                </a:lnTo>
                <a:lnTo>
                  <a:pt x="903275" y="636422"/>
                </a:lnTo>
                <a:lnTo>
                  <a:pt x="890145" y="667326"/>
                </a:lnTo>
                <a:lnTo>
                  <a:pt x="876148" y="696011"/>
                </a:lnTo>
                <a:lnTo>
                  <a:pt x="861827" y="721533"/>
                </a:lnTo>
                <a:lnTo>
                  <a:pt x="847725" y="742950"/>
                </a:lnTo>
                <a:lnTo>
                  <a:pt x="832876" y="760190"/>
                </a:lnTo>
                <a:lnTo>
                  <a:pt x="816178" y="774192"/>
                </a:lnTo>
                <a:lnTo>
                  <a:pt x="797976" y="785527"/>
                </a:lnTo>
                <a:lnTo>
                  <a:pt x="778612" y="794766"/>
                </a:lnTo>
                <a:lnTo>
                  <a:pt x="758428" y="802481"/>
                </a:lnTo>
                <a:lnTo>
                  <a:pt x="737768" y="809244"/>
                </a:lnTo>
                <a:lnTo>
                  <a:pt x="716975" y="815626"/>
                </a:lnTo>
                <a:lnTo>
                  <a:pt x="696392" y="822198"/>
                </a:lnTo>
                <a:lnTo>
                  <a:pt x="676361" y="829532"/>
                </a:lnTo>
                <a:lnTo>
                  <a:pt x="657225" y="838200"/>
                </a:lnTo>
                <a:lnTo>
                  <a:pt x="638742" y="848754"/>
                </a:lnTo>
                <a:lnTo>
                  <a:pt x="620420" y="860908"/>
                </a:lnTo>
                <a:lnTo>
                  <a:pt x="602232" y="873976"/>
                </a:lnTo>
                <a:lnTo>
                  <a:pt x="584149" y="887273"/>
                </a:lnTo>
                <a:lnTo>
                  <a:pt x="566142" y="900113"/>
                </a:lnTo>
                <a:lnTo>
                  <a:pt x="548183" y="911809"/>
                </a:lnTo>
                <a:lnTo>
                  <a:pt x="530242" y="921677"/>
                </a:lnTo>
                <a:lnTo>
                  <a:pt x="512293" y="929030"/>
                </a:lnTo>
                <a:lnTo>
                  <a:pt x="494305" y="933183"/>
                </a:lnTo>
                <a:lnTo>
                  <a:pt x="476250" y="933450"/>
                </a:lnTo>
                <a:lnTo>
                  <a:pt x="458110" y="928945"/>
                </a:lnTo>
                <a:lnTo>
                  <a:pt x="439903" y="919886"/>
                </a:lnTo>
                <a:lnTo>
                  <a:pt x="421657" y="907247"/>
                </a:lnTo>
                <a:lnTo>
                  <a:pt x="403403" y="891997"/>
                </a:lnTo>
                <a:lnTo>
                  <a:pt x="385167" y="875109"/>
                </a:lnTo>
                <a:lnTo>
                  <a:pt x="366979" y="857555"/>
                </a:lnTo>
                <a:lnTo>
                  <a:pt x="348867" y="840305"/>
                </a:lnTo>
                <a:lnTo>
                  <a:pt x="330860" y="824332"/>
                </a:lnTo>
                <a:lnTo>
                  <a:pt x="312987" y="810606"/>
                </a:lnTo>
                <a:lnTo>
                  <a:pt x="295275" y="800100"/>
                </a:lnTo>
                <a:lnTo>
                  <a:pt x="277444" y="793633"/>
                </a:lnTo>
                <a:lnTo>
                  <a:pt x="259309" y="790651"/>
                </a:lnTo>
                <a:lnTo>
                  <a:pt x="241040" y="790070"/>
                </a:lnTo>
                <a:lnTo>
                  <a:pt x="222809" y="790804"/>
                </a:lnTo>
                <a:lnTo>
                  <a:pt x="204788" y="791766"/>
                </a:lnTo>
                <a:lnTo>
                  <a:pt x="187147" y="791870"/>
                </a:lnTo>
                <a:lnTo>
                  <a:pt x="170059" y="790032"/>
                </a:lnTo>
                <a:lnTo>
                  <a:pt x="153695" y="785165"/>
                </a:lnTo>
                <a:lnTo>
                  <a:pt x="138227" y="776183"/>
                </a:lnTo>
                <a:lnTo>
                  <a:pt x="123825" y="762000"/>
                </a:lnTo>
                <a:lnTo>
                  <a:pt x="109747" y="742064"/>
                </a:lnTo>
                <a:lnTo>
                  <a:pt x="95402" y="717194"/>
                </a:lnTo>
                <a:lnTo>
                  <a:pt x="81191" y="688362"/>
                </a:lnTo>
                <a:lnTo>
                  <a:pt x="67513" y="656539"/>
                </a:lnTo>
                <a:lnTo>
                  <a:pt x="54769" y="622697"/>
                </a:lnTo>
                <a:lnTo>
                  <a:pt x="43358" y="587807"/>
                </a:lnTo>
                <a:lnTo>
                  <a:pt x="33680" y="552841"/>
                </a:lnTo>
                <a:lnTo>
                  <a:pt x="26137" y="518770"/>
                </a:lnTo>
                <a:lnTo>
                  <a:pt x="21126" y="486566"/>
                </a:lnTo>
                <a:close/>
              </a:path>
            </a:pathLst>
          </a:custGeom>
          <a:solidFill xmlns:a="http://schemas.openxmlformats.org/drawingml/2006/main">
            <a:srgbClr val="F5EDDA"/>
          </a:solidFill>
          <a:ln xmlns:a="http://schemas.openxmlformats.org/drawingml/2006/main" w="10800">
            <a:solidFill>
              <a:srgbClr val="A17B36"/>
            </a:solidFill>
          </a:ln>
        </p:spPr>
      </p:sp>
      <p:sp>
        <p:nvSpPr>
          <p:cNvPr id="92" name="perturbation-mark-0">
            <a:extLst xmlns:a="http://schemas.openxmlformats.org/drawingml/2006/main">
              <a:ext uri="{FF2B5EF4-FFF2-40B4-BE49-F238E27FC236}">
                <a16:creationId xmlns:a16="http://schemas.microsoft.com/office/drawing/2014/main" id="{A0C05B5C-AD26-4FBD-81EF-107B1E4B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6000" y="3148200"/>
            <a:ext cx="75600" cy="7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C70"/>
          </a:solidFill>
          <a:ln xmlns:a="http://schemas.openxmlformats.org/drawingml/2006/main" w="7560">
            <a:solidFill>
              <a:srgbClr val="A17B36"/>
            </a:solidFill>
          </a:ln>
        </p:spPr>
      </p:sp>
      <p:sp>
        <p:nvSpPr>
          <p:cNvPr id="93" name="perturbation-mark-1">
            <a:extLst xmlns:a="http://schemas.openxmlformats.org/drawingml/2006/main">
              <a:ext uri="{FF2B5EF4-FFF2-40B4-BE49-F238E27FC236}">
                <a16:creationId xmlns:a16="http://schemas.microsoft.com/office/drawing/2014/main" id="{F9E3D107-C344-4A79-B92B-4FFB979F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200" y="3272400"/>
            <a:ext cx="75600" cy="7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C70"/>
          </a:solidFill>
          <a:ln xmlns:a="http://schemas.openxmlformats.org/drawingml/2006/main" w="7560">
            <a:solidFill>
              <a:srgbClr val="A17B36"/>
            </a:solidFill>
          </a:ln>
        </p:spPr>
      </p:sp>
      <p:sp>
        <p:nvSpPr>
          <p:cNvPr id="94" name="perturbation-mark-2">
            <a:extLst xmlns:a="http://schemas.openxmlformats.org/drawingml/2006/main">
              <a:ext uri="{FF2B5EF4-FFF2-40B4-BE49-F238E27FC236}">
                <a16:creationId xmlns:a16="http://schemas.microsoft.com/office/drawing/2014/main" id="{1630481B-55C3-466F-B89A-283C365C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1000" y="3310200"/>
            <a:ext cx="75600" cy="75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C70"/>
          </a:solidFill>
          <a:ln xmlns:a="http://schemas.openxmlformats.org/drawingml/2006/main" w="7560">
            <a:solidFill>
              <a:srgbClr val="A17B36"/>
            </a:solidFill>
          </a:ln>
        </p:spPr>
      </p:sp>
      <p:sp>
        <p:nvSpPr>
          <p:cNvPr id="95" name="conditioning-caption">
            <a:extLst xmlns:a="http://schemas.openxmlformats.org/drawingml/2006/main">
              <a:ext uri="{FF2B5EF4-FFF2-40B4-BE49-F238E27FC236}">
                <a16:creationId xmlns:a16="http://schemas.microsoft.com/office/drawing/2014/main" id="{EA57962B-EB39-4962-AAFA-01E133A6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4000" y="3483000"/>
            <a:ext cx="1512000" cy="1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50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Conditioning input</a:t>
            </a:r>
          </a:p>
        </p:txBody>
      </p:sp>
      <p:sp>
        <p:nvSpPr>
          <p:cNvPr id="96" name="disclosure">
            <a:extLst xmlns:a="http://schemas.openxmlformats.org/drawingml/2006/main">
              <a:ext uri="{FF2B5EF4-FFF2-40B4-BE49-F238E27FC236}">
                <a16:creationId xmlns:a16="http://schemas.microsoft.com/office/drawing/2014/main" id="{AB3FF45E-3718-4F62-A855-31962C01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9400" y="3655800"/>
            <a:ext cx="1220400" cy="11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3616E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3616E"/>
                </a:solidFill>
                <a:latin typeface="Arial"/>
                <a:ea typeface="Arial"/>
                <a:cs typeface="Arial"/>
              </a:rPr>
              <a:t>Illustrative workflow</a:t>
            </a:r>
          </a:p>
        </p:txBody>
      </p:sp>
    </p:spTree>
    <p:extLst>
      <p:ext uri="{BB962C8B-B14F-4D97-AF65-F5344CB8AC3E}">
        <p14:creationId xmlns:p14="http://schemas.microsoft.com/office/powerpoint/2010/main" val="247916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1</ns0:Slides>
  <ns0:Notes>1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>
  <dc:creator>Open Research Skills contributors</dc:creator>
  <ns0:lastModifiedBy>Open Research Skills contributors</ns0:lastModifiedBy>
  <dc:title>Cell response native v2</dc:title>
</ns0:coreProperties>
</file>