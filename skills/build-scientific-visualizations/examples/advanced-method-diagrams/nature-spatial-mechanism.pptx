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703bd4dbb54db2" /><Relationship Type="http://schemas.openxmlformats.org/officeDocument/2006/relationships/extended-properties" Target="/docProps/app.xml" Id="R93c9a682449b4040" /><Relationship Type="http://schemas.openxmlformats.org/officeDocument/2006/relationships/officeDocument" Target="/ppt/presentation.xml" Id="R7fe761ce7ac644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c4a538861b4cfc"/>
  </p:sldMasterIdLst>
  <p:notesMasterIdLst>
    <p:notesMasterId xmlns:r="http://schemas.openxmlformats.org/officeDocument/2006/relationships" r:id="Re99be9faa88d4e16"/>
  </p:notesMasterIdLst>
  <p:sldIdLst>
    <p:sldId xmlns:r="http://schemas.openxmlformats.org/officeDocument/2006/relationships" id="256" r:id="R8bed20bf47af42f3"/>
  </p:sldIdLst>
  <p:sldSz cx="6588000" cy="411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a65098bbf848cb" /><Relationship Type="http://schemas.openxmlformats.org/officeDocument/2006/relationships/slideMaster" Target="/ppt/slideMasters/slideMaster1.xml" Id="Rc6c4a538861b4cfc" /><Relationship Type="http://schemas.openxmlformats.org/officeDocument/2006/relationships/notesMaster" Target="/ppt/notesMasters/notesMaster1.xml" Id="Re99be9faa88d4e16" /><Relationship Type="http://schemas.openxmlformats.org/officeDocument/2006/relationships/presProps" Target="/ppt/presProps.xml" Id="Rff5faa428f0049fc" /><Relationship Type="http://schemas.openxmlformats.org/officeDocument/2006/relationships/tableStyles" Target="/ppt/tableStyles.xml" Id="Re14d4597ab7d4615" /><Relationship Type="http://schemas.openxmlformats.org/officeDocument/2006/relationships/slide" Target="/ppt/slides/slide1.xml" Id="R8bed20bf47af42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31998255e849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c4e089b65c4d70" /><Relationship Type="http://schemas.openxmlformats.org/officeDocument/2006/relationships/notesMaster" Target="/ppt/notesMasters/notesMaster1.xml" Id="Re4ec3084faec41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educational conceptual figure reconstructed as native editable objects from an AI-generated design reference. Not a reported method or empirical result. Token counts, tile shading and biological silhouettes are illustrative. Model identity was not exposed by the image tool. Layout reference: https://research-figure-guide.nature.com/figures/building-and-exporting-figure-panels/ (accessed 2026-09-09).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bdd6a40f9a44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e261cdb36d4a7e" /><Relationship Type="http://schemas.openxmlformats.org/officeDocument/2006/relationships/slideLayout" Target="/ppt/slideLayouts/slideLayout1.xml" Id="Rffe54e31b1044d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e54e31b1044d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a582955dd4ad0" /><Relationship Type="http://schemas.openxmlformats.org/officeDocument/2006/relationships/notesSlide" Target="/ppt/notesSlides/notesSlide1.xml" Id="R7bc26bab11664a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9" name="panel-a">
            <a:extLst xmlns:a="http://schemas.openxmlformats.org/drawingml/2006/main">
              <a:ext uri="{FF2B5EF4-FFF2-40B4-BE49-F238E27FC236}">
                <a16:creationId xmlns:a16="http://schemas.microsoft.com/office/drawing/2014/main" id="{A075E000-FACA-423E-96F8-998B6E23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91" y="75291"/>
            <a:ext cx="122349" cy="141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panel-a-title">
            <a:extLst xmlns:a="http://schemas.openxmlformats.org/drawingml/2006/main">
              <a:ext uri="{FF2B5EF4-FFF2-40B4-BE49-F238E27FC236}">
                <a16:creationId xmlns:a16="http://schemas.microsoft.com/office/drawing/2014/main" id="{75AF4A83-2126-4434-B6BC-4B8597ED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03" y="75291"/>
            <a:ext cx="6263306" cy="141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85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85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Spatial context and paired molecular profiles</a:t>
            </a:r>
          </a:p>
        </p:txBody>
      </p:sp>
      <p:sp>
        <p:nvSpPr>
          <p:cNvPr id="3" name="tissue-title">
            <a:extLst xmlns:a="http://schemas.openxmlformats.org/drawingml/2006/main">
              <a:ext uri="{FF2B5EF4-FFF2-40B4-BE49-F238E27FC236}">
                <a16:creationId xmlns:a16="http://schemas.microsoft.com/office/drawing/2014/main" id="{79EAAB8C-35EF-4D55-AEDA-9CD751F5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00" y="305871"/>
            <a:ext cx="1317600" cy="141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85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85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Tissue context</a:t>
            </a:r>
          </a:p>
        </p:txBody>
      </p:sp>
      <p:sp>
        <p:nvSpPr>
          <p:cNvPr id="4" name="cell-title">
            <a:extLst xmlns:a="http://schemas.openxmlformats.org/drawingml/2006/main">
              <a:ext uri="{FF2B5EF4-FFF2-40B4-BE49-F238E27FC236}">
                <a16:creationId xmlns:a16="http://schemas.microsoft.com/office/drawing/2014/main" id="{9E74129E-407A-4BAE-9C88-77D63CA8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989" y="305871"/>
            <a:ext cx="1199957" cy="141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85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85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Region-resolved cell</a:t>
            </a:r>
          </a:p>
        </p:txBody>
      </p:sp>
      <p:sp>
        <p:nvSpPr>
          <p:cNvPr id="5" name="assay-title">
            <a:extLst xmlns:a="http://schemas.openxmlformats.org/drawingml/2006/main">
              <a:ext uri="{FF2B5EF4-FFF2-40B4-BE49-F238E27FC236}">
                <a16:creationId xmlns:a16="http://schemas.microsoft.com/office/drawing/2014/main" id="{F630B2D5-E7D4-46F3-9E78-8AB1F037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937" y="305871"/>
            <a:ext cx="870557" cy="141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85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85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Matched profiles</a:t>
            </a:r>
          </a:p>
        </p:txBody>
      </p:sp>
      <p:sp>
        <p:nvSpPr>
          <p:cNvPr id="6" name="pair-title">
            <a:extLst xmlns:a="http://schemas.openxmlformats.org/drawingml/2006/main">
              <a:ext uri="{FF2B5EF4-FFF2-40B4-BE49-F238E27FC236}">
                <a16:creationId xmlns:a16="http://schemas.microsoft.com/office/drawing/2014/main" id="{26E0703F-C843-449B-8CB5-06D7D375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771" y="305871"/>
            <a:ext cx="1694057" cy="141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85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85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Within-donor pairing</a:t>
            </a:r>
          </a:p>
        </p:txBody>
      </p:sp>
      <p:sp>
        <p:nvSpPr>
          <p:cNvPr id="7" name="tissue-outline">
            <a:extLst xmlns:a="http://schemas.openxmlformats.org/drawingml/2006/main">
              <a:ext uri="{FF2B5EF4-FFF2-40B4-BE49-F238E27FC236}">
                <a16:creationId xmlns:a16="http://schemas.microsoft.com/office/drawing/2014/main" id="{8C4E23E0-FDD7-45E4-8CCB-10958FE7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91" y="566215"/>
            <a:ext cx="1462641" cy="1047125"/>
          </a:xfrm>
          <a:custGeom xmlns:a="http://schemas.openxmlformats.org/drawingml/2006/main">
            <a:pathLst>
              <a:path w="2960583" h="2119522">
                <a:moveTo>
                  <a:pt x="2952031" y="1106566"/>
                </a:moveTo>
                <a:lnTo>
                  <a:pt x="2960583" y="1201512"/>
                </a:lnTo>
                <a:lnTo>
                  <a:pt x="2949353" y="1296500"/>
                </a:lnTo>
                <a:lnTo>
                  <a:pt x="2919453" y="1389439"/>
                </a:lnTo>
                <a:lnTo>
                  <a:pt x="2873376" y="1478764"/>
                </a:lnTo>
                <a:lnTo>
                  <a:pt x="2814308" y="1563633"/>
                </a:lnTo>
                <a:lnTo>
                  <a:pt x="2745352" y="1643883"/>
                </a:lnTo>
                <a:lnTo>
                  <a:pt x="2668892" y="1719772"/>
                </a:lnTo>
                <a:lnTo>
                  <a:pt x="2586238" y="1791597"/>
                </a:lnTo>
                <a:lnTo>
                  <a:pt x="2497626" y="1859315"/>
                </a:lnTo>
                <a:lnTo>
                  <a:pt x="2402552" y="1922283"/>
                </a:lnTo>
                <a:lnTo>
                  <a:pt x="2300302" y="1979213"/>
                </a:lnTo>
                <a:lnTo>
                  <a:pt x="2190532" y="2028362"/>
                </a:lnTo>
                <a:lnTo>
                  <a:pt x="2073693" y="2067921"/>
                </a:lnTo>
                <a:lnTo>
                  <a:pt x="1951183" y="2096490"/>
                </a:lnTo>
                <a:lnTo>
                  <a:pt x="1825180" y="2113510"/>
                </a:lnTo>
                <a:lnTo>
                  <a:pt x="1698195" y="2119522"/>
                </a:lnTo>
                <a:lnTo>
                  <a:pt x="1572484" y="2116165"/>
                </a:lnTo>
                <a:lnTo>
                  <a:pt x="1449495" y="2105883"/>
                </a:lnTo>
                <a:lnTo>
                  <a:pt x="1329521" y="2091416"/>
                </a:lnTo>
                <a:lnTo>
                  <a:pt x="1211683" y="2075176"/>
                </a:lnTo>
                <a:lnTo>
                  <a:pt x="1094273" y="2058664"/>
                </a:lnTo>
                <a:lnTo>
                  <a:pt x="975377" y="2042091"/>
                </a:lnTo>
                <a:lnTo>
                  <a:pt x="853633" y="2024280"/>
                </a:lnTo>
                <a:lnTo>
                  <a:pt x="728921" y="2002908"/>
                </a:lnTo>
                <a:lnTo>
                  <a:pt x="602780" y="1975016"/>
                </a:lnTo>
                <a:lnTo>
                  <a:pt x="478444" y="1937684"/>
                </a:lnTo>
                <a:lnTo>
                  <a:pt x="360439" y="1888707"/>
                </a:lnTo>
                <a:lnTo>
                  <a:pt x="253833" y="1827103"/>
                </a:lnTo>
                <a:lnTo>
                  <a:pt x="163306" y="1753360"/>
                </a:lnTo>
                <a:lnTo>
                  <a:pt x="92251" y="1669337"/>
                </a:lnTo>
                <a:lnTo>
                  <a:pt x="42134" y="1577883"/>
                </a:lnTo>
                <a:lnTo>
                  <a:pt x="12258" y="1482255"/>
                </a:lnTo>
                <a:lnTo>
                  <a:pt x="0" y="1385501"/>
                </a:lnTo>
                <a:lnTo>
                  <a:pt x="1450" y="1289939"/>
                </a:lnTo>
                <a:lnTo>
                  <a:pt x="12306" y="1196869"/>
                </a:lnTo>
                <a:lnTo>
                  <a:pt x="28809" y="1106566"/>
                </a:lnTo>
                <a:lnTo>
                  <a:pt x="48484" y="1018537"/>
                </a:lnTo>
                <a:lnTo>
                  <a:pt x="70541" y="931942"/>
                </a:lnTo>
                <a:lnTo>
                  <a:pt x="95837" y="846073"/>
                </a:lnTo>
                <a:lnTo>
                  <a:pt x="126446" y="760725"/>
                </a:lnTo>
                <a:lnTo>
                  <a:pt x="164969" y="676386"/>
                </a:lnTo>
                <a:lnTo>
                  <a:pt x="213767" y="594181"/>
                </a:lnTo>
                <a:lnTo>
                  <a:pt x="274328" y="515602"/>
                </a:lnTo>
                <a:lnTo>
                  <a:pt x="346920" y="442125"/>
                </a:lnTo>
                <a:lnTo>
                  <a:pt x="430596" y="374811"/>
                </a:lnTo>
                <a:lnTo>
                  <a:pt x="523540" y="314045"/>
                </a:lnTo>
                <a:lnTo>
                  <a:pt x="623610" y="259481"/>
                </a:lnTo>
                <a:lnTo>
                  <a:pt x="728921" y="210224"/>
                </a:lnTo>
                <a:lnTo>
                  <a:pt x="838285" y="165214"/>
                </a:lnTo>
                <a:lnTo>
                  <a:pt x="951382" y="123694"/>
                </a:lnTo>
                <a:lnTo>
                  <a:pt x="1068594" y="85640"/>
                </a:lnTo>
                <a:lnTo>
                  <a:pt x="1190582" y="52012"/>
                </a:lnTo>
                <a:lnTo>
                  <a:pt x="1317708" y="24748"/>
                </a:lnTo>
                <a:lnTo>
                  <a:pt x="1449495" y="6478"/>
                </a:lnTo>
                <a:lnTo>
                  <a:pt x="1584297" y="0"/>
                </a:lnTo>
                <a:lnTo>
                  <a:pt x="1719296" y="7665"/>
                </a:lnTo>
                <a:lnTo>
                  <a:pt x="1850859" y="30794"/>
                </a:lnTo>
                <a:lnTo>
                  <a:pt x="1975178" y="69295"/>
                </a:lnTo>
                <a:lnTo>
                  <a:pt x="2089040" y="121573"/>
                </a:lnTo>
                <a:lnTo>
                  <a:pt x="2190532" y="184770"/>
                </a:lnTo>
                <a:lnTo>
                  <a:pt x="2279472" y="255284"/>
                </a:lnTo>
                <a:lnTo>
                  <a:pt x="2357455" y="329447"/>
                </a:lnTo>
                <a:lnTo>
                  <a:pt x="2427469" y="404203"/>
                </a:lnTo>
                <a:lnTo>
                  <a:pt x="2493151" y="477632"/>
                </a:lnTo>
                <a:lnTo>
                  <a:pt x="2557869" y="549191"/>
                </a:lnTo>
                <a:lnTo>
                  <a:pt x="2623836" y="619635"/>
                </a:lnTo>
                <a:lnTo>
                  <a:pt x="2691473" y="690636"/>
                </a:lnTo>
                <a:lnTo>
                  <a:pt x="2759189" y="764216"/>
                </a:lnTo>
                <a:lnTo>
                  <a:pt x="2823616" y="842135"/>
                </a:lnTo>
                <a:lnTo>
                  <a:pt x="2880262" y="925381"/>
                </a:lnTo>
                <a:lnTo>
                  <a:pt x="2924405" y="1013893"/>
                </a:lnTo>
                <a:close/>
              </a:path>
            </a:pathLst>
          </a:custGeom>
          <a:solidFill xmlns:a="http://schemas.openxmlformats.org/drawingml/2006/main">
            <a:srgbClr val="E9F0F6"/>
          </a:solidFill>
          <a:ln xmlns:a="http://schemas.openxmlformats.org/drawingml/2006/main" w="7529">
            <a:solidFill>
              <a:srgbClr val="52779C"/>
            </a:solidFill>
            <a:prstDash val="solid"/>
          </a:ln>
        </p:spPr>
      </p:sp>
      <p:sp>
        <p:nvSpPr>
          <p:cNvPr id="8" name="tissue-compartment-a">
            <a:extLst xmlns:a="http://schemas.openxmlformats.org/drawingml/2006/main">
              <a:ext uri="{FF2B5EF4-FFF2-40B4-BE49-F238E27FC236}">
                <a16:creationId xmlns:a16="http://schemas.microsoft.com/office/drawing/2014/main" id="{F59FDAA0-BED4-445B-A4B5-F04F2D50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58" y="713844"/>
            <a:ext cx="474250" cy="764357"/>
          </a:xfrm>
          <a:custGeom xmlns:a="http://schemas.openxmlformats.org/drawingml/2006/main">
            <a:pathLst>
              <a:path w="959947" h="1547162">
                <a:moveTo>
                  <a:pt x="957174" y="807747"/>
                </a:moveTo>
                <a:lnTo>
                  <a:pt x="959947" y="877053"/>
                </a:lnTo>
                <a:lnTo>
                  <a:pt x="956306" y="946391"/>
                </a:lnTo>
                <a:lnTo>
                  <a:pt x="946610" y="1014232"/>
                </a:lnTo>
                <a:lnTo>
                  <a:pt x="931671" y="1079435"/>
                </a:lnTo>
                <a:lnTo>
                  <a:pt x="912518" y="1141386"/>
                </a:lnTo>
                <a:lnTo>
                  <a:pt x="890160" y="1199965"/>
                </a:lnTo>
                <a:lnTo>
                  <a:pt x="865368" y="1255361"/>
                </a:lnTo>
                <a:lnTo>
                  <a:pt x="838568" y="1307790"/>
                </a:lnTo>
                <a:lnTo>
                  <a:pt x="809836" y="1357221"/>
                </a:lnTo>
                <a:lnTo>
                  <a:pt x="779009" y="1403186"/>
                </a:lnTo>
                <a:lnTo>
                  <a:pt x="745855" y="1444742"/>
                </a:lnTo>
                <a:lnTo>
                  <a:pt x="710263" y="1480619"/>
                </a:lnTo>
                <a:lnTo>
                  <a:pt x="672379" y="1509495"/>
                </a:lnTo>
                <a:lnTo>
                  <a:pt x="632656" y="1530349"/>
                </a:lnTo>
                <a:lnTo>
                  <a:pt x="591801" y="1542773"/>
                </a:lnTo>
                <a:lnTo>
                  <a:pt x="550627" y="1547162"/>
                </a:lnTo>
                <a:lnTo>
                  <a:pt x="509866" y="1544711"/>
                </a:lnTo>
                <a:lnTo>
                  <a:pt x="469988" y="1537206"/>
                </a:lnTo>
                <a:lnTo>
                  <a:pt x="431087" y="1526646"/>
                </a:lnTo>
                <a:lnTo>
                  <a:pt x="392879" y="1514791"/>
                </a:lnTo>
                <a:lnTo>
                  <a:pt x="354810" y="1502738"/>
                </a:lnTo>
                <a:lnTo>
                  <a:pt x="316259" y="1490640"/>
                </a:lnTo>
                <a:lnTo>
                  <a:pt x="276784" y="1477639"/>
                </a:lnTo>
                <a:lnTo>
                  <a:pt x="236347" y="1462038"/>
                </a:lnTo>
                <a:lnTo>
                  <a:pt x="195447" y="1441678"/>
                </a:lnTo>
                <a:lnTo>
                  <a:pt x="155132" y="1414428"/>
                </a:lnTo>
                <a:lnTo>
                  <a:pt x="116870" y="1378676"/>
                </a:lnTo>
                <a:lnTo>
                  <a:pt x="82303" y="1333708"/>
                </a:lnTo>
                <a:lnTo>
                  <a:pt x="52951" y="1279879"/>
                </a:lnTo>
                <a:lnTo>
                  <a:pt x="29912" y="1218546"/>
                </a:lnTo>
                <a:lnTo>
                  <a:pt x="13661" y="1151788"/>
                </a:lnTo>
                <a:lnTo>
                  <a:pt x="3975" y="1081984"/>
                </a:lnTo>
                <a:lnTo>
                  <a:pt x="0" y="1011358"/>
                </a:lnTo>
                <a:lnTo>
                  <a:pt x="470" y="941601"/>
                </a:lnTo>
                <a:lnTo>
                  <a:pt x="3990" y="873664"/>
                </a:lnTo>
                <a:lnTo>
                  <a:pt x="9341" y="807747"/>
                </a:lnTo>
                <a:lnTo>
                  <a:pt x="15721" y="743489"/>
                </a:lnTo>
                <a:lnTo>
                  <a:pt x="22872" y="680279"/>
                </a:lnTo>
                <a:lnTo>
                  <a:pt x="31074" y="617598"/>
                </a:lnTo>
                <a:lnTo>
                  <a:pt x="40999" y="555297"/>
                </a:lnTo>
                <a:lnTo>
                  <a:pt x="53490" y="493733"/>
                </a:lnTo>
                <a:lnTo>
                  <a:pt x="69312" y="433727"/>
                </a:lnTo>
                <a:lnTo>
                  <a:pt x="88949" y="376368"/>
                </a:lnTo>
                <a:lnTo>
                  <a:pt x="112486" y="322733"/>
                </a:lnTo>
                <a:lnTo>
                  <a:pt x="139617" y="273596"/>
                </a:lnTo>
                <a:lnTo>
                  <a:pt x="169754" y="229240"/>
                </a:lnTo>
                <a:lnTo>
                  <a:pt x="202201" y="189410"/>
                </a:lnTo>
                <a:lnTo>
                  <a:pt x="236347" y="153455"/>
                </a:lnTo>
                <a:lnTo>
                  <a:pt x="271808" y="120599"/>
                </a:lnTo>
                <a:lnTo>
                  <a:pt x="308478" y="90292"/>
                </a:lnTo>
                <a:lnTo>
                  <a:pt x="346483" y="62514"/>
                </a:lnTo>
                <a:lnTo>
                  <a:pt x="386037" y="37966"/>
                </a:lnTo>
                <a:lnTo>
                  <a:pt x="427257" y="18065"/>
                </a:lnTo>
                <a:lnTo>
                  <a:pt x="469988" y="4728"/>
                </a:lnTo>
                <a:lnTo>
                  <a:pt x="513696" y="0"/>
                </a:lnTo>
                <a:lnTo>
                  <a:pt x="557469" y="5595"/>
                </a:lnTo>
                <a:lnTo>
                  <a:pt x="600127" y="22479"/>
                </a:lnTo>
                <a:lnTo>
                  <a:pt x="640436" y="50583"/>
                </a:lnTo>
                <a:lnTo>
                  <a:pt x="677356" y="88743"/>
                </a:lnTo>
                <a:lnTo>
                  <a:pt x="710263" y="134874"/>
                </a:lnTo>
                <a:lnTo>
                  <a:pt x="739101" y="186347"/>
                </a:lnTo>
                <a:lnTo>
                  <a:pt x="764387" y="240482"/>
                </a:lnTo>
                <a:lnTo>
                  <a:pt x="787088" y="295051"/>
                </a:lnTo>
                <a:lnTo>
                  <a:pt x="808385" y="348651"/>
                </a:lnTo>
                <a:lnTo>
                  <a:pt x="829370" y="400886"/>
                </a:lnTo>
                <a:lnTo>
                  <a:pt x="850759" y="452307"/>
                </a:lnTo>
                <a:lnTo>
                  <a:pt x="872690" y="504135"/>
                </a:lnTo>
                <a:lnTo>
                  <a:pt x="894646" y="557846"/>
                </a:lnTo>
                <a:lnTo>
                  <a:pt x="915536" y="614723"/>
                </a:lnTo>
                <a:lnTo>
                  <a:pt x="933903" y="675489"/>
                </a:lnTo>
                <a:lnTo>
                  <a:pt x="948216" y="740099"/>
                </a:lnTo>
                <a:close/>
              </a:path>
            </a:pathLst>
          </a:custGeom>
          <a:solidFill xmlns:a="http://schemas.openxmlformats.org/drawingml/2006/main">
            <a:srgbClr val="E7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ssue-compartment-b">
            <a:extLst xmlns:a="http://schemas.openxmlformats.org/drawingml/2006/main">
              <a:ext uri="{FF2B5EF4-FFF2-40B4-BE49-F238E27FC236}">
                <a16:creationId xmlns:a16="http://schemas.microsoft.com/office/drawing/2014/main" id="{96F5DE7D-4724-4AC1-86DD-CA41CCCE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841" y="598094"/>
            <a:ext cx="558463" cy="945505"/>
          </a:xfrm>
          <a:custGeom xmlns:a="http://schemas.openxmlformats.org/drawingml/2006/main">
            <a:pathLst>
              <a:path w="1130404" h="1913830">
                <a:moveTo>
                  <a:pt x="1127139" y="999178"/>
                </a:moveTo>
                <a:lnTo>
                  <a:pt x="1130404" y="1084909"/>
                </a:lnTo>
                <a:lnTo>
                  <a:pt x="1126117" y="1170680"/>
                </a:lnTo>
                <a:lnTo>
                  <a:pt x="1114700" y="1254599"/>
                </a:lnTo>
                <a:lnTo>
                  <a:pt x="1097107" y="1335255"/>
                </a:lnTo>
                <a:lnTo>
                  <a:pt x="1074554" y="1411888"/>
                </a:lnTo>
                <a:lnTo>
                  <a:pt x="1048225" y="1484350"/>
                </a:lnTo>
                <a:lnTo>
                  <a:pt x="1019031" y="1552874"/>
                </a:lnTo>
                <a:lnTo>
                  <a:pt x="987473" y="1617729"/>
                </a:lnTo>
                <a:lnTo>
                  <a:pt x="953639" y="1678875"/>
                </a:lnTo>
                <a:lnTo>
                  <a:pt x="917338" y="1735732"/>
                </a:lnTo>
                <a:lnTo>
                  <a:pt x="878297" y="1787137"/>
                </a:lnTo>
                <a:lnTo>
                  <a:pt x="836385" y="1831517"/>
                </a:lnTo>
                <a:lnTo>
                  <a:pt x="791774" y="1867237"/>
                </a:lnTo>
                <a:lnTo>
                  <a:pt x="744997" y="1893033"/>
                </a:lnTo>
                <a:lnTo>
                  <a:pt x="696887" y="1908401"/>
                </a:lnTo>
                <a:lnTo>
                  <a:pt x="648402" y="1913830"/>
                </a:lnTo>
                <a:lnTo>
                  <a:pt x="600403" y="1910799"/>
                </a:lnTo>
                <a:lnTo>
                  <a:pt x="553444" y="1901515"/>
                </a:lnTo>
                <a:lnTo>
                  <a:pt x="507635" y="1888452"/>
                </a:lnTo>
                <a:lnTo>
                  <a:pt x="462643" y="1873787"/>
                </a:lnTo>
                <a:lnTo>
                  <a:pt x="417813" y="1858878"/>
                </a:lnTo>
                <a:lnTo>
                  <a:pt x="372417" y="1843913"/>
                </a:lnTo>
                <a:lnTo>
                  <a:pt x="325933" y="1827831"/>
                </a:lnTo>
                <a:lnTo>
                  <a:pt x="278315" y="1808533"/>
                </a:lnTo>
                <a:lnTo>
                  <a:pt x="230152" y="1783348"/>
                </a:lnTo>
                <a:lnTo>
                  <a:pt x="182679" y="1749639"/>
                </a:lnTo>
                <a:lnTo>
                  <a:pt x="137622" y="1705414"/>
                </a:lnTo>
                <a:lnTo>
                  <a:pt x="96918" y="1649790"/>
                </a:lnTo>
                <a:lnTo>
                  <a:pt x="62353" y="1583203"/>
                </a:lnTo>
                <a:lnTo>
                  <a:pt x="35223" y="1507334"/>
                </a:lnTo>
                <a:lnTo>
                  <a:pt x="16087" y="1424755"/>
                </a:lnTo>
                <a:lnTo>
                  <a:pt x="4680" y="1338408"/>
                </a:lnTo>
                <a:lnTo>
                  <a:pt x="0" y="1251043"/>
                </a:lnTo>
                <a:lnTo>
                  <a:pt x="554" y="1164755"/>
                </a:lnTo>
                <a:lnTo>
                  <a:pt x="4699" y="1080717"/>
                </a:lnTo>
                <a:lnTo>
                  <a:pt x="11000" y="999178"/>
                </a:lnTo>
                <a:lnTo>
                  <a:pt x="18512" y="919691"/>
                </a:lnTo>
                <a:lnTo>
                  <a:pt x="26934" y="841501"/>
                </a:lnTo>
                <a:lnTo>
                  <a:pt x="36592" y="763965"/>
                </a:lnTo>
                <a:lnTo>
                  <a:pt x="48279" y="686900"/>
                </a:lnTo>
                <a:lnTo>
                  <a:pt x="62988" y="610745"/>
                </a:lnTo>
                <a:lnTo>
                  <a:pt x="81620" y="536518"/>
                </a:lnTo>
                <a:lnTo>
                  <a:pt x="104744" y="465565"/>
                </a:lnTo>
                <a:lnTo>
                  <a:pt x="132460" y="399219"/>
                </a:lnTo>
                <a:lnTo>
                  <a:pt x="164409" y="338437"/>
                </a:lnTo>
                <a:lnTo>
                  <a:pt x="199897" y="283568"/>
                </a:lnTo>
                <a:lnTo>
                  <a:pt x="238106" y="234299"/>
                </a:lnTo>
                <a:lnTo>
                  <a:pt x="278315" y="189822"/>
                </a:lnTo>
                <a:lnTo>
                  <a:pt x="320073" y="149180"/>
                </a:lnTo>
                <a:lnTo>
                  <a:pt x="363255" y="111690"/>
                </a:lnTo>
                <a:lnTo>
                  <a:pt x="408009" y="77329"/>
                </a:lnTo>
                <a:lnTo>
                  <a:pt x="454586" y="46964"/>
                </a:lnTo>
                <a:lnTo>
                  <a:pt x="503125" y="22347"/>
                </a:lnTo>
                <a:lnTo>
                  <a:pt x="553444" y="5849"/>
                </a:lnTo>
                <a:lnTo>
                  <a:pt x="604913" y="0"/>
                </a:lnTo>
                <a:lnTo>
                  <a:pt x="656458" y="6921"/>
                </a:lnTo>
                <a:lnTo>
                  <a:pt x="706692" y="27806"/>
                </a:lnTo>
                <a:lnTo>
                  <a:pt x="754159" y="62570"/>
                </a:lnTo>
                <a:lnTo>
                  <a:pt x="797634" y="109775"/>
                </a:lnTo>
                <a:lnTo>
                  <a:pt x="836385" y="166839"/>
                </a:lnTo>
                <a:lnTo>
                  <a:pt x="870344" y="230510"/>
                </a:lnTo>
                <a:lnTo>
                  <a:pt x="900119" y="297475"/>
                </a:lnTo>
                <a:lnTo>
                  <a:pt x="926852" y="364976"/>
                </a:lnTo>
                <a:lnTo>
                  <a:pt x="951930" y="431279"/>
                </a:lnTo>
                <a:lnTo>
                  <a:pt x="976641" y="495894"/>
                </a:lnTo>
                <a:lnTo>
                  <a:pt x="1001828" y="559501"/>
                </a:lnTo>
                <a:lnTo>
                  <a:pt x="1027653" y="623612"/>
                </a:lnTo>
                <a:lnTo>
                  <a:pt x="1053508" y="690052"/>
                </a:lnTo>
                <a:lnTo>
                  <a:pt x="1078108" y="760409"/>
                </a:lnTo>
                <a:lnTo>
                  <a:pt x="1099736" y="835576"/>
                </a:lnTo>
                <a:lnTo>
                  <a:pt x="1116591" y="915499"/>
                </a:lnTo>
                <a:close/>
              </a:path>
            </a:pathLst>
          </a:custGeom>
          <a:solidFill xmlns:a="http://schemas.openxmlformats.org/drawingml/2006/main">
            <a:srgbClr val="E9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ssue-compartment-c">
            <a:extLst xmlns:a="http://schemas.openxmlformats.org/drawingml/2006/main">
              <a:ext uri="{FF2B5EF4-FFF2-40B4-BE49-F238E27FC236}">
                <a16:creationId xmlns:a16="http://schemas.microsoft.com/office/drawing/2014/main" id="{1D8F6253-27D5-460B-99EA-92E04D82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832" y="690454"/>
            <a:ext cx="483115" cy="777612"/>
          </a:xfrm>
          <a:custGeom xmlns:a="http://schemas.openxmlformats.org/drawingml/2006/main">
            <a:pathLst>
              <a:path w="977890" h="1573991">
                <a:moveTo>
                  <a:pt x="975065" y="821754"/>
                </a:moveTo>
                <a:lnTo>
                  <a:pt x="977890" y="892262"/>
                </a:lnTo>
                <a:lnTo>
                  <a:pt x="974180" y="962802"/>
                </a:lnTo>
                <a:lnTo>
                  <a:pt x="964304" y="1031820"/>
                </a:lnTo>
                <a:lnTo>
                  <a:pt x="949085" y="1098154"/>
                </a:lnTo>
                <a:lnTo>
                  <a:pt x="929574" y="1161179"/>
                </a:lnTo>
                <a:lnTo>
                  <a:pt x="906798" y="1220774"/>
                </a:lnTo>
                <a:lnTo>
                  <a:pt x="881543" y="1277130"/>
                </a:lnTo>
                <a:lnTo>
                  <a:pt x="854242" y="1330469"/>
                </a:lnTo>
                <a:lnTo>
                  <a:pt x="824974" y="1380757"/>
                </a:lnTo>
                <a:lnTo>
                  <a:pt x="793570" y="1427518"/>
                </a:lnTo>
                <a:lnTo>
                  <a:pt x="759797" y="1469795"/>
                </a:lnTo>
                <a:lnTo>
                  <a:pt x="723539" y="1506294"/>
                </a:lnTo>
                <a:lnTo>
                  <a:pt x="684947" y="1535671"/>
                </a:lnTo>
                <a:lnTo>
                  <a:pt x="644482" y="1556887"/>
                </a:lnTo>
                <a:lnTo>
                  <a:pt x="602862" y="1569526"/>
                </a:lnTo>
                <a:lnTo>
                  <a:pt x="560919" y="1573991"/>
                </a:lnTo>
                <a:lnTo>
                  <a:pt x="519396" y="1571498"/>
                </a:lnTo>
                <a:lnTo>
                  <a:pt x="478773" y="1563862"/>
                </a:lnTo>
                <a:lnTo>
                  <a:pt x="439145" y="1553119"/>
                </a:lnTo>
                <a:lnTo>
                  <a:pt x="400223" y="1541059"/>
                </a:lnTo>
                <a:lnTo>
                  <a:pt x="361442" y="1528797"/>
                </a:lnTo>
                <a:lnTo>
                  <a:pt x="322170" y="1516489"/>
                </a:lnTo>
                <a:lnTo>
                  <a:pt x="281958" y="1503263"/>
                </a:lnTo>
                <a:lnTo>
                  <a:pt x="240765" y="1487392"/>
                </a:lnTo>
                <a:lnTo>
                  <a:pt x="199100" y="1466679"/>
                </a:lnTo>
                <a:lnTo>
                  <a:pt x="158032" y="1438956"/>
                </a:lnTo>
                <a:lnTo>
                  <a:pt x="119054" y="1402584"/>
                </a:lnTo>
                <a:lnTo>
                  <a:pt x="83842" y="1356836"/>
                </a:lnTo>
                <a:lnTo>
                  <a:pt x="53940" y="1302073"/>
                </a:lnTo>
                <a:lnTo>
                  <a:pt x="30471" y="1239677"/>
                </a:lnTo>
                <a:lnTo>
                  <a:pt x="13917" y="1171761"/>
                </a:lnTo>
                <a:lnTo>
                  <a:pt x="4049" y="1100747"/>
                </a:lnTo>
                <a:lnTo>
                  <a:pt x="0" y="1028896"/>
                </a:lnTo>
                <a:lnTo>
                  <a:pt x="479" y="957929"/>
                </a:lnTo>
                <a:lnTo>
                  <a:pt x="4065" y="888814"/>
                </a:lnTo>
                <a:lnTo>
                  <a:pt x="9516" y="821754"/>
                </a:lnTo>
                <a:lnTo>
                  <a:pt x="16015" y="756382"/>
                </a:lnTo>
                <a:lnTo>
                  <a:pt x="23300" y="692075"/>
                </a:lnTo>
                <a:lnTo>
                  <a:pt x="31655" y="628307"/>
                </a:lnTo>
                <a:lnTo>
                  <a:pt x="41765" y="564927"/>
                </a:lnTo>
                <a:lnTo>
                  <a:pt x="54490" y="502295"/>
                </a:lnTo>
                <a:lnTo>
                  <a:pt x="70608" y="441248"/>
                </a:lnTo>
                <a:lnTo>
                  <a:pt x="90611" y="382895"/>
                </a:lnTo>
                <a:lnTo>
                  <a:pt x="114589" y="328329"/>
                </a:lnTo>
                <a:lnTo>
                  <a:pt x="142227" y="278341"/>
                </a:lnTo>
                <a:lnTo>
                  <a:pt x="172927" y="233215"/>
                </a:lnTo>
                <a:lnTo>
                  <a:pt x="205980" y="192695"/>
                </a:lnTo>
                <a:lnTo>
                  <a:pt x="240765" y="156116"/>
                </a:lnTo>
                <a:lnTo>
                  <a:pt x="276888" y="122691"/>
                </a:lnTo>
                <a:lnTo>
                  <a:pt x="314244" y="91857"/>
                </a:lnTo>
                <a:lnTo>
                  <a:pt x="352960" y="63598"/>
                </a:lnTo>
                <a:lnTo>
                  <a:pt x="393253" y="38625"/>
                </a:lnTo>
                <a:lnTo>
                  <a:pt x="435243" y="18379"/>
                </a:lnTo>
                <a:lnTo>
                  <a:pt x="478773" y="4810"/>
                </a:lnTo>
                <a:lnTo>
                  <a:pt x="523298" y="0"/>
                </a:lnTo>
                <a:lnTo>
                  <a:pt x="567889" y="5692"/>
                </a:lnTo>
                <a:lnTo>
                  <a:pt x="611344" y="22868"/>
                </a:lnTo>
                <a:lnTo>
                  <a:pt x="652407" y="51460"/>
                </a:lnTo>
                <a:lnTo>
                  <a:pt x="690016" y="90282"/>
                </a:lnTo>
                <a:lnTo>
                  <a:pt x="723539" y="137213"/>
                </a:lnTo>
                <a:lnTo>
                  <a:pt x="752916" y="189578"/>
                </a:lnTo>
                <a:lnTo>
                  <a:pt x="778675" y="244652"/>
                </a:lnTo>
                <a:lnTo>
                  <a:pt x="801800" y="300168"/>
                </a:lnTo>
                <a:lnTo>
                  <a:pt x="823495" y="354697"/>
                </a:lnTo>
                <a:lnTo>
                  <a:pt x="844872" y="407838"/>
                </a:lnTo>
                <a:lnTo>
                  <a:pt x="866661" y="460151"/>
                </a:lnTo>
                <a:lnTo>
                  <a:pt x="889002" y="512877"/>
                </a:lnTo>
                <a:lnTo>
                  <a:pt x="911368" y="567519"/>
                </a:lnTo>
                <a:lnTo>
                  <a:pt x="932649" y="625383"/>
                </a:lnTo>
                <a:lnTo>
                  <a:pt x="951359" y="687203"/>
                </a:lnTo>
                <a:lnTo>
                  <a:pt x="965940" y="752933"/>
                </a:lnTo>
                <a:close/>
              </a:path>
            </a:pathLst>
          </a:custGeom>
          <a:solidFill xmlns:a="http://schemas.openxmlformats.org/drawingml/2006/main">
            <a:srgbClr val="F0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ssue-cell-0-1-membrane">
            <a:extLst xmlns:a="http://schemas.openxmlformats.org/drawingml/2006/main">
              <a:ext uri="{FF2B5EF4-FFF2-40B4-BE49-F238E27FC236}">
                <a16:creationId xmlns:a16="http://schemas.microsoft.com/office/drawing/2014/main" id="{BD38E292-9B9E-4DD5-9602-47A46191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25" y="874554"/>
            <a:ext cx="143100" cy="148795"/>
          </a:xfrm>
          <a:custGeom xmlns:a="http://schemas.openxmlformats.org/drawingml/2006/main">
            <a:pathLst>
              <a:path w="289653" h="301181">
                <a:moveTo>
                  <a:pt x="288249" y="153836"/>
                </a:moveTo>
                <a:lnTo>
                  <a:pt x="289653" y="167816"/>
                </a:lnTo>
                <a:lnTo>
                  <a:pt x="288806" y="181853"/>
                </a:lnTo>
                <a:lnTo>
                  <a:pt x="285683" y="195523"/>
                </a:lnTo>
                <a:lnTo>
                  <a:pt x="280476" y="208448"/>
                </a:lnTo>
                <a:lnTo>
                  <a:pt x="273550" y="220372"/>
                </a:lnTo>
                <a:lnTo>
                  <a:pt x="265363" y="231194"/>
                </a:lnTo>
                <a:lnTo>
                  <a:pt x="256375" y="240968"/>
                </a:lnTo>
                <a:lnTo>
                  <a:pt x="246964" y="249861"/>
                </a:lnTo>
                <a:lnTo>
                  <a:pt x="237374" y="258085"/>
                </a:lnTo>
                <a:lnTo>
                  <a:pt x="227696" y="265820"/>
                </a:lnTo>
                <a:lnTo>
                  <a:pt x="217891" y="273155"/>
                </a:lnTo>
                <a:lnTo>
                  <a:pt x="207840" y="280050"/>
                </a:lnTo>
                <a:lnTo>
                  <a:pt x="197413" y="286346"/>
                </a:lnTo>
                <a:lnTo>
                  <a:pt x="186519" y="291801"/>
                </a:lnTo>
                <a:lnTo>
                  <a:pt x="175150" y="296160"/>
                </a:lnTo>
                <a:lnTo>
                  <a:pt x="163384" y="299218"/>
                </a:lnTo>
                <a:lnTo>
                  <a:pt x="151365" y="300879"/>
                </a:lnTo>
                <a:lnTo>
                  <a:pt x="139257" y="301181"/>
                </a:lnTo>
                <a:lnTo>
                  <a:pt x="127198" y="300280"/>
                </a:lnTo>
                <a:lnTo>
                  <a:pt x="115264" y="298409"/>
                </a:lnTo>
                <a:lnTo>
                  <a:pt x="103455" y="295802"/>
                </a:lnTo>
                <a:lnTo>
                  <a:pt x="91712" y="292630"/>
                </a:lnTo>
                <a:lnTo>
                  <a:pt x="79961" y="288944"/>
                </a:lnTo>
                <a:lnTo>
                  <a:pt x="68173" y="284652"/>
                </a:lnTo>
                <a:lnTo>
                  <a:pt x="56412" y="279545"/>
                </a:lnTo>
                <a:lnTo>
                  <a:pt x="44873" y="273348"/>
                </a:lnTo>
                <a:lnTo>
                  <a:pt x="33880" y="265798"/>
                </a:lnTo>
                <a:lnTo>
                  <a:pt x="23851" y="256725"/>
                </a:lnTo>
                <a:lnTo>
                  <a:pt x="15228" y="246110"/>
                </a:lnTo>
                <a:lnTo>
                  <a:pt x="8392" y="234113"/>
                </a:lnTo>
                <a:lnTo>
                  <a:pt x="3583" y="221056"/>
                </a:lnTo>
                <a:lnTo>
                  <a:pt x="843" y="207363"/>
                </a:lnTo>
                <a:lnTo>
                  <a:pt x="0" y="193482"/>
                </a:lnTo>
                <a:lnTo>
                  <a:pt x="696" y="179795"/>
                </a:lnTo>
                <a:lnTo>
                  <a:pt x="2455" y="166552"/>
                </a:lnTo>
                <a:lnTo>
                  <a:pt x="4785" y="153836"/>
                </a:lnTo>
                <a:lnTo>
                  <a:pt x="7267" y="141566"/>
                </a:lnTo>
                <a:lnTo>
                  <a:pt x="9649" y="129554"/>
                </a:lnTo>
                <a:lnTo>
                  <a:pt x="11878" y="117571"/>
                </a:lnTo>
                <a:lnTo>
                  <a:pt x="14107" y="105438"/>
                </a:lnTo>
                <a:lnTo>
                  <a:pt x="16645" y="93087"/>
                </a:lnTo>
                <a:lnTo>
                  <a:pt x="19876" y="80604"/>
                </a:lnTo>
                <a:lnTo>
                  <a:pt x="24175" y="68218"/>
                </a:lnTo>
                <a:lnTo>
                  <a:pt x="29818" y="56266"/>
                </a:lnTo>
                <a:lnTo>
                  <a:pt x="36935" y="45118"/>
                </a:lnTo>
                <a:lnTo>
                  <a:pt x="45489" y="35103"/>
                </a:lnTo>
                <a:lnTo>
                  <a:pt x="55302" y="26442"/>
                </a:lnTo>
                <a:lnTo>
                  <a:pt x="66108" y="19220"/>
                </a:lnTo>
                <a:lnTo>
                  <a:pt x="77616" y="13383"/>
                </a:lnTo>
                <a:lnTo>
                  <a:pt x="89568" y="8784"/>
                </a:lnTo>
                <a:lnTo>
                  <a:pt x="101784" y="5242"/>
                </a:lnTo>
                <a:lnTo>
                  <a:pt x="114161" y="2613"/>
                </a:lnTo>
                <a:lnTo>
                  <a:pt x="126659" y="845"/>
                </a:lnTo>
                <a:lnTo>
                  <a:pt x="139257" y="0"/>
                </a:lnTo>
                <a:lnTo>
                  <a:pt x="151904" y="246"/>
                </a:lnTo>
                <a:lnTo>
                  <a:pt x="164487" y="1804"/>
                </a:lnTo>
                <a:lnTo>
                  <a:pt x="176821" y="4884"/>
                </a:lnTo>
                <a:lnTo>
                  <a:pt x="188662" y="9613"/>
                </a:lnTo>
                <a:lnTo>
                  <a:pt x="199758" y="15981"/>
                </a:lnTo>
                <a:lnTo>
                  <a:pt x="209905" y="23822"/>
                </a:lnTo>
                <a:lnTo>
                  <a:pt x="219000" y="32833"/>
                </a:lnTo>
                <a:lnTo>
                  <a:pt x="227080" y="42631"/>
                </a:lnTo>
                <a:lnTo>
                  <a:pt x="234320" y="52832"/>
                </a:lnTo>
                <a:lnTo>
                  <a:pt x="240997" y="63130"/>
                </a:lnTo>
                <a:lnTo>
                  <a:pt x="247428" y="73360"/>
                </a:lnTo>
                <a:lnTo>
                  <a:pt x="253879" y="83523"/>
                </a:lnTo>
                <a:lnTo>
                  <a:pt x="260488" y="93771"/>
                </a:lnTo>
                <a:lnTo>
                  <a:pt x="267212" y="104353"/>
                </a:lnTo>
                <a:lnTo>
                  <a:pt x="273805" y="115530"/>
                </a:lnTo>
                <a:lnTo>
                  <a:pt x="279853" y="127495"/>
                </a:lnTo>
                <a:lnTo>
                  <a:pt x="284841" y="140303"/>
                </a:lnTo>
                <a:close/>
              </a:path>
            </a:pathLst>
          </a:custGeom>
          <a:solidFill xmlns:a="http://schemas.openxmlformats.org/drawingml/2006/main">
            <a:srgbClr val="E7F2EF"/>
          </a:solidFill>
          <a:ln xmlns:a="http://schemas.openxmlformats.org/drawingml/2006/main" w="7529">
            <a:solidFill>
              <a:srgbClr val="4C8B82"/>
            </a:solidFill>
            <a:prstDash val="solid"/>
          </a:ln>
        </p:spPr>
      </p:sp>
      <p:sp>
        <p:nvSpPr>
          <p:cNvPr id="12" name="tissue-cell-0-1-nucleus">
            <a:extLst xmlns:a="http://schemas.openxmlformats.org/drawingml/2006/main">
              <a:ext uri="{FF2B5EF4-FFF2-40B4-BE49-F238E27FC236}">
                <a16:creationId xmlns:a16="http://schemas.microsoft.com/office/drawing/2014/main" id="{3A6DD30F-F017-49E1-8E1D-BE5C55C3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30" y="920155"/>
            <a:ext cx="49692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CABD"/>
          </a:solidFill>
          <a:ln xmlns:a="http://schemas.openxmlformats.org/drawingml/2006/main" w="5882">
            <a:solidFill>
              <a:srgbClr val="4C8B82"/>
            </a:solidFill>
            <a:prstDash val="solid"/>
          </a:ln>
        </p:spPr>
      </p:sp>
      <p:sp>
        <p:nvSpPr>
          <p:cNvPr id="13" name="tissue-cell-0-2-membrane">
            <a:extLst xmlns:a="http://schemas.openxmlformats.org/drawingml/2006/main">
              <a:ext uri="{FF2B5EF4-FFF2-40B4-BE49-F238E27FC236}">
                <a16:creationId xmlns:a16="http://schemas.microsoft.com/office/drawing/2014/main" id="{34CB0B9D-1537-49E8-BB16-F6B6A9E0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17" y="1048456"/>
            <a:ext cx="143079" cy="148795"/>
          </a:xfrm>
          <a:custGeom xmlns:a="http://schemas.openxmlformats.org/drawingml/2006/main">
            <a:pathLst>
              <a:path w="289612" h="301181">
                <a:moveTo>
                  <a:pt x="288228" y="154259"/>
                </a:moveTo>
                <a:lnTo>
                  <a:pt x="289612" y="168221"/>
                </a:lnTo>
                <a:lnTo>
                  <a:pt x="288756" y="182237"/>
                </a:lnTo>
                <a:lnTo>
                  <a:pt x="285646" y="195890"/>
                </a:lnTo>
                <a:lnTo>
                  <a:pt x="280482" y="208811"/>
                </a:lnTo>
                <a:lnTo>
                  <a:pt x="273630" y="220755"/>
                </a:lnTo>
                <a:lnTo>
                  <a:pt x="265539" y="231627"/>
                </a:lnTo>
                <a:lnTo>
                  <a:pt x="256657" y="241482"/>
                </a:lnTo>
                <a:lnTo>
                  <a:pt x="247343" y="250479"/>
                </a:lnTo>
                <a:lnTo>
                  <a:pt x="237824" y="258816"/>
                </a:lnTo>
                <a:lnTo>
                  <a:pt x="228179" y="266652"/>
                </a:lnTo>
                <a:lnTo>
                  <a:pt x="218363" y="274052"/>
                </a:lnTo>
                <a:lnTo>
                  <a:pt x="208264" y="280959"/>
                </a:lnTo>
                <a:lnTo>
                  <a:pt x="197763" y="287201"/>
                </a:lnTo>
                <a:lnTo>
                  <a:pt x="186786" y="292539"/>
                </a:lnTo>
                <a:lnTo>
                  <a:pt x="175346" y="296727"/>
                </a:lnTo>
                <a:lnTo>
                  <a:pt x="163535" y="299586"/>
                </a:lnTo>
                <a:lnTo>
                  <a:pt x="151504" y="301048"/>
                </a:lnTo>
                <a:lnTo>
                  <a:pt x="139417" y="301181"/>
                </a:lnTo>
                <a:lnTo>
                  <a:pt x="127403" y="300166"/>
                </a:lnTo>
                <a:lnTo>
                  <a:pt x="115521" y="298249"/>
                </a:lnTo>
                <a:lnTo>
                  <a:pt x="103755" y="295669"/>
                </a:lnTo>
                <a:lnTo>
                  <a:pt x="92033" y="292584"/>
                </a:lnTo>
                <a:lnTo>
                  <a:pt x="80272" y="289024"/>
                </a:lnTo>
                <a:lnTo>
                  <a:pt x="68441" y="284876"/>
                </a:lnTo>
                <a:lnTo>
                  <a:pt x="56614" y="279905"/>
                </a:lnTo>
                <a:lnTo>
                  <a:pt x="44998" y="273816"/>
                </a:lnTo>
                <a:lnTo>
                  <a:pt x="33932" y="266337"/>
                </a:lnTo>
                <a:lnTo>
                  <a:pt x="23846" y="257296"/>
                </a:lnTo>
                <a:lnTo>
                  <a:pt x="15190" y="246681"/>
                </a:lnTo>
                <a:lnTo>
                  <a:pt x="8345" y="234663"/>
                </a:lnTo>
                <a:lnTo>
                  <a:pt x="3546" y="221576"/>
                </a:lnTo>
                <a:lnTo>
                  <a:pt x="826" y="207855"/>
                </a:lnTo>
                <a:lnTo>
                  <a:pt x="0" y="193951"/>
                </a:lnTo>
                <a:lnTo>
                  <a:pt x="702" y="180247"/>
                </a:lnTo>
                <a:lnTo>
                  <a:pt x="2453" y="166991"/>
                </a:lnTo>
                <a:lnTo>
                  <a:pt x="4764" y="154259"/>
                </a:lnTo>
                <a:lnTo>
                  <a:pt x="7227" y="141971"/>
                </a:lnTo>
                <a:lnTo>
                  <a:pt x="9599" y="129938"/>
                </a:lnTo>
                <a:lnTo>
                  <a:pt x="11841" y="117939"/>
                </a:lnTo>
                <a:lnTo>
                  <a:pt x="14113" y="105802"/>
                </a:lnTo>
                <a:lnTo>
                  <a:pt x="16724" y="93471"/>
                </a:lnTo>
                <a:lnTo>
                  <a:pt x="20052" y="81037"/>
                </a:lnTo>
                <a:lnTo>
                  <a:pt x="24457" y="68732"/>
                </a:lnTo>
                <a:lnTo>
                  <a:pt x="30197" y="56884"/>
                </a:lnTo>
                <a:lnTo>
                  <a:pt x="37385" y="45849"/>
                </a:lnTo>
                <a:lnTo>
                  <a:pt x="45971" y="35934"/>
                </a:lnTo>
                <a:lnTo>
                  <a:pt x="55775" y="27339"/>
                </a:lnTo>
                <a:lnTo>
                  <a:pt x="66532" y="20129"/>
                </a:lnTo>
                <a:lnTo>
                  <a:pt x="77965" y="14239"/>
                </a:lnTo>
                <a:lnTo>
                  <a:pt x="89836" y="9522"/>
                </a:lnTo>
                <a:lnTo>
                  <a:pt x="101980" y="5809"/>
                </a:lnTo>
                <a:lnTo>
                  <a:pt x="114312" y="2981"/>
                </a:lnTo>
                <a:lnTo>
                  <a:pt x="126799" y="1013"/>
                </a:lnTo>
                <a:lnTo>
                  <a:pt x="139417" y="0"/>
                </a:lnTo>
                <a:lnTo>
                  <a:pt x="152108" y="131"/>
                </a:lnTo>
                <a:lnTo>
                  <a:pt x="164744" y="1644"/>
                </a:lnTo>
                <a:lnTo>
                  <a:pt x="177121" y="4751"/>
                </a:lnTo>
                <a:lnTo>
                  <a:pt x="188983" y="9567"/>
                </a:lnTo>
                <a:lnTo>
                  <a:pt x="200069" y="16062"/>
                </a:lnTo>
                <a:lnTo>
                  <a:pt x="210173" y="24046"/>
                </a:lnTo>
                <a:lnTo>
                  <a:pt x="219202" y="33192"/>
                </a:lnTo>
                <a:lnTo>
                  <a:pt x="227205" y="43099"/>
                </a:lnTo>
                <a:lnTo>
                  <a:pt x="234371" y="53371"/>
                </a:lnTo>
                <a:lnTo>
                  <a:pt x="240992" y="63701"/>
                </a:lnTo>
                <a:lnTo>
                  <a:pt x="247390" y="73931"/>
                </a:lnTo>
                <a:lnTo>
                  <a:pt x="253832" y="84073"/>
                </a:lnTo>
                <a:lnTo>
                  <a:pt x="260452" y="94292"/>
                </a:lnTo>
                <a:lnTo>
                  <a:pt x="267195" y="104845"/>
                </a:lnTo>
                <a:lnTo>
                  <a:pt x="273805" y="115999"/>
                </a:lnTo>
                <a:lnTo>
                  <a:pt x="279859" y="127948"/>
                </a:lnTo>
                <a:lnTo>
                  <a:pt x="284839" y="140741"/>
                </a:lnTo>
                <a:close/>
              </a:path>
            </a:pathLst>
          </a:custGeom>
          <a:solidFill xmlns:a="http://schemas.openxmlformats.org/drawingml/2006/main">
            <a:srgbClr val="E7F2EF"/>
          </a:solidFill>
          <a:ln xmlns:a="http://schemas.openxmlformats.org/drawingml/2006/main" w="7529">
            <a:solidFill>
              <a:srgbClr val="4C8B82"/>
            </a:solidFill>
            <a:prstDash val="solid"/>
          </a:ln>
        </p:spPr>
      </p:sp>
      <p:sp>
        <p:nvSpPr>
          <p:cNvPr id="14" name="tissue-cell-0-2-nucleus">
            <a:extLst xmlns:a="http://schemas.openxmlformats.org/drawingml/2006/main">
              <a:ext uri="{FF2B5EF4-FFF2-40B4-BE49-F238E27FC236}">
                <a16:creationId xmlns:a16="http://schemas.microsoft.com/office/drawing/2014/main" id="{54A81A39-0DC9-4EBA-A6D7-E4ECAF1E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1" y="1094267"/>
            <a:ext cx="49692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CABD"/>
          </a:solidFill>
          <a:ln xmlns:a="http://schemas.openxmlformats.org/drawingml/2006/main" w="5882">
            <a:solidFill>
              <a:srgbClr val="4C8B82"/>
            </a:solidFill>
            <a:prstDash val="solid"/>
          </a:ln>
        </p:spPr>
      </p:sp>
      <p:sp>
        <p:nvSpPr>
          <p:cNvPr id="15" name="tissue-cell-0-3-membrane">
            <a:extLst xmlns:a="http://schemas.openxmlformats.org/drawingml/2006/main">
              <a:ext uri="{FF2B5EF4-FFF2-40B4-BE49-F238E27FC236}">
                <a16:creationId xmlns:a16="http://schemas.microsoft.com/office/drawing/2014/main" id="{F0171BBA-4EA4-4DC4-8A81-7C0ACB97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25" y="1222776"/>
            <a:ext cx="143100" cy="148795"/>
          </a:xfrm>
          <a:custGeom xmlns:a="http://schemas.openxmlformats.org/drawingml/2006/main">
            <a:pathLst>
              <a:path w="289653" h="301181">
                <a:moveTo>
                  <a:pt x="288249" y="153836"/>
                </a:moveTo>
                <a:lnTo>
                  <a:pt x="289653" y="167816"/>
                </a:lnTo>
                <a:lnTo>
                  <a:pt x="288806" y="181853"/>
                </a:lnTo>
                <a:lnTo>
                  <a:pt x="285683" y="195523"/>
                </a:lnTo>
                <a:lnTo>
                  <a:pt x="280476" y="208448"/>
                </a:lnTo>
                <a:lnTo>
                  <a:pt x="273550" y="220372"/>
                </a:lnTo>
                <a:lnTo>
                  <a:pt x="265363" y="231194"/>
                </a:lnTo>
                <a:lnTo>
                  <a:pt x="256375" y="240968"/>
                </a:lnTo>
                <a:lnTo>
                  <a:pt x="246964" y="249861"/>
                </a:lnTo>
                <a:lnTo>
                  <a:pt x="237374" y="258085"/>
                </a:lnTo>
                <a:lnTo>
                  <a:pt x="227696" y="265820"/>
                </a:lnTo>
                <a:lnTo>
                  <a:pt x="217891" y="273155"/>
                </a:lnTo>
                <a:lnTo>
                  <a:pt x="207840" y="280050"/>
                </a:lnTo>
                <a:lnTo>
                  <a:pt x="197413" y="286346"/>
                </a:lnTo>
                <a:lnTo>
                  <a:pt x="186519" y="291801"/>
                </a:lnTo>
                <a:lnTo>
                  <a:pt x="175150" y="296160"/>
                </a:lnTo>
                <a:lnTo>
                  <a:pt x="163384" y="299218"/>
                </a:lnTo>
                <a:lnTo>
                  <a:pt x="151365" y="300879"/>
                </a:lnTo>
                <a:lnTo>
                  <a:pt x="139257" y="301181"/>
                </a:lnTo>
                <a:lnTo>
                  <a:pt x="127198" y="300280"/>
                </a:lnTo>
                <a:lnTo>
                  <a:pt x="115264" y="298409"/>
                </a:lnTo>
                <a:lnTo>
                  <a:pt x="103455" y="295802"/>
                </a:lnTo>
                <a:lnTo>
                  <a:pt x="91712" y="292630"/>
                </a:lnTo>
                <a:lnTo>
                  <a:pt x="79961" y="288944"/>
                </a:lnTo>
                <a:lnTo>
                  <a:pt x="68173" y="284652"/>
                </a:lnTo>
                <a:lnTo>
                  <a:pt x="56412" y="279545"/>
                </a:lnTo>
                <a:lnTo>
                  <a:pt x="44873" y="273348"/>
                </a:lnTo>
                <a:lnTo>
                  <a:pt x="33880" y="265798"/>
                </a:lnTo>
                <a:lnTo>
                  <a:pt x="23851" y="256725"/>
                </a:lnTo>
                <a:lnTo>
                  <a:pt x="15228" y="246110"/>
                </a:lnTo>
                <a:lnTo>
                  <a:pt x="8392" y="234113"/>
                </a:lnTo>
                <a:lnTo>
                  <a:pt x="3583" y="221056"/>
                </a:lnTo>
                <a:lnTo>
                  <a:pt x="843" y="207363"/>
                </a:lnTo>
                <a:lnTo>
                  <a:pt x="0" y="193482"/>
                </a:lnTo>
                <a:lnTo>
                  <a:pt x="696" y="179795"/>
                </a:lnTo>
                <a:lnTo>
                  <a:pt x="2455" y="166552"/>
                </a:lnTo>
                <a:lnTo>
                  <a:pt x="4785" y="153836"/>
                </a:lnTo>
                <a:lnTo>
                  <a:pt x="7267" y="141566"/>
                </a:lnTo>
                <a:lnTo>
                  <a:pt x="9649" y="129554"/>
                </a:lnTo>
                <a:lnTo>
                  <a:pt x="11878" y="117571"/>
                </a:lnTo>
                <a:lnTo>
                  <a:pt x="14107" y="105438"/>
                </a:lnTo>
                <a:lnTo>
                  <a:pt x="16645" y="93087"/>
                </a:lnTo>
                <a:lnTo>
                  <a:pt x="19876" y="80604"/>
                </a:lnTo>
                <a:lnTo>
                  <a:pt x="24175" y="68218"/>
                </a:lnTo>
                <a:lnTo>
                  <a:pt x="29818" y="56266"/>
                </a:lnTo>
                <a:lnTo>
                  <a:pt x="36935" y="45118"/>
                </a:lnTo>
                <a:lnTo>
                  <a:pt x="45489" y="35103"/>
                </a:lnTo>
                <a:lnTo>
                  <a:pt x="55302" y="26442"/>
                </a:lnTo>
                <a:lnTo>
                  <a:pt x="66108" y="19220"/>
                </a:lnTo>
                <a:lnTo>
                  <a:pt x="77616" y="13383"/>
                </a:lnTo>
                <a:lnTo>
                  <a:pt x="89568" y="8784"/>
                </a:lnTo>
                <a:lnTo>
                  <a:pt x="101784" y="5242"/>
                </a:lnTo>
                <a:lnTo>
                  <a:pt x="114161" y="2613"/>
                </a:lnTo>
                <a:lnTo>
                  <a:pt x="126659" y="845"/>
                </a:lnTo>
                <a:lnTo>
                  <a:pt x="139257" y="0"/>
                </a:lnTo>
                <a:lnTo>
                  <a:pt x="151904" y="246"/>
                </a:lnTo>
                <a:lnTo>
                  <a:pt x="164487" y="1804"/>
                </a:lnTo>
                <a:lnTo>
                  <a:pt x="176821" y="4884"/>
                </a:lnTo>
                <a:lnTo>
                  <a:pt x="188662" y="9613"/>
                </a:lnTo>
                <a:lnTo>
                  <a:pt x="199758" y="15981"/>
                </a:lnTo>
                <a:lnTo>
                  <a:pt x="209905" y="23822"/>
                </a:lnTo>
                <a:lnTo>
                  <a:pt x="219000" y="32833"/>
                </a:lnTo>
                <a:lnTo>
                  <a:pt x="227080" y="42631"/>
                </a:lnTo>
                <a:lnTo>
                  <a:pt x="234320" y="52832"/>
                </a:lnTo>
                <a:lnTo>
                  <a:pt x="240997" y="63130"/>
                </a:lnTo>
                <a:lnTo>
                  <a:pt x="247428" y="73360"/>
                </a:lnTo>
                <a:lnTo>
                  <a:pt x="253879" y="83523"/>
                </a:lnTo>
                <a:lnTo>
                  <a:pt x="260488" y="93771"/>
                </a:lnTo>
                <a:lnTo>
                  <a:pt x="267212" y="104353"/>
                </a:lnTo>
                <a:lnTo>
                  <a:pt x="273805" y="115530"/>
                </a:lnTo>
                <a:lnTo>
                  <a:pt x="279853" y="127495"/>
                </a:lnTo>
                <a:lnTo>
                  <a:pt x="284841" y="140303"/>
                </a:lnTo>
                <a:close/>
              </a:path>
            </a:pathLst>
          </a:custGeom>
          <a:solidFill xmlns:a="http://schemas.openxmlformats.org/drawingml/2006/main">
            <a:srgbClr val="E7F2EF"/>
          </a:solidFill>
          <a:ln xmlns:a="http://schemas.openxmlformats.org/drawingml/2006/main" w="7529">
            <a:solidFill>
              <a:srgbClr val="4C8B82"/>
            </a:solidFill>
            <a:prstDash val="solid"/>
          </a:ln>
        </p:spPr>
      </p:sp>
      <p:sp>
        <p:nvSpPr>
          <p:cNvPr id="16" name="tissue-cell-0-3-nucleus">
            <a:extLst xmlns:a="http://schemas.openxmlformats.org/drawingml/2006/main">
              <a:ext uri="{FF2B5EF4-FFF2-40B4-BE49-F238E27FC236}">
                <a16:creationId xmlns:a16="http://schemas.microsoft.com/office/drawing/2014/main" id="{62FE0F03-A4A0-44FD-8A60-B96B8255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30" y="1268378"/>
            <a:ext cx="49692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CABD"/>
          </a:solidFill>
          <a:ln xmlns:a="http://schemas.openxmlformats.org/drawingml/2006/main" w="5882">
            <a:solidFill>
              <a:srgbClr val="4C8B82"/>
            </a:solidFill>
            <a:prstDash val="solid"/>
          </a:ln>
        </p:spPr>
      </p:sp>
      <p:sp>
        <p:nvSpPr>
          <p:cNvPr id="17" name="tissue-cell-1-0-membrane">
            <a:extLst xmlns:a="http://schemas.openxmlformats.org/drawingml/2006/main">
              <a:ext uri="{FF2B5EF4-FFF2-40B4-BE49-F238E27FC236}">
                <a16:creationId xmlns:a16="http://schemas.microsoft.com/office/drawing/2014/main" id="{60FFF957-A70B-42E8-873A-CB800EDC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7" y="739175"/>
            <a:ext cx="147211" cy="148958"/>
          </a:xfrm>
          <a:custGeom xmlns:a="http://schemas.openxmlformats.org/drawingml/2006/main">
            <a:pathLst>
              <a:path w="297976" h="301512">
                <a:moveTo>
                  <a:pt x="296557" y="151000"/>
                </a:moveTo>
                <a:lnTo>
                  <a:pt x="297976" y="165035"/>
                </a:lnTo>
                <a:lnTo>
                  <a:pt x="297102" y="179128"/>
                </a:lnTo>
                <a:lnTo>
                  <a:pt x="293828" y="192839"/>
                </a:lnTo>
                <a:lnTo>
                  <a:pt x="288287" y="205755"/>
                </a:lnTo>
                <a:lnTo>
                  <a:pt x="280820" y="217563"/>
                </a:lnTo>
                <a:lnTo>
                  <a:pt x="271915" y="228116"/>
                </a:lnTo>
                <a:lnTo>
                  <a:pt x="262108" y="237451"/>
                </a:lnTo>
                <a:lnTo>
                  <a:pt x="251885" y="245762"/>
                </a:lnTo>
                <a:lnTo>
                  <a:pt x="241603" y="253339"/>
                </a:lnTo>
                <a:lnTo>
                  <a:pt x="231440" y="260484"/>
                </a:lnTo>
                <a:lnTo>
                  <a:pt x="221399" y="267426"/>
                </a:lnTo>
                <a:lnTo>
                  <a:pt x="211343" y="274256"/>
                </a:lnTo>
                <a:lnTo>
                  <a:pt x="201064" y="280897"/>
                </a:lnTo>
                <a:lnTo>
                  <a:pt x="190362" y="287123"/>
                </a:lnTo>
                <a:lnTo>
                  <a:pt x="179102" y="292610"/>
                </a:lnTo>
                <a:lnTo>
                  <a:pt x="167262" y="297010"/>
                </a:lnTo>
                <a:lnTo>
                  <a:pt x="154929" y="300034"/>
                </a:lnTo>
                <a:lnTo>
                  <a:pt x="142274" y="301512"/>
                </a:lnTo>
                <a:lnTo>
                  <a:pt x="129501" y="301419"/>
                </a:lnTo>
                <a:lnTo>
                  <a:pt x="116797" y="299868"/>
                </a:lnTo>
                <a:lnTo>
                  <a:pt x="104287" y="297064"/>
                </a:lnTo>
                <a:lnTo>
                  <a:pt x="92028" y="293234"/>
                </a:lnTo>
                <a:lnTo>
                  <a:pt x="80014" y="288563"/>
                </a:lnTo>
                <a:lnTo>
                  <a:pt x="68226" y="283141"/>
                </a:lnTo>
                <a:lnTo>
                  <a:pt x="56681" y="276944"/>
                </a:lnTo>
                <a:lnTo>
                  <a:pt x="45477" y="269854"/>
                </a:lnTo>
                <a:lnTo>
                  <a:pt x="34823" y="261707"/>
                </a:lnTo>
                <a:lnTo>
                  <a:pt x="25030" y="252361"/>
                </a:lnTo>
                <a:lnTo>
                  <a:pt x="16465" y="241762"/>
                </a:lnTo>
                <a:lnTo>
                  <a:pt x="9491" y="229986"/>
                </a:lnTo>
                <a:lnTo>
                  <a:pt x="4377" y="217251"/>
                </a:lnTo>
                <a:lnTo>
                  <a:pt x="1241" y="203887"/>
                </a:lnTo>
                <a:lnTo>
                  <a:pt x="0" y="190277"/>
                </a:lnTo>
                <a:lnTo>
                  <a:pt x="379" y="176778"/>
                </a:lnTo>
                <a:lnTo>
                  <a:pt x="1954" y="163648"/>
                </a:lnTo>
                <a:lnTo>
                  <a:pt x="4235" y="151000"/>
                </a:lnTo>
                <a:lnTo>
                  <a:pt x="6766" y="138785"/>
                </a:lnTo>
                <a:lnTo>
                  <a:pt x="9220" y="126828"/>
                </a:lnTo>
                <a:lnTo>
                  <a:pt x="11466" y="114888"/>
                </a:lnTo>
                <a:lnTo>
                  <a:pt x="13593" y="102745"/>
                </a:lnTo>
                <a:lnTo>
                  <a:pt x="15886" y="90278"/>
                </a:lnTo>
                <a:lnTo>
                  <a:pt x="18756" y="77526"/>
                </a:lnTo>
                <a:lnTo>
                  <a:pt x="22651" y="64701"/>
                </a:lnTo>
                <a:lnTo>
                  <a:pt x="27953" y="52167"/>
                </a:lnTo>
                <a:lnTo>
                  <a:pt x="34900" y="40372"/>
                </a:lnTo>
                <a:lnTo>
                  <a:pt x="43539" y="29766"/>
                </a:lnTo>
                <a:lnTo>
                  <a:pt x="53730" y="20714"/>
                </a:lnTo>
                <a:lnTo>
                  <a:pt x="65182" y="13426"/>
                </a:lnTo>
                <a:lnTo>
                  <a:pt x="77524" y="7935"/>
                </a:lnTo>
                <a:lnTo>
                  <a:pt x="90382" y="4106"/>
                </a:lnTo>
                <a:lnTo>
                  <a:pt x="103444" y="1692"/>
                </a:lnTo>
                <a:lnTo>
                  <a:pt x="116501" y="405"/>
                </a:lnTo>
                <a:lnTo>
                  <a:pt x="129452" y="0"/>
                </a:lnTo>
                <a:lnTo>
                  <a:pt x="142274" y="331"/>
                </a:lnTo>
                <a:lnTo>
                  <a:pt x="154979" y="1384"/>
                </a:lnTo>
                <a:lnTo>
                  <a:pt x="167558" y="3263"/>
                </a:lnTo>
                <a:lnTo>
                  <a:pt x="179946" y="6146"/>
                </a:lnTo>
                <a:lnTo>
                  <a:pt x="192008" y="10217"/>
                </a:lnTo>
                <a:lnTo>
                  <a:pt x="203555" y="15601"/>
                </a:lnTo>
                <a:lnTo>
                  <a:pt x="214387" y="22311"/>
                </a:lnTo>
                <a:lnTo>
                  <a:pt x="224350" y="30231"/>
                </a:lnTo>
                <a:lnTo>
                  <a:pt x="233378" y="39136"/>
                </a:lnTo>
                <a:lnTo>
                  <a:pt x="241527" y="48740"/>
                </a:lnTo>
                <a:lnTo>
                  <a:pt x="248962" y="58766"/>
                </a:lnTo>
                <a:lnTo>
                  <a:pt x="255922" y="69012"/>
                </a:lnTo>
                <a:lnTo>
                  <a:pt x="262649" y="79395"/>
                </a:lnTo>
                <a:lnTo>
                  <a:pt x="269311" y="89967"/>
                </a:lnTo>
                <a:lnTo>
                  <a:pt x="275934" y="100878"/>
                </a:lnTo>
                <a:lnTo>
                  <a:pt x="282362" y="112326"/>
                </a:lnTo>
                <a:lnTo>
                  <a:pt x="288260" y="124479"/>
                </a:lnTo>
                <a:lnTo>
                  <a:pt x="293164" y="137399"/>
                </a:lnTo>
                <a:close/>
              </a:path>
            </a:pathLst>
          </a:custGeom>
          <a:solidFill xmlns:a="http://schemas.openxmlformats.org/drawingml/2006/main">
            <a:srgbClr val="E7F2EF"/>
          </a:solidFill>
          <a:ln xmlns:a="http://schemas.openxmlformats.org/drawingml/2006/main" w="7529">
            <a:solidFill>
              <a:srgbClr val="4C8B82"/>
            </a:solidFill>
            <a:prstDash val="solid"/>
          </a:ln>
        </p:spPr>
      </p:sp>
      <p:sp>
        <p:nvSpPr>
          <p:cNvPr id="18" name="tissue-cell-1-0-nucleus">
            <a:extLst xmlns:a="http://schemas.openxmlformats.org/drawingml/2006/main">
              <a:ext uri="{FF2B5EF4-FFF2-40B4-BE49-F238E27FC236}">
                <a16:creationId xmlns:a16="http://schemas.microsoft.com/office/drawing/2014/main" id="{C048B831-8364-47E8-B2C1-59FA018B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30" y="783376"/>
            <a:ext cx="51245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CABD"/>
          </a:solidFill>
          <a:ln xmlns:a="http://schemas.openxmlformats.org/drawingml/2006/main" w="5882">
            <a:solidFill>
              <a:srgbClr val="4C8B82"/>
            </a:solidFill>
            <a:prstDash val="solid"/>
          </a:ln>
        </p:spPr>
      </p:sp>
      <p:sp>
        <p:nvSpPr>
          <p:cNvPr id="19" name="tissue-cell-1-1-membrane">
            <a:extLst xmlns:a="http://schemas.openxmlformats.org/drawingml/2006/main">
              <a:ext uri="{FF2B5EF4-FFF2-40B4-BE49-F238E27FC236}">
                <a16:creationId xmlns:a16="http://schemas.microsoft.com/office/drawing/2014/main" id="{4E96E62B-15CA-4D85-9DA2-D753F19D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19" y="913437"/>
            <a:ext cx="147090" cy="149047"/>
          </a:xfrm>
          <a:custGeom xmlns:a="http://schemas.openxmlformats.org/drawingml/2006/main">
            <a:pathLst>
              <a:path w="297730" h="301692">
                <a:moveTo>
                  <a:pt x="296339" y="150696"/>
                </a:moveTo>
                <a:lnTo>
                  <a:pt x="297730" y="164728"/>
                </a:lnTo>
                <a:lnTo>
                  <a:pt x="296845" y="178815"/>
                </a:lnTo>
                <a:lnTo>
                  <a:pt x="293570" y="192522"/>
                </a:lnTo>
                <a:lnTo>
                  <a:pt x="288025" y="205431"/>
                </a:lnTo>
                <a:lnTo>
                  <a:pt x="280543" y="217226"/>
                </a:lnTo>
                <a:lnTo>
                  <a:pt x="271608" y="227754"/>
                </a:lnTo>
                <a:lnTo>
                  <a:pt x="261759" y="237047"/>
                </a:lnTo>
                <a:lnTo>
                  <a:pt x="251491" y="245298"/>
                </a:lnTo>
                <a:lnTo>
                  <a:pt x="241172" y="252807"/>
                </a:lnTo>
                <a:lnTo>
                  <a:pt x="230992" y="259887"/>
                </a:lnTo>
                <a:lnTo>
                  <a:pt x="220961" y="266785"/>
                </a:lnTo>
                <a:lnTo>
                  <a:pt x="210941" y="273608"/>
                </a:lnTo>
                <a:lnTo>
                  <a:pt x="200719" y="280293"/>
                </a:lnTo>
                <a:lnTo>
                  <a:pt x="190081" y="286617"/>
                </a:lnTo>
                <a:lnTo>
                  <a:pt x="178878" y="292250"/>
                </a:lnTo>
                <a:lnTo>
                  <a:pt x="167074" y="296827"/>
                </a:lnTo>
                <a:lnTo>
                  <a:pt x="154746" y="300034"/>
                </a:lnTo>
                <a:lnTo>
                  <a:pt x="142065" y="301673"/>
                </a:lnTo>
                <a:lnTo>
                  <a:pt x="129243" y="301692"/>
                </a:lnTo>
                <a:lnTo>
                  <a:pt x="116481" y="300186"/>
                </a:lnTo>
                <a:lnTo>
                  <a:pt x="103924" y="297353"/>
                </a:lnTo>
                <a:lnTo>
                  <a:pt x="91644" y="293425"/>
                </a:lnTo>
                <a:lnTo>
                  <a:pt x="79648" y="288606"/>
                </a:lnTo>
                <a:lnTo>
                  <a:pt x="67920" y="283010"/>
                </a:lnTo>
                <a:lnTo>
                  <a:pt x="56470" y="276642"/>
                </a:lnTo>
                <a:lnTo>
                  <a:pt x="45382" y="269410"/>
                </a:lnTo>
                <a:lnTo>
                  <a:pt x="34844" y="261166"/>
                </a:lnTo>
                <a:lnTo>
                  <a:pt x="25145" y="251776"/>
                </a:lnTo>
                <a:lnTo>
                  <a:pt x="16639" y="241182"/>
                </a:lnTo>
                <a:lnTo>
                  <a:pt x="9677" y="229447"/>
                </a:lnTo>
                <a:lnTo>
                  <a:pt x="4531" y="216773"/>
                </a:lnTo>
                <a:lnTo>
                  <a:pt x="1328" y="203473"/>
                </a:lnTo>
                <a:lnTo>
                  <a:pt x="0" y="189916"/>
                </a:lnTo>
                <a:lnTo>
                  <a:pt x="290" y="176452"/>
                </a:lnTo>
                <a:lnTo>
                  <a:pt x="1789" y="163341"/>
                </a:lnTo>
                <a:lnTo>
                  <a:pt x="4017" y="150696"/>
                </a:lnTo>
                <a:lnTo>
                  <a:pt x="6520" y="138478"/>
                </a:lnTo>
                <a:lnTo>
                  <a:pt x="8964" y="126516"/>
                </a:lnTo>
                <a:lnTo>
                  <a:pt x="11209" y="114571"/>
                </a:lnTo>
                <a:lnTo>
                  <a:pt x="13332" y="102421"/>
                </a:lnTo>
                <a:lnTo>
                  <a:pt x="15609" y="89942"/>
                </a:lnTo>
                <a:lnTo>
                  <a:pt x="18449" y="77164"/>
                </a:lnTo>
                <a:lnTo>
                  <a:pt x="22303" y="64297"/>
                </a:lnTo>
                <a:lnTo>
                  <a:pt x="27559" y="51703"/>
                </a:lnTo>
                <a:lnTo>
                  <a:pt x="34469" y="39840"/>
                </a:lnTo>
                <a:lnTo>
                  <a:pt x="43091" y="29170"/>
                </a:lnTo>
                <a:lnTo>
                  <a:pt x="53291" y="20073"/>
                </a:lnTo>
                <a:lnTo>
                  <a:pt x="64780" y="12778"/>
                </a:lnTo>
                <a:lnTo>
                  <a:pt x="77179" y="7331"/>
                </a:lnTo>
                <a:lnTo>
                  <a:pt x="90101" y="3600"/>
                </a:lnTo>
                <a:lnTo>
                  <a:pt x="103220" y="1332"/>
                </a:lnTo>
                <a:lnTo>
                  <a:pt x="116313" y="222"/>
                </a:lnTo>
                <a:lnTo>
                  <a:pt x="129268" y="0"/>
                </a:lnTo>
                <a:lnTo>
                  <a:pt x="142065" y="492"/>
                </a:lnTo>
                <a:lnTo>
                  <a:pt x="154721" y="1657"/>
                </a:lnTo>
                <a:lnTo>
                  <a:pt x="167242" y="3581"/>
                </a:lnTo>
                <a:lnTo>
                  <a:pt x="179583" y="6435"/>
                </a:lnTo>
                <a:lnTo>
                  <a:pt x="191624" y="10408"/>
                </a:lnTo>
                <a:lnTo>
                  <a:pt x="203189" y="15643"/>
                </a:lnTo>
                <a:lnTo>
                  <a:pt x="214082" y="22180"/>
                </a:lnTo>
                <a:lnTo>
                  <a:pt x="224139" y="29930"/>
                </a:lnTo>
                <a:lnTo>
                  <a:pt x="233283" y="38692"/>
                </a:lnTo>
                <a:lnTo>
                  <a:pt x="241547" y="48199"/>
                </a:lnTo>
                <a:lnTo>
                  <a:pt x="249077" y="58181"/>
                </a:lnTo>
                <a:lnTo>
                  <a:pt x="256096" y="68432"/>
                </a:lnTo>
                <a:lnTo>
                  <a:pt x="262835" y="78856"/>
                </a:lnTo>
                <a:lnTo>
                  <a:pt x="269465" y="89488"/>
                </a:lnTo>
                <a:lnTo>
                  <a:pt x="276021" y="100463"/>
                </a:lnTo>
                <a:lnTo>
                  <a:pt x="282362" y="111965"/>
                </a:lnTo>
                <a:lnTo>
                  <a:pt x="288171" y="124153"/>
                </a:lnTo>
                <a:lnTo>
                  <a:pt x="292999" y="137091"/>
                </a:lnTo>
                <a:close/>
              </a:path>
            </a:pathLst>
          </a:custGeom>
          <a:solidFill xmlns:a="http://schemas.openxmlformats.org/drawingml/2006/main">
            <a:srgbClr val="E7F2EF"/>
          </a:solidFill>
          <a:ln xmlns:a="http://schemas.openxmlformats.org/drawingml/2006/main" w="7529">
            <a:solidFill>
              <a:srgbClr val="4C8B82"/>
            </a:solidFill>
            <a:prstDash val="solid"/>
          </a:ln>
        </p:spPr>
      </p:sp>
      <p:sp>
        <p:nvSpPr>
          <p:cNvPr id="20" name="tissue-cell-1-1-nucleus">
            <a:extLst xmlns:a="http://schemas.openxmlformats.org/drawingml/2006/main">
              <a:ext uri="{FF2B5EF4-FFF2-40B4-BE49-F238E27FC236}">
                <a16:creationId xmlns:a16="http://schemas.microsoft.com/office/drawing/2014/main" id="{ED470801-45AF-4636-8B97-0EE925E7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58" y="957487"/>
            <a:ext cx="51245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CABD"/>
          </a:solidFill>
          <a:ln xmlns:a="http://schemas.openxmlformats.org/drawingml/2006/main" w="5882">
            <a:solidFill>
              <a:srgbClr val="4C8B82"/>
            </a:solidFill>
            <a:prstDash val="solid"/>
          </a:ln>
        </p:spPr>
      </p:sp>
      <p:sp>
        <p:nvSpPr>
          <p:cNvPr id="21" name="tissue-cell-1-2-membrane">
            <a:extLst xmlns:a="http://schemas.openxmlformats.org/drawingml/2006/main">
              <a:ext uri="{FF2B5EF4-FFF2-40B4-BE49-F238E27FC236}">
                <a16:creationId xmlns:a16="http://schemas.microsoft.com/office/drawing/2014/main" id="{F7B5AE74-FB54-4316-B704-020D79DD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7" y="1087398"/>
            <a:ext cx="147211" cy="148958"/>
          </a:xfrm>
          <a:custGeom xmlns:a="http://schemas.openxmlformats.org/drawingml/2006/main">
            <a:pathLst>
              <a:path w="297976" h="301512">
                <a:moveTo>
                  <a:pt x="296557" y="151000"/>
                </a:moveTo>
                <a:lnTo>
                  <a:pt x="297976" y="165035"/>
                </a:lnTo>
                <a:lnTo>
                  <a:pt x="297102" y="179128"/>
                </a:lnTo>
                <a:lnTo>
                  <a:pt x="293828" y="192839"/>
                </a:lnTo>
                <a:lnTo>
                  <a:pt x="288287" y="205755"/>
                </a:lnTo>
                <a:lnTo>
                  <a:pt x="280820" y="217563"/>
                </a:lnTo>
                <a:lnTo>
                  <a:pt x="271915" y="228116"/>
                </a:lnTo>
                <a:lnTo>
                  <a:pt x="262108" y="237451"/>
                </a:lnTo>
                <a:lnTo>
                  <a:pt x="251885" y="245762"/>
                </a:lnTo>
                <a:lnTo>
                  <a:pt x="241603" y="253339"/>
                </a:lnTo>
                <a:lnTo>
                  <a:pt x="231440" y="260484"/>
                </a:lnTo>
                <a:lnTo>
                  <a:pt x="221399" y="267426"/>
                </a:lnTo>
                <a:lnTo>
                  <a:pt x="211343" y="274256"/>
                </a:lnTo>
                <a:lnTo>
                  <a:pt x="201064" y="280897"/>
                </a:lnTo>
                <a:lnTo>
                  <a:pt x="190362" y="287123"/>
                </a:lnTo>
                <a:lnTo>
                  <a:pt x="179102" y="292610"/>
                </a:lnTo>
                <a:lnTo>
                  <a:pt x="167262" y="297010"/>
                </a:lnTo>
                <a:lnTo>
                  <a:pt x="154929" y="300034"/>
                </a:lnTo>
                <a:lnTo>
                  <a:pt x="142274" y="301512"/>
                </a:lnTo>
                <a:lnTo>
                  <a:pt x="129501" y="301419"/>
                </a:lnTo>
                <a:lnTo>
                  <a:pt x="116797" y="299868"/>
                </a:lnTo>
                <a:lnTo>
                  <a:pt x="104287" y="297064"/>
                </a:lnTo>
                <a:lnTo>
                  <a:pt x="92028" y="293234"/>
                </a:lnTo>
                <a:lnTo>
                  <a:pt x="80014" y="288563"/>
                </a:lnTo>
                <a:lnTo>
                  <a:pt x="68226" y="283141"/>
                </a:lnTo>
                <a:lnTo>
                  <a:pt x="56681" y="276944"/>
                </a:lnTo>
                <a:lnTo>
                  <a:pt x="45477" y="269854"/>
                </a:lnTo>
                <a:lnTo>
                  <a:pt x="34823" y="261707"/>
                </a:lnTo>
                <a:lnTo>
                  <a:pt x="25030" y="252361"/>
                </a:lnTo>
                <a:lnTo>
                  <a:pt x="16465" y="241762"/>
                </a:lnTo>
                <a:lnTo>
                  <a:pt x="9491" y="229986"/>
                </a:lnTo>
                <a:lnTo>
                  <a:pt x="4377" y="217251"/>
                </a:lnTo>
                <a:lnTo>
                  <a:pt x="1241" y="203887"/>
                </a:lnTo>
                <a:lnTo>
                  <a:pt x="0" y="190277"/>
                </a:lnTo>
                <a:lnTo>
                  <a:pt x="379" y="176778"/>
                </a:lnTo>
                <a:lnTo>
                  <a:pt x="1954" y="163648"/>
                </a:lnTo>
                <a:lnTo>
                  <a:pt x="4235" y="151000"/>
                </a:lnTo>
                <a:lnTo>
                  <a:pt x="6766" y="138785"/>
                </a:lnTo>
                <a:lnTo>
                  <a:pt x="9220" y="126828"/>
                </a:lnTo>
                <a:lnTo>
                  <a:pt x="11466" y="114888"/>
                </a:lnTo>
                <a:lnTo>
                  <a:pt x="13593" y="102745"/>
                </a:lnTo>
                <a:lnTo>
                  <a:pt x="15886" y="90278"/>
                </a:lnTo>
                <a:lnTo>
                  <a:pt x="18756" y="77526"/>
                </a:lnTo>
                <a:lnTo>
                  <a:pt x="22651" y="64701"/>
                </a:lnTo>
                <a:lnTo>
                  <a:pt x="27953" y="52167"/>
                </a:lnTo>
                <a:lnTo>
                  <a:pt x="34900" y="40372"/>
                </a:lnTo>
                <a:lnTo>
                  <a:pt x="43539" y="29766"/>
                </a:lnTo>
                <a:lnTo>
                  <a:pt x="53730" y="20714"/>
                </a:lnTo>
                <a:lnTo>
                  <a:pt x="65182" y="13426"/>
                </a:lnTo>
                <a:lnTo>
                  <a:pt x="77524" y="7935"/>
                </a:lnTo>
                <a:lnTo>
                  <a:pt x="90382" y="4106"/>
                </a:lnTo>
                <a:lnTo>
                  <a:pt x="103444" y="1692"/>
                </a:lnTo>
                <a:lnTo>
                  <a:pt x="116501" y="405"/>
                </a:lnTo>
                <a:lnTo>
                  <a:pt x="129452" y="0"/>
                </a:lnTo>
                <a:lnTo>
                  <a:pt x="142274" y="331"/>
                </a:lnTo>
                <a:lnTo>
                  <a:pt x="154979" y="1384"/>
                </a:lnTo>
                <a:lnTo>
                  <a:pt x="167558" y="3263"/>
                </a:lnTo>
                <a:lnTo>
                  <a:pt x="179946" y="6146"/>
                </a:lnTo>
                <a:lnTo>
                  <a:pt x="192008" y="10217"/>
                </a:lnTo>
                <a:lnTo>
                  <a:pt x="203555" y="15601"/>
                </a:lnTo>
                <a:lnTo>
                  <a:pt x="214387" y="22311"/>
                </a:lnTo>
                <a:lnTo>
                  <a:pt x="224350" y="30231"/>
                </a:lnTo>
                <a:lnTo>
                  <a:pt x="233378" y="39136"/>
                </a:lnTo>
                <a:lnTo>
                  <a:pt x="241527" y="48740"/>
                </a:lnTo>
                <a:lnTo>
                  <a:pt x="248962" y="58766"/>
                </a:lnTo>
                <a:lnTo>
                  <a:pt x="255922" y="69012"/>
                </a:lnTo>
                <a:lnTo>
                  <a:pt x="262649" y="79395"/>
                </a:lnTo>
                <a:lnTo>
                  <a:pt x="269311" y="89967"/>
                </a:lnTo>
                <a:lnTo>
                  <a:pt x="275934" y="100878"/>
                </a:lnTo>
                <a:lnTo>
                  <a:pt x="282362" y="112326"/>
                </a:lnTo>
                <a:lnTo>
                  <a:pt x="288260" y="124479"/>
                </a:lnTo>
                <a:lnTo>
                  <a:pt x="293164" y="137399"/>
                </a:lnTo>
                <a:close/>
              </a:path>
            </a:pathLst>
          </a:custGeom>
          <a:solidFill xmlns:a="http://schemas.openxmlformats.org/drawingml/2006/main">
            <a:srgbClr val="E7F2EF"/>
          </a:solidFill>
          <a:ln xmlns:a="http://schemas.openxmlformats.org/drawingml/2006/main" w="7529">
            <a:solidFill>
              <a:srgbClr val="4C8B82"/>
            </a:solidFill>
            <a:prstDash val="solid"/>
          </a:ln>
        </p:spPr>
      </p:sp>
      <p:sp>
        <p:nvSpPr>
          <p:cNvPr id="22" name="tissue-cell-1-2-nucleus">
            <a:extLst xmlns:a="http://schemas.openxmlformats.org/drawingml/2006/main">
              <a:ext uri="{FF2B5EF4-FFF2-40B4-BE49-F238E27FC236}">
                <a16:creationId xmlns:a16="http://schemas.microsoft.com/office/drawing/2014/main" id="{E9EEC5FD-DBBD-474B-B488-57C70A5E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30" y="1131599"/>
            <a:ext cx="51245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CABD"/>
          </a:solidFill>
          <a:ln xmlns:a="http://schemas.openxmlformats.org/drawingml/2006/main" w="5882">
            <a:solidFill>
              <a:srgbClr val="4C8B82"/>
            </a:solidFill>
            <a:prstDash val="solid"/>
          </a:ln>
        </p:spPr>
      </p:sp>
      <p:sp>
        <p:nvSpPr>
          <p:cNvPr id="23" name="tissue-cell-1-3-membrane">
            <a:extLst xmlns:a="http://schemas.openxmlformats.org/drawingml/2006/main">
              <a:ext uri="{FF2B5EF4-FFF2-40B4-BE49-F238E27FC236}">
                <a16:creationId xmlns:a16="http://schemas.microsoft.com/office/drawing/2014/main" id="{1DF904AC-AAAA-40C6-9736-C847D5B4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19" y="1261659"/>
            <a:ext cx="147090" cy="149047"/>
          </a:xfrm>
          <a:custGeom xmlns:a="http://schemas.openxmlformats.org/drawingml/2006/main">
            <a:pathLst>
              <a:path w="297730" h="301692">
                <a:moveTo>
                  <a:pt x="296339" y="150696"/>
                </a:moveTo>
                <a:lnTo>
                  <a:pt x="297730" y="164728"/>
                </a:lnTo>
                <a:lnTo>
                  <a:pt x="296845" y="178815"/>
                </a:lnTo>
                <a:lnTo>
                  <a:pt x="293570" y="192522"/>
                </a:lnTo>
                <a:lnTo>
                  <a:pt x="288025" y="205431"/>
                </a:lnTo>
                <a:lnTo>
                  <a:pt x="280543" y="217226"/>
                </a:lnTo>
                <a:lnTo>
                  <a:pt x="271608" y="227754"/>
                </a:lnTo>
                <a:lnTo>
                  <a:pt x="261759" y="237047"/>
                </a:lnTo>
                <a:lnTo>
                  <a:pt x="251491" y="245298"/>
                </a:lnTo>
                <a:lnTo>
                  <a:pt x="241172" y="252807"/>
                </a:lnTo>
                <a:lnTo>
                  <a:pt x="230992" y="259887"/>
                </a:lnTo>
                <a:lnTo>
                  <a:pt x="220961" y="266785"/>
                </a:lnTo>
                <a:lnTo>
                  <a:pt x="210941" y="273608"/>
                </a:lnTo>
                <a:lnTo>
                  <a:pt x="200719" y="280293"/>
                </a:lnTo>
                <a:lnTo>
                  <a:pt x="190081" y="286617"/>
                </a:lnTo>
                <a:lnTo>
                  <a:pt x="178878" y="292250"/>
                </a:lnTo>
                <a:lnTo>
                  <a:pt x="167074" y="296827"/>
                </a:lnTo>
                <a:lnTo>
                  <a:pt x="154746" y="300034"/>
                </a:lnTo>
                <a:lnTo>
                  <a:pt x="142065" y="301673"/>
                </a:lnTo>
                <a:lnTo>
                  <a:pt x="129243" y="301692"/>
                </a:lnTo>
                <a:lnTo>
                  <a:pt x="116481" y="300186"/>
                </a:lnTo>
                <a:lnTo>
                  <a:pt x="103924" y="297353"/>
                </a:lnTo>
                <a:lnTo>
                  <a:pt x="91644" y="293425"/>
                </a:lnTo>
                <a:lnTo>
                  <a:pt x="79648" y="288606"/>
                </a:lnTo>
                <a:lnTo>
                  <a:pt x="67920" y="283010"/>
                </a:lnTo>
                <a:lnTo>
                  <a:pt x="56470" y="276642"/>
                </a:lnTo>
                <a:lnTo>
                  <a:pt x="45382" y="269410"/>
                </a:lnTo>
                <a:lnTo>
                  <a:pt x="34844" y="261166"/>
                </a:lnTo>
                <a:lnTo>
                  <a:pt x="25145" y="251776"/>
                </a:lnTo>
                <a:lnTo>
                  <a:pt x="16639" y="241182"/>
                </a:lnTo>
                <a:lnTo>
                  <a:pt x="9677" y="229447"/>
                </a:lnTo>
                <a:lnTo>
                  <a:pt x="4531" y="216773"/>
                </a:lnTo>
                <a:lnTo>
                  <a:pt x="1328" y="203473"/>
                </a:lnTo>
                <a:lnTo>
                  <a:pt x="0" y="189916"/>
                </a:lnTo>
                <a:lnTo>
                  <a:pt x="290" y="176452"/>
                </a:lnTo>
                <a:lnTo>
                  <a:pt x="1789" y="163341"/>
                </a:lnTo>
                <a:lnTo>
                  <a:pt x="4017" y="150696"/>
                </a:lnTo>
                <a:lnTo>
                  <a:pt x="6520" y="138478"/>
                </a:lnTo>
                <a:lnTo>
                  <a:pt x="8964" y="126516"/>
                </a:lnTo>
                <a:lnTo>
                  <a:pt x="11209" y="114571"/>
                </a:lnTo>
                <a:lnTo>
                  <a:pt x="13332" y="102421"/>
                </a:lnTo>
                <a:lnTo>
                  <a:pt x="15609" y="89942"/>
                </a:lnTo>
                <a:lnTo>
                  <a:pt x="18449" y="77164"/>
                </a:lnTo>
                <a:lnTo>
                  <a:pt x="22303" y="64297"/>
                </a:lnTo>
                <a:lnTo>
                  <a:pt x="27559" y="51703"/>
                </a:lnTo>
                <a:lnTo>
                  <a:pt x="34469" y="39840"/>
                </a:lnTo>
                <a:lnTo>
                  <a:pt x="43091" y="29170"/>
                </a:lnTo>
                <a:lnTo>
                  <a:pt x="53291" y="20073"/>
                </a:lnTo>
                <a:lnTo>
                  <a:pt x="64780" y="12778"/>
                </a:lnTo>
                <a:lnTo>
                  <a:pt x="77179" y="7331"/>
                </a:lnTo>
                <a:lnTo>
                  <a:pt x="90101" y="3600"/>
                </a:lnTo>
                <a:lnTo>
                  <a:pt x="103220" y="1332"/>
                </a:lnTo>
                <a:lnTo>
                  <a:pt x="116313" y="222"/>
                </a:lnTo>
                <a:lnTo>
                  <a:pt x="129268" y="0"/>
                </a:lnTo>
                <a:lnTo>
                  <a:pt x="142065" y="492"/>
                </a:lnTo>
                <a:lnTo>
                  <a:pt x="154721" y="1657"/>
                </a:lnTo>
                <a:lnTo>
                  <a:pt x="167242" y="3581"/>
                </a:lnTo>
                <a:lnTo>
                  <a:pt x="179583" y="6435"/>
                </a:lnTo>
                <a:lnTo>
                  <a:pt x="191624" y="10408"/>
                </a:lnTo>
                <a:lnTo>
                  <a:pt x="203189" y="15643"/>
                </a:lnTo>
                <a:lnTo>
                  <a:pt x="214082" y="22180"/>
                </a:lnTo>
                <a:lnTo>
                  <a:pt x="224139" y="29930"/>
                </a:lnTo>
                <a:lnTo>
                  <a:pt x="233283" y="38692"/>
                </a:lnTo>
                <a:lnTo>
                  <a:pt x="241547" y="48199"/>
                </a:lnTo>
                <a:lnTo>
                  <a:pt x="249077" y="58181"/>
                </a:lnTo>
                <a:lnTo>
                  <a:pt x="256096" y="68432"/>
                </a:lnTo>
                <a:lnTo>
                  <a:pt x="262835" y="78856"/>
                </a:lnTo>
                <a:lnTo>
                  <a:pt x="269465" y="89488"/>
                </a:lnTo>
                <a:lnTo>
                  <a:pt x="276021" y="100463"/>
                </a:lnTo>
                <a:lnTo>
                  <a:pt x="282362" y="111965"/>
                </a:lnTo>
                <a:lnTo>
                  <a:pt x="288171" y="124153"/>
                </a:lnTo>
                <a:lnTo>
                  <a:pt x="292999" y="137091"/>
                </a:lnTo>
                <a:close/>
              </a:path>
            </a:pathLst>
          </a:custGeom>
          <a:solidFill xmlns:a="http://schemas.openxmlformats.org/drawingml/2006/main">
            <a:srgbClr val="E7F2EF"/>
          </a:solidFill>
          <a:ln xmlns:a="http://schemas.openxmlformats.org/drawingml/2006/main" w="7529">
            <a:solidFill>
              <a:srgbClr val="4C8B82"/>
            </a:solidFill>
            <a:prstDash val="solid"/>
          </a:ln>
        </p:spPr>
      </p:sp>
      <p:sp>
        <p:nvSpPr>
          <p:cNvPr id="24" name="tissue-cell-1-3-nucleus">
            <a:extLst xmlns:a="http://schemas.openxmlformats.org/drawingml/2006/main">
              <a:ext uri="{FF2B5EF4-FFF2-40B4-BE49-F238E27FC236}">
                <a16:creationId xmlns:a16="http://schemas.microsoft.com/office/drawing/2014/main" id="{560E65A6-3B7A-4262-883D-17CB28A3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58" y="1305710"/>
            <a:ext cx="51245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CABD"/>
          </a:solidFill>
          <a:ln xmlns:a="http://schemas.openxmlformats.org/drawingml/2006/main" w="5882">
            <a:solidFill>
              <a:srgbClr val="4C8B82"/>
            </a:solidFill>
            <a:prstDash val="solid"/>
          </a:ln>
        </p:spPr>
      </p:sp>
      <p:sp>
        <p:nvSpPr>
          <p:cNvPr id="25" name="tissue-cell-1-4-membrane">
            <a:extLst xmlns:a="http://schemas.openxmlformats.org/drawingml/2006/main">
              <a:ext uri="{FF2B5EF4-FFF2-40B4-BE49-F238E27FC236}">
                <a16:creationId xmlns:a16="http://schemas.microsoft.com/office/drawing/2014/main" id="{61F5D560-7D9B-40C8-A0AA-DC74BAB4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7" y="1435621"/>
            <a:ext cx="147211" cy="148958"/>
          </a:xfrm>
          <a:custGeom xmlns:a="http://schemas.openxmlformats.org/drawingml/2006/main">
            <a:pathLst>
              <a:path w="297976" h="301512">
                <a:moveTo>
                  <a:pt x="296557" y="151000"/>
                </a:moveTo>
                <a:lnTo>
                  <a:pt x="297976" y="165035"/>
                </a:lnTo>
                <a:lnTo>
                  <a:pt x="297102" y="179128"/>
                </a:lnTo>
                <a:lnTo>
                  <a:pt x="293828" y="192839"/>
                </a:lnTo>
                <a:lnTo>
                  <a:pt x="288287" y="205755"/>
                </a:lnTo>
                <a:lnTo>
                  <a:pt x="280820" y="217563"/>
                </a:lnTo>
                <a:lnTo>
                  <a:pt x="271915" y="228116"/>
                </a:lnTo>
                <a:lnTo>
                  <a:pt x="262108" y="237451"/>
                </a:lnTo>
                <a:lnTo>
                  <a:pt x="251885" y="245762"/>
                </a:lnTo>
                <a:lnTo>
                  <a:pt x="241603" y="253339"/>
                </a:lnTo>
                <a:lnTo>
                  <a:pt x="231440" y="260484"/>
                </a:lnTo>
                <a:lnTo>
                  <a:pt x="221399" y="267426"/>
                </a:lnTo>
                <a:lnTo>
                  <a:pt x="211343" y="274256"/>
                </a:lnTo>
                <a:lnTo>
                  <a:pt x="201064" y="280897"/>
                </a:lnTo>
                <a:lnTo>
                  <a:pt x="190362" y="287123"/>
                </a:lnTo>
                <a:lnTo>
                  <a:pt x="179102" y="292610"/>
                </a:lnTo>
                <a:lnTo>
                  <a:pt x="167262" y="297010"/>
                </a:lnTo>
                <a:lnTo>
                  <a:pt x="154929" y="300034"/>
                </a:lnTo>
                <a:lnTo>
                  <a:pt x="142274" y="301512"/>
                </a:lnTo>
                <a:lnTo>
                  <a:pt x="129501" y="301419"/>
                </a:lnTo>
                <a:lnTo>
                  <a:pt x="116797" y="299868"/>
                </a:lnTo>
                <a:lnTo>
                  <a:pt x="104287" y="297064"/>
                </a:lnTo>
                <a:lnTo>
                  <a:pt x="92028" y="293234"/>
                </a:lnTo>
                <a:lnTo>
                  <a:pt x="80014" y="288563"/>
                </a:lnTo>
                <a:lnTo>
                  <a:pt x="68226" y="283141"/>
                </a:lnTo>
                <a:lnTo>
                  <a:pt x="56681" y="276944"/>
                </a:lnTo>
                <a:lnTo>
                  <a:pt x="45477" y="269854"/>
                </a:lnTo>
                <a:lnTo>
                  <a:pt x="34823" y="261707"/>
                </a:lnTo>
                <a:lnTo>
                  <a:pt x="25030" y="252361"/>
                </a:lnTo>
                <a:lnTo>
                  <a:pt x="16465" y="241762"/>
                </a:lnTo>
                <a:lnTo>
                  <a:pt x="9491" y="229986"/>
                </a:lnTo>
                <a:lnTo>
                  <a:pt x="4377" y="217251"/>
                </a:lnTo>
                <a:lnTo>
                  <a:pt x="1241" y="203887"/>
                </a:lnTo>
                <a:lnTo>
                  <a:pt x="0" y="190277"/>
                </a:lnTo>
                <a:lnTo>
                  <a:pt x="379" y="176778"/>
                </a:lnTo>
                <a:lnTo>
                  <a:pt x="1954" y="163648"/>
                </a:lnTo>
                <a:lnTo>
                  <a:pt x="4235" y="151000"/>
                </a:lnTo>
                <a:lnTo>
                  <a:pt x="6766" y="138785"/>
                </a:lnTo>
                <a:lnTo>
                  <a:pt x="9220" y="126828"/>
                </a:lnTo>
                <a:lnTo>
                  <a:pt x="11466" y="114888"/>
                </a:lnTo>
                <a:lnTo>
                  <a:pt x="13593" y="102745"/>
                </a:lnTo>
                <a:lnTo>
                  <a:pt x="15886" y="90278"/>
                </a:lnTo>
                <a:lnTo>
                  <a:pt x="18756" y="77526"/>
                </a:lnTo>
                <a:lnTo>
                  <a:pt x="22651" y="64701"/>
                </a:lnTo>
                <a:lnTo>
                  <a:pt x="27953" y="52167"/>
                </a:lnTo>
                <a:lnTo>
                  <a:pt x="34900" y="40372"/>
                </a:lnTo>
                <a:lnTo>
                  <a:pt x="43539" y="29766"/>
                </a:lnTo>
                <a:lnTo>
                  <a:pt x="53730" y="20714"/>
                </a:lnTo>
                <a:lnTo>
                  <a:pt x="65182" y="13426"/>
                </a:lnTo>
                <a:lnTo>
                  <a:pt x="77524" y="7935"/>
                </a:lnTo>
                <a:lnTo>
                  <a:pt x="90382" y="4106"/>
                </a:lnTo>
                <a:lnTo>
                  <a:pt x="103444" y="1692"/>
                </a:lnTo>
                <a:lnTo>
                  <a:pt x="116501" y="405"/>
                </a:lnTo>
                <a:lnTo>
                  <a:pt x="129452" y="0"/>
                </a:lnTo>
                <a:lnTo>
                  <a:pt x="142274" y="331"/>
                </a:lnTo>
                <a:lnTo>
                  <a:pt x="154979" y="1384"/>
                </a:lnTo>
                <a:lnTo>
                  <a:pt x="167558" y="3263"/>
                </a:lnTo>
                <a:lnTo>
                  <a:pt x="179946" y="6146"/>
                </a:lnTo>
                <a:lnTo>
                  <a:pt x="192008" y="10217"/>
                </a:lnTo>
                <a:lnTo>
                  <a:pt x="203555" y="15601"/>
                </a:lnTo>
                <a:lnTo>
                  <a:pt x="214387" y="22311"/>
                </a:lnTo>
                <a:lnTo>
                  <a:pt x="224350" y="30231"/>
                </a:lnTo>
                <a:lnTo>
                  <a:pt x="233378" y="39136"/>
                </a:lnTo>
                <a:lnTo>
                  <a:pt x="241527" y="48740"/>
                </a:lnTo>
                <a:lnTo>
                  <a:pt x="248962" y="58766"/>
                </a:lnTo>
                <a:lnTo>
                  <a:pt x="255922" y="69012"/>
                </a:lnTo>
                <a:lnTo>
                  <a:pt x="262649" y="79395"/>
                </a:lnTo>
                <a:lnTo>
                  <a:pt x="269311" y="89967"/>
                </a:lnTo>
                <a:lnTo>
                  <a:pt x="275934" y="100878"/>
                </a:lnTo>
                <a:lnTo>
                  <a:pt x="282362" y="112326"/>
                </a:lnTo>
                <a:lnTo>
                  <a:pt x="288260" y="124479"/>
                </a:lnTo>
                <a:lnTo>
                  <a:pt x="293164" y="137399"/>
                </a:lnTo>
                <a:close/>
              </a:path>
            </a:pathLst>
          </a:custGeom>
          <a:solidFill xmlns:a="http://schemas.openxmlformats.org/drawingml/2006/main">
            <a:srgbClr val="E7F2EF"/>
          </a:solidFill>
          <a:ln xmlns:a="http://schemas.openxmlformats.org/drawingml/2006/main" w="7529">
            <a:solidFill>
              <a:srgbClr val="4C8B82"/>
            </a:solidFill>
            <a:prstDash val="solid"/>
          </a:ln>
        </p:spPr>
      </p:sp>
      <p:sp>
        <p:nvSpPr>
          <p:cNvPr id="26" name="tissue-cell-1-4-nucleus">
            <a:extLst xmlns:a="http://schemas.openxmlformats.org/drawingml/2006/main">
              <a:ext uri="{FF2B5EF4-FFF2-40B4-BE49-F238E27FC236}">
                <a16:creationId xmlns:a16="http://schemas.microsoft.com/office/drawing/2014/main" id="{DFD3BF92-00C7-4341-BD15-E5BD5450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30" y="1479822"/>
            <a:ext cx="51245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CABD"/>
          </a:solidFill>
          <a:ln xmlns:a="http://schemas.openxmlformats.org/drawingml/2006/main" w="5882">
            <a:solidFill>
              <a:srgbClr val="4C8B82"/>
            </a:solidFill>
            <a:prstDash val="solid"/>
          </a:ln>
        </p:spPr>
      </p:sp>
      <p:sp>
        <p:nvSpPr>
          <p:cNvPr id="27" name="tissue-cell-2-0-membrane">
            <a:extLst xmlns:a="http://schemas.openxmlformats.org/drawingml/2006/main">
              <a:ext uri="{FF2B5EF4-FFF2-40B4-BE49-F238E27FC236}">
                <a16:creationId xmlns:a16="http://schemas.microsoft.com/office/drawing/2014/main" id="{6BA3CBA8-DD55-4011-9B39-80796E09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017" y="692981"/>
            <a:ext cx="150509" cy="150345"/>
          </a:xfrm>
          <a:custGeom xmlns:a="http://schemas.openxmlformats.org/drawingml/2006/main">
            <a:pathLst>
              <a:path w="304651" h="304318">
                <a:moveTo>
                  <a:pt x="303593" y="149466"/>
                </a:moveTo>
                <a:lnTo>
                  <a:pt x="304651" y="163397"/>
                </a:lnTo>
                <a:lnTo>
                  <a:pt x="303601" y="177358"/>
                </a:lnTo>
                <a:lnTo>
                  <a:pt x="300262" y="190957"/>
                </a:lnTo>
                <a:lnTo>
                  <a:pt x="294672" y="203791"/>
                </a:lnTo>
                <a:lnTo>
                  <a:pt x="287085" y="215528"/>
                </a:lnTo>
                <a:lnTo>
                  <a:pt x="277935" y="225977"/>
                </a:lnTo>
                <a:lnTo>
                  <a:pt x="267756" y="235131"/>
                </a:lnTo>
                <a:lnTo>
                  <a:pt x="257080" y="243165"/>
                </a:lnTo>
                <a:lnTo>
                  <a:pt x="246340" y="250391"/>
                </a:lnTo>
                <a:lnTo>
                  <a:pt x="235799" y="257182"/>
                </a:lnTo>
                <a:lnTo>
                  <a:pt x="225522" y="263872"/>
                </a:lnTo>
                <a:lnTo>
                  <a:pt x="215391" y="270669"/>
                </a:lnTo>
                <a:lnTo>
                  <a:pt x="205163" y="277597"/>
                </a:lnTo>
                <a:lnTo>
                  <a:pt x="194555" y="284479"/>
                </a:lnTo>
                <a:lnTo>
                  <a:pt x="183329" y="290966"/>
                </a:lnTo>
                <a:lnTo>
                  <a:pt x="171359" y="296605"/>
                </a:lnTo>
                <a:lnTo>
                  <a:pt x="158666" y="300937"/>
                </a:lnTo>
                <a:lnTo>
                  <a:pt x="145414" y="303583"/>
                </a:lnTo>
                <a:lnTo>
                  <a:pt x="131866" y="304318"/>
                </a:lnTo>
                <a:lnTo>
                  <a:pt x="118324" y="303102"/>
                </a:lnTo>
                <a:lnTo>
                  <a:pt x="105061" y="300066"/>
                </a:lnTo>
                <a:lnTo>
                  <a:pt x="92274" y="295468"/>
                </a:lnTo>
                <a:lnTo>
                  <a:pt x="80061" y="289617"/>
                </a:lnTo>
                <a:lnTo>
                  <a:pt x="68436" y="282795"/>
                </a:lnTo>
                <a:lnTo>
                  <a:pt x="57371" y="275205"/>
                </a:lnTo>
                <a:lnTo>
                  <a:pt x="46844" y="266937"/>
                </a:lnTo>
                <a:lnTo>
                  <a:pt x="36900" y="257980"/>
                </a:lnTo>
                <a:lnTo>
                  <a:pt x="27671" y="248264"/>
                </a:lnTo>
                <a:lnTo>
                  <a:pt x="19381" y="237715"/>
                </a:lnTo>
                <a:lnTo>
                  <a:pt x="12306" y="226316"/>
                </a:lnTo>
                <a:lnTo>
                  <a:pt x="6713" y="214143"/>
                </a:lnTo>
                <a:lnTo>
                  <a:pt x="2792" y="201376"/>
                </a:lnTo>
                <a:lnTo>
                  <a:pt x="593" y="188271"/>
                </a:lnTo>
                <a:lnTo>
                  <a:pt x="0" y="175106"/>
                </a:lnTo>
                <a:lnTo>
                  <a:pt x="735" y="162124"/>
                </a:lnTo>
                <a:lnTo>
                  <a:pt x="2413" y="149466"/>
                </a:lnTo>
                <a:lnTo>
                  <a:pt x="4617" y="137148"/>
                </a:lnTo>
                <a:lnTo>
                  <a:pt x="6996" y="125059"/>
                </a:lnTo>
                <a:lnTo>
                  <a:pt x="9344" y="113006"/>
                </a:lnTo>
                <a:lnTo>
                  <a:pt x="11655" y="100781"/>
                </a:lnTo>
                <a:lnTo>
                  <a:pt x="14122" y="88243"/>
                </a:lnTo>
                <a:lnTo>
                  <a:pt x="17105" y="75386"/>
                </a:lnTo>
                <a:lnTo>
                  <a:pt x="21043" y="62380"/>
                </a:lnTo>
                <a:lnTo>
                  <a:pt x="26362" y="49569"/>
                </a:lnTo>
                <a:lnTo>
                  <a:pt x="33373" y="37425"/>
                </a:lnTo>
                <a:lnTo>
                  <a:pt x="42204" y="26465"/>
                </a:lnTo>
                <a:lnTo>
                  <a:pt x="52772" y="17159"/>
                </a:lnTo>
                <a:lnTo>
                  <a:pt x="64801" y="9839"/>
                </a:lnTo>
                <a:lnTo>
                  <a:pt x="77878" y="4635"/>
                </a:lnTo>
                <a:lnTo>
                  <a:pt x="91545" y="1462"/>
                </a:lnTo>
                <a:lnTo>
                  <a:pt x="105378" y="48"/>
                </a:lnTo>
                <a:lnTo>
                  <a:pt x="119059" y="0"/>
                </a:lnTo>
                <a:lnTo>
                  <a:pt x="132417" y="902"/>
                </a:lnTo>
                <a:lnTo>
                  <a:pt x="145414" y="2403"/>
                </a:lnTo>
                <a:lnTo>
                  <a:pt x="158116" y="4284"/>
                </a:lnTo>
                <a:lnTo>
                  <a:pt x="170623" y="6497"/>
                </a:lnTo>
                <a:lnTo>
                  <a:pt x="183012" y="9148"/>
                </a:lnTo>
                <a:lnTo>
                  <a:pt x="195283" y="12451"/>
                </a:lnTo>
                <a:lnTo>
                  <a:pt x="207345" y="16655"/>
                </a:lnTo>
                <a:lnTo>
                  <a:pt x="219027" y="21965"/>
                </a:lnTo>
                <a:lnTo>
                  <a:pt x="230121" y="28493"/>
                </a:lnTo>
                <a:lnTo>
                  <a:pt x="240439" y="36219"/>
                </a:lnTo>
                <a:lnTo>
                  <a:pt x="249867" y="45013"/>
                </a:lnTo>
                <a:lnTo>
                  <a:pt x="258389" y="54669"/>
                </a:lnTo>
                <a:lnTo>
                  <a:pt x="266094" y="64965"/>
                </a:lnTo>
                <a:lnTo>
                  <a:pt x="273136" y="75726"/>
                </a:lnTo>
                <a:lnTo>
                  <a:pt x="279675" y="86859"/>
                </a:lnTo>
                <a:lnTo>
                  <a:pt x="285809" y="98366"/>
                </a:lnTo>
                <a:lnTo>
                  <a:pt x="291511" y="110319"/>
                </a:lnTo>
                <a:lnTo>
                  <a:pt x="296605" y="122807"/>
                </a:lnTo>
                <a:lnTo>
                  <a:pt x="300770" y="135874"/>
                </a:lnTo>
                <a:close/>
              </a:path>
            </a:pathLst>
          </a:custGeom>
          <a:solidFill xmlns:a="http://schemas.openxmlformats.org/drawingml/2006/main">
            <a:srgbClr val="E9F0F6"/>
          </a:solidFill>
          <a:ln xmlns:a="http://schemas.openxmlformats.org/drawingml/2006/main" w="7529">
            <a:solidFill>
              <a:srgbClr val="52779C"/>
            </a:solidFill>
            <a:prstDash val="solid"/>
          </a:ln>
        </p:spPr>
      </p:sp>
      <p:sp>
        <p:nvSpPr>
          <p:cNvPr id="28" name="tissue-cell-2-0-nucleus">
            <a:extLst xmlns:a="http://schemas.openxmlformats.org/drawingml/2006/main">
              <a:ext uri="{FF2B5EF4-FFF2-40B4-BE49-F238E27FC236}">
                <a16:creationId xmlns:a16="http://schemas.microsoft.com/office/drawing/2014/main" id="{85349651-5CBB-45DC-91B0-A6A679BD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58" y="736424"/>
            <a:ext cx="52798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5882">
            <a:solidFill>
              <a:srgbClr val="52779C"/>
            </a:solidFill>
            <a:prstDash val="solid"/>
          </a:ln>
        </p:spPr>
      </p:sp>
      <p:sp>
        <p:nvSpPr>
          <p:cNvPr id="29" name="tissue-cell-2-1-membrane">
            <a:extLst xmlns:a="http://schemas.openxmlformats.org/drawingml/2006/main">
              <a:ext uri="{FF2B5EF4-FFF2-40B4-BE49-F238E27FC236}">
                <a16:creationId xmlns:a16="http://schemas.microsoft.com/office/drawing/2014/main" id="{E7DA337D-1880-41D0-B3CD-DF38647D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75" y="867136"/>
            <a:ext cx="150340" cy="150550"/>
          </a:xfrm>
          <a:custGeom xmlns:a="http://schemas.openxmlformats.org/drawingml/2006/main">
            <a:pathLst>
              <a:path w="304308" h="304734">
                <a:moveTo>
                  <a:pt x="303325" y="149377"/>
                </a:moveTo>
                <a:lnTo>
                  <a:pt x="304308" y="163283"/>
                </a:lnTo>
                <a:lnTo>
                  <a:pt x="303229" y="177214"/>
                </a:lnTo>
                <a:lnTo>
                  <a:pt x="299902" y="190788"/>
                </a:lnTo>
                <a:lnTo>
                  <a:pt x="294350" y="203607"/>
                </a:lnTo>
                <a:lnTo>
                  <a:pt x="286813" y="215340"/>
                </a:lnTo>
                <a:lnTo>
                  <a:pt x="277710" y="225792"/>
                </a:lnTo>
                <a:lnTo>
                  <a:pt x="267565" y="234950"/>
                </a:lnTo>
                <a:lnTo>
                  <a:pt x="256908" y="242982"/>
                </a:lnTo>
                <a:lnTo>
                  <a:pt x="246175" y="250198"/>
                </a:lnTo>
                <a:lnTo>
                  <a:pt x="235638" y="256973"/>
                </a:lnTo>
                <a:lnTo>
                  <a:pt x="225368" y="263648"/>
                </a:lnTo>
                <a:lnTo>
                  <a:pt x="215252" y="270444"/>
                </a:lnTo>
                <a:lnTo>
                  <a:pt x="205051" y="277398"/>
                </a:lnTo>
                <a:lnTo>
                  <a:pt x="194476" y="284338"/>
                </a:lnTo>
                <a:lnTo>
                  <a:pt x="183280" y="290918"/>
                </a:lnTo>
                <a:lnTo>
                  <a:pt x="171327" y="296678"/>
                </a:lnTo>
                <a:lnTo>
                  <a:pt x="158632" y="301142"/>
                </a:lnTo>
                <a:lnTo>
                  <a:pt x="145354" y="303910"/>
                </a:lnTo>
                <a:lnTo>
                  <a:pt x="131762" y="304734"/>
                </a:lnTo>
                <a:lnTo>
                  <a:pt x="118169" y="303553"/>
                </a:lnTo>
                <a:lnTo>
                  <a:pt x="104863" y="300490"/>
                </a:lnTo>
                <a:lnTo>
                  <a:pt x="92059" y="295803"/>
                </a:lnTo>
                <a:lnTo>
                  <a:pt x="79869" y="289810"/>
                </a:lnTo>
                <a:lnTo>
                  <a:pt x="68311" y="282819"/>
                </a:lnTo>
                <a:lnTo>
                  <a:pt x="57352" y="275056"/>
                </a:lnTo>
                <a:lnTo>
                  <a:pt x="46959" y="266640"/>
                </a:lnTo>
                <a:lnTo>
                  <a:pt x="37151" y="257579"/>
                </a:lnTo>
                <a:lnTo>
                  <a:pt x="28039" y="247816"/>
                </a:lnTo>
                <a:lnTo>
                  <a:pt x="19822" y="237275"/>
                </a:lnTo>
                <a:lnTo>
                  <a:pt x="12762" y="225929"/>
                </a:lnTo>
                <a:lnTo>
                  <a:pt x="7120" y="213836"/>
                </a:lnTo>
                <a:lnTo>
                  <a:pt x="3094" y="201155"/>
                </a:lnTo>
                <a:lnTo>
                  <a:pt x="752" y="188123"/>
                </a:lnTo>
                <a:lnTo>
                  <a:pt x="0" y="175007"/>
                </a:lnTo>
                <a:lnTo>
                  <a:pt x="586" y="162042"/>
                </a:lnTo>
                <a:lnTo>
                  <a:pt x="2145" y="149377"/>
                </a:lnTo>
                <a:lnTo>
                  <a:pt x="4274" y="137034"/>
                </a:lnTo>
                <a:lnTo>
                  <a:pt x="6624" y="124915"/>
                </a:lnTo>
                <a:lnTo>
                  <a:pt x="8984" y="112837"/>
                </a:lnTo>
                <a:lnTo>
                  <a:pt x="11333" y="100597"/>
                </a:lnTo>
                <a:lnTo>
                  <a:pt x="13850" y="88056"/>
                </a:lnTo>
                <a:lnTo>
                  <a:pt x="16880" y="75202"/>
                </a:lnTo>
                <a:lnTo>
                  <a:pt x="20852" y="62200"/>
                </a:lnTo>
                <a:lnTo>
                  <a:pt x="26191" y="49387"/>
                </a:lnTo>
                <a:lnTo>
                  <a:pt x="33209" y="37231"/>
                </a:lnTo>
                <a:lnTo>
                  <a:pt x="42043" y="26255"/>
                </a:lnTo>
                <a:lnTo>
                  <a:pt x="52618" y="16935"/>
                </a:lnTo>
                <a:lnTo>
                  <a:pt x="64662" y="9614"/>
                </a:lnTo>
                <a:lnTo>
                  <a:pt x="77767" y="4436"/>
                </a:lnTo>
                <a:lnTo>
                  <a:pt x="91466" y="1321"/>
                </a:lnTo>
                <a:lnTo>
                  <a:pt x="105329" y="0"/>
                </a:lnTo>
                <a:lnTo>
                  <a:pt x="119028" y="73"/>
                </a:lnTo>
                <a:lnTo>
                  <a:pt x="132382" y="1107"/>
                </a:lnTo>
                <a:lnTo>
                  <a:pt x="145354" y="2729"/>
                </a:lnTo>
                <a:lnTo>
                  <a:pt x="158012" y="4699"/>
                </a:lnTo>
                <a:lnTo>
                  <a:pt x="170468" y="6948"/>
                </a:lnTo>
                <a:lnTo>
                  <a:pt x="182814" y="9572"/>
                </a:lnTo>
                <a:lnTo>
                  <a:pt x="195069" y="12786"/>
                </a:lnTo>
                <a:lnTo>
                  <a:pt x="207153" y="16848"/>
                </a:lnTo>
                <a:lnTo>
                  <a:pt x="218902" y="21989"/>
                </a:lnTo>
                <a:lnTo>
                  <a:pt x="230102" y="28343"/>
                </a:lnTo>
                <a:lnTo>
                  <a:pt x="240554" y="35922"/>
                </a:lnTo>
                <a:lnTo>
                  <a:pt x="250118" y="44613"/>
                </a:lnTo>
                <a:lnTo>
                  <a:pt x="258757" y="54220"/>
                </a:lnTo>
                <a:lnTo>
                  <a:pt x="266535" y="64525"/>
                </a:lnTo>
                <a:lnTo>
                  <a:pt x="273592" y="75339"/>
                </a:lnTo>
                <a:lnTo>
                  <a:pt x="280082" y="86552"/>
                </a:lnTo>
                <a:lnTo>
                  <a:pt x="286111" y="98145"/>
                </a:lnTo>
                <a:lnTo>
                  <a:pt x="291670" y="110172"/>
                </a:lnTo>
                <a:lnTo>
                  <a:pt x="296605" y="122707"/>
                </a:lnTo>
                <a:lnTo>
                  <a:pt x="300621" y="135793"/>
                </a:lnTo>
                <a:close/>
              </a:path>
            </a:pathLst>
          </a:custGeom>
          <a:solidFill xmlns:a="http://schemas.openxmlformats.org/drawingml/2006/main">
            <a:srgbClr val="E9F0F6"/>
          </a:solidFill>
          <a:ln xmlns:a="http://schemas.openxmlformats.org/drawingml/2006/main" w="7529">
            <a:solidFill>
              <a:srgbClr val="52779C"/>
            </a:solidFill>
            <a:prstDash val="solid"/>
          </a:ln>
        </p:spPr>
      </p:sp>
      <p:sp>
        <p:nvSpPr>
          <p:cNvPr id="30" name="tissue-cell-2-1-nucleus">
            <a:extLst xmlns:a="http://schemas.openxmlformats.org/drawingml/2006/main">
              <a:ext uri="{FF2B5EF4-FFF2-40B4-BE49-F238E27FC236}">
                <a16:creationId xmlns:a16="http://schemas.microsoft.com/office/drawing/2014/main" id="{53DC2010-4323-409A-94AC-76FD9BEE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87" y="910535"/>
            <a:ext cx="52798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5882">
            <a:solidFill>
              <a:srgbClr val="52779C"/>
            </a:solidFill>
            <a:prstDash val="solid"/>
          </a:ln>
        </p:spPr>
      </p:sp>
      <p:sp>
        <p:nvSpPr>
          <p:cNvPr id="31" name="tissue-cell-2-2-membrane">
            <a:extLst xmlns:a="http://schemas.openxmlformats.org/drawingml/2006/main">
              <a:ext uri="{FF2B5EF4-FFF2-40B4-BE49-F238E27FC236}">
                <a16:creationId xmlns:a16="http://schemas.microsoft.com/office/drawing/2014/main" id="{5BF7B6B8-A4FE-4AAE-AE91-C85FF2B8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017" y="1041204"/>
            <a:ext cx="150509" cy="150345"/>
          </a:xfrm>
          <a:custGeom xmlns:a="http://schemas.openxmlformats.org/drawingml/2006/main">
            <a:pathLst>
              <a:path w="304651" h="304318">
                <a:moveTo>
                  <a:pt x="303593" y="149466"/>
                </a:moveTo>
                <a:lnTo>
                  <a:pt x="304651" y="163397"/>
                </a:lnTo>
                <a:lnTo>
                  <a:pt x="303601" y="177358"/>
                </a:lnTo>
                <a:lnTo>
                  <a:pt x="300262" y="190957"/>
                </a:lnTo>
                <a:lnTo>
                  <a:pt x="294672" y="203791"/>
                </a:lnTo>
                <a:lnTo>
                  <a:pt x="287085" y="215528"/>
                </a:lnTo>
                <a:lnTo>
                  <a:pt x="277935" y="225977"/>
                </a:lnTo>
                <a:lnTo>
                  <a:pt x="267756" y="235131"/>
                </a:lnTo>
                <a:lnTo>
                  <a:pt x="257080" y="243165"/>
                </a:lnTo>
                <a:lnTo>
                  <a:pt x="246340" y="250391"/>
                </a:lnTo>
                <a:lnTo>
                  <a:pt x="235799" y="257182"/>
                </a:lnTo>
                <a:lnTo>
                  <a:pt x="225522" y="263872"/>
                </a:lnTo>
                <a:lnTo>
                  <a:pt x="215391" y="270669"/>
                </a:lnTo>
                <a:lnTo>
                  <a:pt x="205163" y="277597"/>
                </a:lnTo>
                <a:lnTo>
                  <a:pt x="194555" y="284479"/>
                </a:lnTo>
                <a:lnTo>
                  <a:pt x="183329" y="290966"/>
                </a:lnTo>
                <a:lnTo>
                  <a:pt x="171359" y="296605"/>
                </a:lnTo>
                <a:lnTo>
                  <a:pt x="158666" y="300937"/>
                </a:lnTo>
                <a:lnTo>
                  <a:pt x="145414" y="303583"/>
                </a:lnTo>
                <a:lnTo>
                  <a:pt x="131866" y="304318"/>
                </a:lnTo>
                <a:lnTo>
                  <a:pt x="118324" y="303102"/>
                </a:lnTo>
                <a:lnTo>
                  <a:pt x="105061" y="300066"/>
                </a:lnTo>
                <a:lnTo>
                  <a:pt x="92274" y="295468"/>
                </a:lnTo>
                <a:lnTo>
                  <a:pt x="80061" y="289617"/>
                </a:lnTo>
                <a:lnTo>
                  <a:pt x="68436" y="282795"/>
                </a:lnTo>
                <a:lnTo>
                  <a:pt x="57371" y="275205"/>
                </a:lnTo>
                <a:lnTo>
                  <a:pt x="46844" y="266937"/>
                </a:lnTo>
                <a:lnTo>
                  <a:pt x="36900" y="257980"/>
                </a:lnTo>
                <a:lnTo>
                  <a:pt x="27671" y="248264"/>
                </a:lnTo>
                <a:lnTo>
                  <a:pt x="19381" y="237715"/>
                </a:lnTo>
                <a:lnTo>
                  <a:pt x="12306" y="226316"/>
                </a:lnTo>
                <a:lnTo>
                  <a:pt x="6713" y="214143"/>
                </a:lnTo>
                <a:lnTo>
                  <a:pt x="2792" y="201376"/>
                </a:lnTo>
                <a:lnTo>
                  <a:pt x="593" y="188271"/>
                </a:lnTo>
                <a:lnTo>
                  <a:pt x="0" y="175106"/>
                </a:lnTo>
                <a:lnTo>
                  <a:pt x="735" y="162124"/>
                </a:lnTo>
                <a:lnTo>
                  <a:pt x="2413" y="149466"/>
                </a:lnTo>
                <a:lnTo>
                  <a:pt x="4617" y="137148"/>
                </a:lnTo>
                <a:lnTo>
                  <a:pt x="6996" y="125059"/>
                </a:lnTo>
                <a:lnTo>
                  <a:pt x="9344" y="113006"/>
                </a:lnTo>
                <a:lnTo>
                  <a:pt x="11655" y="100781"/>
                </a:lnTo>
                <a:lnTo>
                  <a:pt x="14122" y="88243"/>
                </a:lnTo>
                <a:lnTo>
                  <a:pt x="17105" y="75386"/>
                </a:lnTo>
                <a:lnTo>
                  <a:pt x="21043" y="62380"/>
                </a:lnTo>
                <a:lnTo>
                  <a:pt x="26362" y="49569"/>
                </a:lnTo>
                <a:lnTo>
                  <a:pt x="33373" y="37425"/>
                </a:lnTo>
                <a:lnTo>
                  <a:pt x="42204" y="26465"/>
                </a:lnTo>
                <a:lnTo>
                  <a:pt x="52772" y="17159"/>
                </a:lnTo>
                <a:lnTo>
                  <a:pt x="64801" y="9839"/>
                </a:lnTo>
                <a:lnTo>
                  <a:pt x="77878" y="4635"/>
                </a:lnTo>
                <a:lnTo>
                  <a:pt x="91545" y="1462"/>
                </a:lnTo>
                <a:lnTo>
                  <a:pt x="105378" y="48"/>
                </a:lnTo>
                <a:lnTo>
                  <a:pt x="119059" y="0"/>
                </a:lnTo>
                <a:lnTo>
                  <a:pt x="132417" y="902"/>
                </a:lnTo>
                <a:lnTo>
                  <a:pt x="145414" y="2403"/>
                </a:lnTo>
                <a:lnTo>
                  <a:pt x="158116" y="4284"/>
                </a:lnTo>
                <a:lnTo>
                  <a:pt x="170623" y="6497"/>
                </a:lnTo>
                <a:lnTo>
                  <a:pt x="183012" y="9148"/>
                </a:lnTo>
                <a:lnTo>
                  <a:pt x="195283" y="12451"/>
                </a:lnTo>
                <a:lnTo>
                  <a:pt x="207345" y="16655"/>
                </a:lnTo>
                <a:lnTo>
                  <a:pt x="219027" y="21965"/>
                </a:lnTo>
                <a:lnTo>
                  <a:pt x="230121" y="28493"/>
                </a:lnTo>
                <a:lnTo>
                  <a:pt x="240439" y="36219"/>
                </a:lnTo>
                <a:lnTo>
                  <a:pt x="249867" y="45013"/>
                </a:lnTo>
                <a:lnTo>
                  <a:pt x="258389" y="54669"/>
                </a:lnTo>
                <a:lnTo>
                  <a:pt x="266094" y="64965"/>
                </a:lnTo>
                <a:lnTo>
                  <a:pt x="273136" y="75726"/>
                </a:lnTo>
                <a:lnTo>
                  <a:pt x="279675" y="86859"/>
                </a:lnTo>
                <a:lnTo>
                  <a:pt x="285809" y="98366"/>
                </a:lnTo>
                <a:lnTo>
                  <a:pt x="291511" y="110319"/>
                </a:lnTo>
                <a:lnTo>
                  <a:pt x="296605" y="122807"/>
                </a:lnTo>
                <a:lnTo>
                  <a:pt x="300770" y="135874"/>
                </a:lnTo>
                <a:close/>
              </a:path>
            </a:pathLst>
          </a:custGeom>
          <a:solidFill xmlns:a="http://schemas.openxmlformats.org/drawingml/2006/main">
            <a:srgbClr val="E9F0F6"/>
          </a:solidFill>
          <a:ln xmlns:a="http://schemas.openxmlformats.org/drawingml/2006/main" w="7529">
            <a:solidFill>
              <a:srgbClr val="52779C"/>
            </a:solidFill>
            <a:prstDash val="solid"/>
          </a:ln>
        </p:spPr>
      </p:sp>
      <p:sp>
        <p:nvSpPr>
          <p:cNvPr id="32" name="tissue-cell-2-2-nucleus">
            <a:extLst xmlns:a="http://schemas.openxmlformats.org/drawingml/2006/main">
              <a:ext uri="{FF2B5EF4-FFF2-40B4-BE49-F238E27FC236}">
                <a16:creationId xmlns:a16="http://schemas.microsoft.com/office/drawing/2014/main" id="{77B585AD-9609-480D-AF15-4347E158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58" y="1084647"/>
            <a:ext cx="52798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5882">
            <a:solidFill>
              <a:srgbClr val="52779C"/>
            </a:solidFill>
            <a:prstDash val="solid"/>
          </a:ln>
        </p:spPr>
      </p:sp>
      <p:sp>
        <p:nvSpPr>
          <p:cNvPr id="33" name="tissue-cell-2-3-membrane">
            <a:extLst xmlns:a="http://schemas.openxmlformats.org/drawingml/2006/main">
              <a:ext uri="{FF2B5EF4-FFF2-40B4-BE49-F238E27FC236}">
                <a16:creationId xmlns:a16="http://schemas.microsoft.com/office/drawing/2014/main" id="{4776E567-A7DE-4DC7-802D-7F1B9AD3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75" y="1215359"/>
            <a:ext cx="150340" cy="150550"/>
          </a:xfrm>
          <a:custGeom xmlns:a="http://schemas.openxmlformats.org/drawingml/2006/main">
            <a:pathLst>
              <a:path w="304308" h="304734">
                <a:moveTo>
                  <a:pt x="303325" y="149377"/>
                </a:moveTo>
                <a:lnTo>
                  <a:pt x="304308" y="163283"/>
                </a:lnTo>
                <a:lnTo>
                  <a:pt x="303229" y="177214"/>
                </a:lnTo>
                <a:lnTo>
                  <a:pt x="299902" y="190788"/>
                </a:lnTo>
                <a:lnTo>
                  <a:pt x="294350" y="203607"/>
                </a:lnTo>
                <a:lnTo>
                  <a:pt x="286813" y="215340"/>
                </a:lnTo>
                <a:lnTo>
                  <a:pt x="277710" y="225792"/>
                </a:lnTo>
                <a:lnTo>
                  <a:pt x="267565" y="234950"/>
                </a:lnTo>
                <a:lnTo>
                  <a:pt x="256908" y="242982"/>
                </a:lnTo>
                <a:lnTo>
                  <a:pt x="246175" y="250198"/>
                </a:lnTo>
                <a:lnTo>
                  <a:pt x="235638" y="256973"/>
                </a:lnTo>
                <a:lnTo>
                  <a:pt x="225368" y="263648"/>
                </a:lnTo>
                <a:lnTo>
                  <a:pt x="215252" y="270444"/>
                </a:lnTo>
                <a:lnTo>
                  <a:pt x="205051" y="277398"/>
                </a:lnTo>
                <a:lnTo>
                  <a:pt x="194476" y="284338"/>
                </a:lnTo>
                <a:lnTo>
                  <a:pt x="183280" y="290918"/>
                </a:lnTo>
                <a:lnTo>
                  <a:pt x="171327" y="296678"/>
                </a:lnTo>
                <a:lnTo>
                  <a:pt x="158632" y="301142"/>
                </a:lnTo>
                <a:lnTo>
                  <a:pt x="145354" y="303910"/>
                </a:lnTo>
                <a:lnTo>
                  <a:pt x="131762" y="304734"/>
                </a:lnTo>
                <a:lnTo>
                  <a:pt x="118169" y="303553"/>
                </a:lnTo>
                <a:lnTo>
                  <a:pt x="104863" y="300490"/>
                </a:lnTo>
                <a:lnTo>
                  <a:pt x="92059" y="295803"/>
                </a:lnTo>
                <a:lnTo>
                  <a:pt x="79869" y="289810"/>
                </a:lnTo>
                <a:lnTo>
                  <a:pt x="68311" y="282819"/>
                </a:lnTo>
                <a:lnTo>
                  <a:pt x="57352" y="275056"/>
                </a:lnTo>
                <a:lnTo>
                  <a:pt x="46959" y="266640"/>
                </a:lnTo>
                <a:lnTo>
                  <a:pt x="37151" y="257579"/>
                </a:lnTo>
                <a:lnTo>
                  <a:pt x="28039" y="247816"/>
                </a:lnTo>
                <a:lnTo>
                  <a:pt x="19822" y="237275"/>
                </a:lnTo>
                <a:lnTo>
                  <a:pt x="12762" y="225929"/>
                </a:lnTo>
                <a:lnTo>
                  <a:pt x="7120" y="213836"/>
                </a:lnTo>
                <a:lnTo>
                  <a:pt x="3094" y="201155"/>
                </a:lnTo>
                <a:lnTo>
                  <a:pt x="752" y="188123"/>
                </a:lnTo>
                <a:lnTo>
                  <a:pt x="0" y="175007"/>
                </a:lnTo>
                <a:lnTo>
                  <a:pt x="586" y="162042"/>
                </a:lnTo>
                <a:lnTo>
                  <a:pt x="2145" y="149377"/>
                </a:lnTo>
                <a:lnTo>
                  <a:pt x="4274" y="137034"/>
                </a:lnTo>
                <a:lnTo>
                  <a:pt x="6624" y="124915"/>
                </a:lnTo>
                <a:lnTo>
                  <a:pt x="8984" y="112837"/>
                </a:lnTo>
                <a:lnTo>
                  <a:pt x="11333" y="100597"/>
                </a:lnTo>
                <a:lnTo>
                  <a:pt x="13850" y="88056"/>
                </a:lnTo>
                <a:lnTo>
                  <a:pt x="16880" y="75202"/>
                </a:lnTo>
                <a:lnTo>
                  <a:pt x="20852" y="62200"/>
                </a:lnTo>
                <a:lnTo>
                  <a:pt x="26191" y="49387"/>
                </a:lnTo>
                <a:lnTo>
                  <a:pt x="33209" y="37231"/>
                </a:lnTo>
                <a:lnTo>
                  <a:pt x="42043" y="26255"/>
                </a:lnTo>
                <a:lnTo>
                  <a:pt x="52618" y="16935"/>
                </a:lnTo>
                <a:lnTo>
                  <a:pt x="64662" y="9614"/>
                </a:lnTo>
                <a:lnTo>
                  <a:pt x="77767" y="4436"/>
                </a:lnTo>
                <a:lnTo>
                  <a:pt x="91466" y="1321"/>
                </a:lnTo>
                <a:lnTo>
                  <a:pt x="105329" y="0"/>
                </a:lnTo>
                <a:lnTo>
                  <a:pt x="119028" y="73"/>
                </a:lnTo>
                <a:lnTo>
                  <a:pt x="132382" y="1107"/>
                </a:lnTo>
                <a:lnTo>
                  <a:pt x="145354" y="2729"/>
                </a:lnTo>
                <a:lnTo>
                  <a:pt x="158012" y="4699"/>
                </a:lnTo>
                <a:lnTo>
                  <a:pt x="170468" y="6948"/>
                </a:lnTo>
                <a:lnTo>
                  <a:pt x="182814" y="9572"/>
                </a:lnTo>
                <a:lnTo>
                  <a:pt x="195069" y="12786"/>
                </a:lnTo>
                <a:lnTo>
                  <a:pt x="207153" y="16848"/>
                </a:lnTo>
                <a:lnTo>
                  <a:pt x="218902" y="21989"/>
                </a:lnTo>
                <a:lnTo>
                  <a:pt x="230102" y="28343"/>
                </a:lnTo>
                <a:lnTo>
                  <a:pt x="240554" y="35922"/>
                </a:lnTo>
                <a:lnTo>
                  <a:pt x="250118" y="44613"/>
                </a:lnTo>
                <a:lnTo>
                  <a:pt x="258757" y="54220"/>
                </a:lnTo>
                <a:lnTo>
                  <a:pt x="266535" y="64525"/>
                </a:lnTo>
                <a:lnTo>
                  <a:pt x="273592" y="75339"/>
                </a:lnTo>
                <a:lnTo>
                  <a:pt x="280082" y="86552"/>
                </a:lnTo>
                <a:lnTo>
                  <a:pt x="286111" y="98145"/>
                </a:lnTo>
                <a:lnTo>
                  <a:pt x="291670" y="110172"/>
                </a:lnTo>
                <a:lnTo>
                  <a:pt x="296605" y="122707"/>
                </a:lnTo>
                <a:lnTo>
                  <a:pt x="300621" y="135793"/>
                </a:lnTo>
                <a:close/>
              </a:path>
            </a:pathLst>
          </a:custGeom>
          <a:solidFill xmlns:a="http://schemas.openxmlformats.org/drawingml/2006/main">
            <a:srgbClr val="E9F0F6"/>
          </a:solidFill>
          <a:ln xmlns:a="http://schemas.openxmlformats.org/drawingml/2006/main" w="7529">
            <a:solidFill>
              <a:srgbClr val="52779C"/>
            </a:solidFill>
            <a:prstDash val="solid"/>
          </a:ln>
        </p:spPr>
      </p:sp>
      <p:sp>
        <p:nvSpPr>
          <p:cNvPr id="34" name="tissue-cell-2-3-nucleus">
            <a:extLst xmlns:a="http://schemas.openxmlformats.org/drawingml/2006/main">
              <a:ext uri="{FF2B5EF4-FFF2-40B4-BE49-F238E27FC236}">
                <a16:creationId xmlns:a16="http://schemas.microsoft.com/office/drawing/2014/main" id="{FF950192-B911-4C64-8E4E-47D9C295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87" y="1258758"/>
            <a:ext cx="52798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5882">
            <a:solidFill>
              <a:srgbClr val="52779C"/>
            </a:solidFill>
            <a:prstDash val="solid"/>
          </a:ln>
        </p:spPr>
      </p:sp>
      <p:sp>
        <p:nvSpPr>
          <p:cNvPr id="35" name="tissue-cell-2-4-membrane">
            <a:extLst xmlns:a="http://schemas.openxmlformats.org/drawingml/2006/main">
              <a:ext uri="{FF2B5EF4-FFF2-40B4-BE49-F238E27FC236}">
                <a16:creationId xmlns:a16="http://schemas.microsoft.com/office/drawing/2014/main" id="{DEDF03BB-9561-4CF0-99F0-C4D97CE4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017" y="1389427"/>
            <a:ext cx="150509" cy="150345"/>
          </a:xfrm>
          <a:custGeom xmlns:a="http://schemas.openxmlformats.org/drawingml/2006/main">
            <a:pathLst>
              <a:path w="304651" h="304318">
                <a:moveTo>
                  <a:pt x="303593" y="149466"/>
                </a:moveTo>
                <a:lnTo>
                  <a:pt x="304651" y="163397"/>
                </a:lnTo>
                <a:lnTo>
                  <a:pt x="303601" y="177358"/>
                </a:lnTo>
                <a:lnTo>
                  <a:pt x="300262" y="190957"/>
                </a:lnTo>
                <a:lnTo>
                  <a:pt x="294672" y="203791"/>
                </a:lnTo>
                <a:lnTo>
                  <a:pt x="287085" y="215528"/>
                </a:lnTo>
                <a:lnTo>
                  <a:pt x="277935" y="225977"/>
                </a:lnTo>
                <a:lnTo>
                  <a:pt x="267756" y="235131"/>
                </a:lnTo>
                <a:lnTo>
                  <a:pt x="257080" y="243165"/>
                </a:lnTo>
                <a:lnTo>
                  <a:pt x="246340" y="250391"/>
                </a:lnTo>
                <a:lnTo>
                  <a:pt x="235799" y="257182"/>
                </a:lnTo>
                <a:lnTo>
                  <a:pt x="225522" y="263872"/>
                </a:lnTo>
                <a:lnTo>
                  <a:pt x="215391" y="270669"/>
                </a:lnTo>
                <a:lnTo>
                  <a:pt x="205163" y="277597"/>
                </a:lnTo>
                <a:lnTo>
                  <a:pt x="194555" y="284479"/>
                </a:lnTo>
                <a:lnTo>
                  <a:pt x="183329" y="290966"/>
                </a:lnTo>
                <a:lnTo>
                  <a:pt x="171359" y="296605"/>
                </a:lnTo>
                <a:lnTo>
                  <a:pt x="158666" y="300937"/>
                </a:lnTo>
                <a:lnTo>
                  <a:pt x="145414" y="303583"/>
                </a:lnTo>
                <a:lnTo>
                  <a:pt x="131866" y="304318"/>
                </a:lnTo>
                <a:lnTo>
                  <a:pt x="118324" y="303102"/>
                </a:lnTo>
                <a:lnTo>
                  <a:pt x="105061" y="300066"/>
                </a:lnTo>
                <a:lnTo>
                  <a:pt x="92274" y="295468"/>
                </a:lnTo>
                <a:lnTo>
                  <a:pt x="80061" y="289617"/>
                </a:lnTo>
                <a:lnTo>
                  <a:pt x="68436" y="282795"/>
                </a:lnTo>
                <a:lnTo>
                  <a:pt x="57371" y="275205"/>
                </a:lnTo>
                <a:lnTo>
                  <a:pt x="46844" y="266937"/>
                </a:lnTo>
                <a:lnTo>
                  <a:pt x="36900" y="257980"/>
                </a:lnTo>
                <a:lnTo>
                  <a:pt x="27671" y="248264"/>
                </a:lnTo>
                <a:lnTo>
                  <a:pt x="19381" y="237715"/>
                </a:lnTo>
                <a:lnTo>
                  <a:pt x="12306" y="226316"/>
                </a:lnTo>
                <a:lnTo>
                  <a:pt x="6713" y="214143"/>
                </a:lnTo>
                <a:lnTo>
                  <a:pt x="2792" y="201376"/>
                </a:lnTo>
                <a:lnTo>
                  <a:pt x="593" y="188271"/>
                </a:lnTo>
                <a:lnTo>
                  <a:pt x="0" y="175106"/>
                </a:lnTo>
                <a:lnTo>
                  <a:pt x="735" y="162124"/>
                </a:lnTo>
                <a:lnTo>
                  <a:pt x="2413" y="149466"/>
                </a:lnTo>
                <a:lnTo>
                  <a:pt x="4617" y="137148"/>
                </a:lnTo>
                <a:lnTo>
                  <a:pt x="6996" y="125059"/>
                </a:lnTo>
                <a:lnTo>
                  <a:pt x="9344" y="113006"/>
                </a:lnTo>
                <a:lnTo>
                  <a:pt x="11655" y="100781"/>
                </a:lnTo>
                <a:lnTo>
                  <a:pt x="14122" y="88243"/>
                </a:lnTo>
                <a:lnTo>
                  <a:pt x="17105" y="75386"/>
                </a:lnTo>
                <a:lnTo>
                  <a:pt x="21043" y="62380"/>
                </a:lnTo>
                <a:lnTo>
                  <a:pt x="26362" y="49569"/>
                </a:lnTo>
                <a:lnTo>
                  <a:pt x="33373" y="37425"/>
                </a:lnTo>
                <a:lnTo>
                  <a:pt x="42204" y="26465"/>
                </a:lnTo>
                <a:lnTo>
                  <a:pt x="52772" y="17159"/>
                </a:lnTo>
                <a:lnTo>
                  <a:pt x="64801" y="9839"/>
                </a:lnTo>
                <a:lnTo>
                  <a:pt x="77878" y="4635"/>
                </a:lnTo>
                <a:lnTo>
                  <a:pt x="91545" y="1462"/>
                </a:lnTo>
                <a:lnTo>
                  <a:pt x="105378" y="48"/>
                </a:lnTo>
                <a:lnTo>
                  <a:pt x="119059" y="0"/>
                </a:lnTo>
                <a:lnTo>
                  <a:pt x="132417" y="902"/>
                </a:lnTo>
                <a:lnTo>
                  <a:pt x="145414" y="2403"/>
                </a:lnTo>
                <a:lnTo>
                  <a:pt x="158116" y="4284"/>
                </a:lnTo>
                <a:lnTo>
                  <a:pt x="170623" y="6497"/>
                </a:lnTo>
                <a:lnTo>
                  <a:pt x="183012" y="9148"/>
                </a:lnTo>
                <a:lnTo>
                  <a:pt x="195283" y="12451"/>
                </a:lnTo>
                <a:lnTo>
                  <a:pt x="207345" y="16655"/>
                </a:lnTo>
                <a:lnTo>
                  <a:pt x="219027" y="21965"/>
                </a:lnTo>
                <a:lnTo>
                  <a:pt x="230121" y="28493"/>
                </a:lnTo>
                <a:lnTo>
                  <a:pt x="240439" y="36219"/>
                </a:lnTo>
                <a:lnTo>
                  <a:pt x="249867" y="45013"/>
                </a:lnTo>
                <a:lnTo>
                  <a:pt x="258389" y="54669"/>
                </a:lnTo>
                <a:lnTo>
                  <a:pt x="266094" y="64965"/>
                </a:lnTo>
                <a:lnTo>
                  <a:pt x="273136" y="75726"/>
                </a:lnTo>
                <a:lnTo>
                  <a:pt x="279675" y="86859"/>
                </a:lnTo>
                <a:lnTo>
                  <a:pt x="285809" y="98366"/>
                </a:lnTo>
                <a:lnTo>
                  <a:pt x="291511" y="110319"/>
                </a:lnTo>
                <a:lnTo>
                  <a:pt x="296605" y="122807"/>
                </a:lnTo>
                <a:lnTo>
                  <a:pt x="300770" y="135874"/>
                </a:lnTo>
                <a:close/>
              </a:path>
            </a:pathLst>
          </a:custGeom>
          <a:solidFill xmlns:a="http://schemas.openxmlformats.org/drawingml/2006/main">
            <a:srgbClr val="E9F0F6"/>
          </a:solidFill>
          <a:ln xmlns:a="http://schemas.openxmlformats.org/drawingml/2006/main" w="7529">
            <a:solidFill>
              <a:srgbClr val="52779C"/>
            </a:solidFill>
            <a:prstDash val="solid"/>
          </a:ln>
        </p:spPr>
      </p:sp>
      <p:sp>
        <p:nvSpPr>
          <p:cNvPr id="36" name="tissue-cell-2-4-nucleus">
            <a:extLst xmlns:a="http://schemas.openxmlformats.org/drawingml/2006/main">
              <a:ext uri="{FF2B5EF4-FFF2-40B4-BE49-F238E27FC236}">
                <a16:creationId xmlns:a16="http://schemas.microsoft.com/office/drawing/2014/main" id="{42EB2A94-6FC8-45BB-8A3C-1CBC6248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58" y="1432870"/>
            <a:ext cx="52798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5882">
            <a:solidFill>
              <a:srgbClr val="52779C"/>
            </a:solidFill>
            <a:prstDash val="solid"/>
          </a:ln>
        </p:spPr>
      </p:sp>
      <p:sp>
        <p:nvSpPr>
          <p:cNvPr id="37" name="tissue-cell-3-0-membrane">
            <a:extLst xmlns:a="http://schemas.openxmlformats.org/drawingml/2006/main">
              <a:ext uri="{FF2B5EF4-FFF2-40B4-BE49-F238E27FC236}">
                <a16:creationId xmlns:a16="http://schemas.microsoft.com/office/drawing/2014/main" id="{89E297DF-EC9D-4832-AE39-6AEA5783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76" y="668097"/>
            <a:ext cx="140462" cy="151722"/>
          </a:xfrm>
          <a:custGeom xmlns:a="http://schemas.openxmlformats.org/drawingml/2006/main">
            <a:pathLst>
              <a:path w="284315" h="307106">
                <a:moveTo>
                  <a:pt x="283998" y="148759"/>
                </a:moveTo>
                <a:lnTo>
                  <a:pt x="284315" y="162431"/>
                </a:lnTo>
                <a:lnTo>
                  <a:pt x="283064" y="176078"/>
                </a:lnTo>
                <a:lnTo>
                  <a:pt x="280045" y="189414"/>
                </a:lnTo>
                <a:lnTo>
                  <a:pt x="275195" y="202107"/>
                </a:lnTo>
                <a:lnTo>
                  <a:pt x="268622" y="213850"/>
                </a:lnTo>
                <a:lnTo>
                  <a:pt x="260598" y="224429"/>
                </a:lnTo>
                <a:lnTo>
                  <a:pt x="251518" y="233776"/>
                </a:lnTo>
                <a:lnTo>
                  <a:pt x="241825" y="241997"/>
                </a:lnTo>
                <a:lnTo>
                  <a:pt x="231920" y="249352"/>
                </a:lnTo>
                <a:lnTo>
                  <a:pt x="222090" y="256193"/>
                </a:lnTo>
                <a:lnTo>
                  <a:pt x="212455" y="262884"/>
                </a:lnTo>
                <a:lnTo>
                  <a:pt x="202962" y="269699"/>
                </a:lnTo>
                <a:lnTo>
                  <a:pt x="193416" y="276747"/>
                </a:lnTo>
                <a:lnTo>
                  <a:pt x="183547" y="283925"/>
                </a:lnTo>
                <a:lnTo>
                  <a:pt x="173095" y="290918"/>
                </a:lnTo>
                <a:lnTo>
                  <a:pt x="161888" y="297253"/>
                </a:lnTo>
                <a:lnTo>
                  <a:pt x="149895" y="302384"/>
                </a:lnTo>
                <a:lnTo>
                  <a:pt x="137245" y="305797"/>
                </a:lnTo>
                <a:lnTo>
                  <a:pt x="124206" y="307106"/>
                </a:lnTo>
                <a:lnTo>
                  <a:pt x="111129" y="306127"/>
                </a:lnTo>
                <a:lnTo>
                  <a:pt x="98373" y="302897"/>
                </a:lnTo>
                <a:lnTo>
                  <a:pt x="86238" y="297657"/>
                </a:lnTo>
                <a:lnTo>
                  <a:pt x="74913" y="290785"/>
                </a:lnTo>
                <a:lnTo>
                  <a:pt x="64457" y="282711"/>
                </a:lnTo>
                <a:lnTo>
                  <a:pt x="54820" y="273831"/>
                </a:lnTo>
                <a:lnTo>
                  <a:pt x="45889" y="264437"/>
                </a:lnTo>
                <a:lnTo>
                  <a:pt x="37548" y="254687"/>
                </a:lnTo>
                <a:lnTo>
                  <a:pt x="29738" y="244606"/>
                </a:lnTo>
                <a:lnTo>
                  <a:pt x="22492" y="234132"/>
                </a:lnTo>
                <a:lnTo>
                  <a:pt x="15940" y="223172"/>
                </a:lnTo>
                <a:lnTo>
                  <a:pt x="10284" y="211662"/>
                </a:lnTo>
                <a:lnTo>
                  <a:pt x="5742" y="199614"/>
                </a:lnTo>
                <a:lnTo>
                  <a:pt x="2486" y="187125"/>
                </a:lnTo>
                <a:lnTo>
                  <a:pt x="591" y="174361"/>
                </a:lnTo>
                <a:lnTo>
                  <a:pt x="0" y="161517"/>
                </a:lnTo>
                <a:lnTo>
                  <a:pt x="534" y="148759"/>
                </a:lnTo>
                <a:lnTo>
                  <a:pt x="1930" y="136181"/>
                </a:lnTo>
                <a:lnTo>
                  <a:pt x="3906" y="123779"/>
                </a:lnTo>
                <a:lnTo>
                  <a:pt x="6240" y="111463"/>
                </a:lnTo>
                <a:lnTo>
                  <a:pt x="8826" y="99098"/>
                </a:lnTo>
                <a:lnTo>
                  <a:pt x="11716" y="86566"/>
                </a:lnTo>
                <a:lnTo>
                  <a:pt x="15111" y="73838"/>
                </a:lnTo>
                <a:lnTo>
                  <a:pt x="19318" y="61026"/>
                </a:lnTo>
                <a:lnTo>
                  <a:pt x="24679" y="48402"/>
                </a:lnTo>
                <a:lnTo>
                  <a:pt x="31480" y="36385"/>
                </a:lnTo>
                <a:lnTo>
                  <a:pt x="39883" y="25476"/>
                </a:lnTo>
                <a:lnTo>
                  <a:pt x="49867" y="16172"/>
                </a:lnTo>
                <a:lnTo>
                  <a:pt x="61230" y="8869"/>
                </a:lnTo>
                <a:lnTo>
                  <a:pt x="73619" y="3785"/>
                </a:lnTo>
                <a:lnTo>
                  <a:pt x="86597" y="908"/>
                </a:lnTo>
                <a:lnTo>
                  <a:pt x="99729" y="0"/>
                </a:lnTo>
                <a:lnTo>
                  <a:pt x="112665" y="648"/>
                </a:lnTo>
                <a:lnTo>
                  <a:pt x="125189" y="2350"/>
                </a:lnTo>
                <a:lnTo>
                  <a:pt x="137245" y="4616"/>
                </a:lnTo>
                <a:lnTo>
                  <a:pt x="148912" y="7072"/>
                </a:lnTo>
                <a:lnTo>
                  <a:pt x="160352" y="9522"/>
                </a:lnTo>
                <a:lnTo>
                  <a:pt x="171739" y="11979"/>
                </a:lnTo>
                <a:lnTo>
                  <a:pt x="183189" y="14640"/>
                </a:lnTo>
                <a:lnTo>
                  <a:pt x="194710" y="17823"/>
                </a:lnTo>
                <a:lnTo>
                  <a:pt x="206189" y="21881"/>
                </a:lnTo>
                <a:lnTo>
                  <a:pt x="217408" y="27118"/>
                </a:lnTo>
                <a:lnTo>
                  <a:pt x="228096" y="33720"/>
                </a:lnTo>
                <a:lnTo>
                  <a:pt x="237988" y="41720"/>
                </a:lnTo>
                <a:lnTo>
                  <a:pt x="246884" y="51011"/>
                </a:lnTo>
                <a:lnTo>
                  <a:pt x="254692" y="61382"/>
                </a:lnTo>
                <a:lnTo>
                  <a:pt x="261428" y="72581"/>
                </a:lnTo>
                <a:lnTo>
                  <a:pt x="267190" y="84378"/>
                </a:lnTo>
                <a:lnTo>
                  <a:pt x="272111" y="96604"/>
                </a:lnTo>
                <a:lnTo>
                  <a:pt x="276292" y="109173"/>
                </a:lnTo>
                <a:lnTo>
                  <a:pt x="279749" y="122062"/>
                </a:lnTo>
                <a:lnTo>
                  <a:pt x="282385" y="135268"/>
                </a:lnTo>
                <a:close/>
              </a:path>
            </a:pathLst>
          </a:custGeom>
          <a:solidFill xmlns:a="http://schemas.openxmlformats.org/drawingml/2006/main">
            <a:srgbClr val="E9F0F6"/>
          </a:solidFill>
          <a:ln xmlns:a="http://schemas.openxmlformats.org/drawingml/2006/main" w="7529">
            <a:solidFill>
              <a:srgbClr val="52779C"/>
            </a:solidFill>
            <a:prstDash val="solid"/>
          </a:ln>
        </p:spPr>
      </p:sp>
      <p:sp>
        <p:nvSpPr>
          <p:cNvPr id="38" name="tissue-cell-3-0-nucleus">
            <a:extLst xmlns:a="http://schemas.openxmlformats.org/drawingml/2006/main">
              <a:ext uri="{FF2B5EF4-FFF2-40B4-BE49-F238E27FC236}">
                <a16:creationId xmlns:a16="http://schemas.microsoft.com/office/drawing/2014/main" id="{972869BB-ECED-4D0D-8C6A-8DF52E0C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287" y="711191"/>
            <a:ext cx="49692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5882">
            <a:solidFill>
              <a:srgbClr val="52779C"/>
            </a:solidFill>
            <a:prstDash val="solid"/>
          </a:ln>
        </p:spPr>
      </p:sp>
      <p:sp>
        <p:nvSpPr>
          <p:cNvPr id="39" name="tissue-cell-3-1-membrane">
            <a:extLst xmlns:a="http://schemas.openxmlformats.org/drawingml/2006/main">
              <a:ext uri="{FF2B5EF4-FFF2-40B4-BE49-F238E27FC236}">
                <a16:creationId xmlns:a16="http://schemas.microsoft.com/office/drawing/2014/main" id="{A0D1B9EF-AF09-4BC2-B535-1AB1D159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008" y="842274"/>
            <a:ext cx="140339" cy="151822"/>
          </a:xfrm>
          <a:custGeom xmlns:a="http://schemas.openxmlformats.org/drawingml/2006/main">
            <a:pathLst>
              <a:path w="284065" h="307308">
                <a:moveTo>
                  <a:pt x="283848" y="148628"/>
                </a:moveTo>
                <a:lnTo>
                  <a:pt x="284065" y="162258"/>
                </a:lnTo>
                <a:lnTo>
                  <a:pt x="282775" y="175856"/>
                </a:lnTo>
                <a:lnTo>
                  <a:pt x="279777" y="189151"/>
                </a:lnTo>
                <a:lnTo>
                  <a:pt x="274997" y="201824"/>
                </a:lnTo>
                <a:lnTo>
                  <a:pt x="268522" y="213573"/>
                </a:lnTo>
                <a:lnTo>
                  <a:pt x="260607" y="224183"/>
                </a:lnTo>
                <a:lnTo>
                  <a:pt x="251626" y="233579"/>
                </a:lnTo>
                <a:lnTo>
                  <a:pt x="242009" y="241856"/>
                </a:lnTo>
                <a:lnTo>
                  <a:pt x="232152" y="249260"/>
                </a:lnTo>
                <a:lnTo>
                  <a:pt x="222344" y="256137"/>
                </a:lnTo>
                <a:lnTo>
                  <a:pt x="212711" y="262846"/>
                </a:lnTo>
                <a:lnTo>
                  <a:pt x="203211" y="269667"/>
                </a:lnTo>
                <a:lnTo>
                  <a:pt x="193655" y="276717"/>
                </a:lnTo>
                <a:lnTo>
                  <a:pt x="183779" y="283902"/>
                </a:lnTo>
                <a:lnTo>
                  <a:pt x="173323" y="290918"/>
                </a:lnTo>
                <a:lnTo>
                  <a:pt x="162111" y="297294"/>
                </a:lnTo>
                <a:lnTo>
                  <a:pt x="150108" y="302480"/>
                </a:lnTo>
                <a:lnTo>
                  <a:pt x="137439" y="305951"/>
                </a:lnTo>
                <a:lnTo>
                  <a:pt x="124373" y="307308"/>
                </a:lnTo>
                <a:lnTo>
                  <a:pt x="111265" y="306349"/>
                </a:lnTo>
                <a:lnTo>
                  <a:pt x="98483" y="303100"/>
                </a:lnTo>
                <a:lnTo>
                  <a:pt x="86340" y="297795"/>
                </a:lnTo>
                <a:lnTo>
                  <a:pt x="75035" y="290817"/>
                </a:lnTo>
                <a:lnTo>
                  <a:pt x="64635" y="282610"/>
                </a:lnTo>
                <a:lnTo>
                  <a:pt x="55087" y="273589"/>
                </a:lnTo>
                <a:lnTo>
                  <a:pt x="46270" y="264070"/>
                </a:lnTo>
                <a:lnTo>
                  <a:pt x="38050" y="254229"/>
                </a:lnTo>
                <a:lnTo>
                  <a:pt x="30346" y="244106"/>
                </a:lnTo>
                <a:lnTo>
                  <a:pt x="23167" y="233643"/>
                </a:lnTo>
                <a:lnTo>
                  <a:pt x="16628" y="222738"/>
                </a:lnTo>
                <a:lnTo>
                  <a:pt x="10920" y="211312"/>
                </a:lnTo>
                <a:lnTo>
                  <a:pt x="6265" y="199355"/>
                </a:lnTo>
                <a:lnTo>
                  <a:pt x="2850" y="186945"/>
                </a:lnTo>
                <a:lnTo>
                  <a:pt x="771" y="174232"/>
                </a:lnTo>
                <a:lnTo>
                  <a:pt x="0" y="161404"/>
                </a:lnTo>
                <a:lnTo>
                  <a:pt x="384" y="148628"/>
                </a:lnTo>
                <a:lnTo>
                  <a:pt x="1680" y="136008"/>
                </a:lnTo>
                <a:lnTo>
                  <a:pt x="3618" y="123557"/>
                </a:lnTo>
                <a:lnTo>
                  <a:pt x="5972" y="111200"/>
                </a:lnTo>
                <a:lnTo>
                  <a:pt x="8628" y="98814"/>
                </a:lnTo>
                <a:lnTo>
                  <a:pt x="11617" y="86289"/>
                </a:lnTo>
                <a:lnTo>
                  <a:pt x="15120" y="73593"/>
                </a:lnTo>
                <a:lnTo>
                  <a:pt x="19426" y="60829"/>
                </a:lnTo>
                <a:lnTo>
                  <a:pt x="24863" y="48261"/>
                </a:lnTo>
                <a:lnTo>
                  <a:pt x="31713" y="36293"/>
                </a:lnTo>
                <a:lnTo>
                  <a:pt x="40137" y="25419"/>
                </a:lnTo>
                <a:lnTo>
                  <a:pt x="50123" y="16134"/>
                </a:lnTo>
                <a:lnTo>
                  <a:pt x="61479" y="8837"/>
                </a:lnTo>
                <a:lnTo>
                  <a:pt x="73858" y="3755"/>
                </a:lnTo>
                <a:lnTo>
                  <a:pt x="86829" y="885"/>
                </a:lnTo>
                <a:lnTo>
                  <a:pt x="99957" y="0"/>
                </a:lnTo>
                <a:lnTo>
                  <a:pt x="112888" y="689"/>
                </a:lnTo>
                <a:lnTo>
                  <a:pt x="125402" y="2446"/>
                </a:lnTo>
                <a:lnTo>
                  <a:pt x="137439" y="4771"/>
                </a:lnTo>
                <a:lnTo>
                  <a:pt x="149079" y="7274"/>
                </a:lnTo>
                <a:lnTo>
                  <a:pt x="160488" y="9744"/>
                </a:lnTo>
                <a:lnTo>
                  <a:pt x="171849" y="12182"/>
                </a:lnTo>
                <a:lnTo>
                  <a:pt x="183291" y="14778"/>
                </a:lnTo>
                <a:lnTo>
                  <a:pt x="194833" y="17855"/>
                </a:lnTo>
                <a:lnTo>
                  <a:pt x="206367" y="21780"/>
                </a:lnTo>
                <a:lnTo>
                  <a:pt x="217676" y="26876"/>
                </a:lnTo>
                <a:lnTo>
                  <a:pt x="228477" y="33352"/>
                </a:lnTo>
                <a:lnTo>
                  <a:pt x="238489" y="41262"/>
                </a:lnTo>
                <a:lnTo>
                  <a:pt x="247492" y="50511"/>
                </a:lnTo>
                <a:lnTo>
                  <a:pt x="255367" y="60893"/>
                </a:lnTo>
                <a:lnTo>
                  <a:pt x="262115" y="72147"/>
                </a:lnTo>
                <a:lnTo>
                  <a:pt x="267826" y="84027"/>
                </a:lnTo>
                <a:lnTo>
                  <a:pt x="272634" y="96345"/>
                </a:lnTo>
                <a:lnTo>
                  <a:pt x="276655" y="108993"/>
                </a:lnTo>
                <a:lnTo>
                  <a:pt x="279929" y="121933"/>
                </a:lnTo>
                <a:lnTo>
                  <a:pt x="282385" y="135154"/>
                </a:lnTo>
                <a:close/>
              </a:path>
            </a:pathLst>
          </a:custGeom>
          <a:solidFill xmlns:a="http://schemas.openxmlformats.org/drawingml/2006/main">
            <a:srgbClr val="E9F0F6"/>
          </a:solidFill>
          <a:ln xmlns:a="http://schemas.openxmlformats.org/drawingml/2006/main" w="7529">
            <a:solidFill>
              <a:srgbClr val="52779C"/>
            </a:solidFill>
            <a:prstDash val="solid"/>
          </a:ln>
        </p:spPr>
      </p:sp>
      <p:sp>
        <p:nvSpPr>
          <p:cNvPr id="40" name="tissue-cell-3-1-nucleus">
            <a:extLst xmlns:a="http://schemas.openxmlformats.org/drawingml/2006/main">
              <a:ext uri="{FF2B5EF4-FFF2-40B4-BE49-F238E27FC236}">
                <a16:creationId xmlns:a16="http://schemas.microsoft.com/office/drawing/2014/main" id="{8CC47121-C9DE-439C-A1D4-4B51FC60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15" y="885302"/>
            <a:ext cx="49692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5882">
            <a:solidFill>
              <a:srgbClr val="52779C"/>
            </a:solidFill>
            <a:prstDash val="solid"/>
          </a:ln>
        </p:spPr>
      </p:sp>
      <p:sp>
        <p:nvSpPr>
          <p:cNvPr id="41" name="tissue-cell-3-2-membrane">
            <a:extLst xmlns:a="http://schemas.openxmlformats.org/drawingml/2006/main">
              <a:ext uri="{FF2B5EF4-FFF2-40B4-BE49-F238E27FC236}">
                <a16:creationId xmlns:a16="http://schemas.microsoft.com/office/drawing/2014/main" id="{426F8DC5-0F92-4952-8714-0176C800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76" y="1016320"/>
            <a:ext cx="140462" cy="151722"/>
          </a:xfrm>
          <a:custGeom xmlns:a="http://schemas.openxmlformats.org/drawingml/2006/main">
            <a:pathLst>
              <a:path w="284315" h="307106">
                <a:moveTo>
                  <a:pt x="283998" y="148759"/>
                </a:moveTo>
                <a:lnTo>
                  <a:pt x="284315" y="162431"/>
                </a:lnTo>
                <a:lnTo>
                  <a:pt x="283064" y="176078"/>
                </a:lnTo>
                <a:lnTo>
                  <a:pt x="280045" y="189414"/>
                </a:lnTo>
                <a:lnTo>
                  <a:pt x="275195" y="202107"/>
                </a:lnTo>
                <a:lnTo>
                  <a:pt x="268622" y="213850"/>
                </a:lnTo>
                <a:lnTo>
                  <a:pt x="260598" y="224429"/>
                </a:lnTo>
                <a:lnTo>
                  <a:pt x="251518" y="233776"/>
                </a:lnTo>
                <a:lnTo>
                  <a:pt x="241825" y="241997"/>
                </a:lnTo>
                <a:lnTo>
                  <a:pt x="231920" y="249352"/>
                </a:lnTo>
                <a:lnTo>
                  <a:pt x="222090" y="256193"/>
                </a:lnTo>
                <a:lnTo>
                  <a:pt x="212455" y="262884"/>
                </a:lnTo>
                <a:lnTo>
                  <a:pt x="202962" y="269699"/>
                </a:lnTo>
                <a:lnTo>
                  <a:pt x="193416" y="276747"/>
                </a:lnTo>
                <a:lnTo>
                  <a:pt x="183547" y="283925"/>
                </a:lnTo>
                <a:lnTo>
                  <a:pt x="173095" y="290918"/>
                </a:lnTo>
                <a:lnTo>
                  <a:pt x="161888" y="297253"/>
                </a:lnTo>
                <a:lnTo>
                  <a:pt x="149895" y="302384"/>
                </a:lnTo>
                <a:lnTo>
                  <a:pt x="137245" y="305797"/>
                </a:lnTo>
                <a:lnTo>
                  <a:pt x="124206" y="307106"/>
                </a:lnTo>
                <a:lnTo>
                  <a:pt x="111129" y="306127"/>
                </a:lnTo>
                <a:lnTo>
                  <a:pt x="98373" y="302897"/>
                </a:lnTo>
                <a:lnTo>
                  <a:pt x="86238" y="297657"/>
                </a:lnTo>
                <a:lnTo>
                  <a:pt x="74913" y="290785"/>
                </a:lnTo>
                <a:lnTo>
                  <a:pt x="64457" y="282711"/>
                </a:lnTo>
                <a:lnTo>
                  <a:pt x="54820" y="273831"/>
                </a:lnTo>
                <a:lnTo>
                  <a:pt x="45889" y="264437"/>
                </a:lnTo>
                <a:lnTo>
                  <a:pt x="37548" y="254687"/>
                </a:lnTo>
                <a:lnTo>
                  <a:pt x="29738" y="244606"/>
                </a:lnTo>
                <a:lnTo>
                  <a:pt x="22492" y="234132"/>
                </a:lnTo>
                <a:lnTo>
                  <a:pt x="15940" y="223172"/>
                </a:lnTo>
                <a:lnTo>
                  <a:pt x="10284" y="211662"/>
                </a:lnTo>
                <a:lnTo>
                  <a:pt x="5742" y="199614"/>
                </a:lnTo>
                <a:lnTo>
                  <a:pt x="2486" y="187125"/>
                </a:lnTo>
                <a:lnTo>
                  <a:pt x="591" y="174361"/>
                </a:lnTo>
                <a:lnTo>
                  <a:pt x="0" y="161517"/>
                </a:lnTo>
                <a:lnTo>
                  <a:pt x="534" y="148759"/>
                </a:lnTo>
                <a:lnTo>
                  <a:pt x="1930" y="136181"/>
                </a:lnTo>
                <a:lnTo>
                  <a:pt x="3906" y="123779"/>
                </a:lnTo>
                <a:lnTo>
                  <a:pt x="6240" y="111463"/>
                </a:lnTo>
                <a:lnTo>
                  <a:pt x="8826" y="99098"/>
                </a:lnTo>
                <a:lnTo>
                  <a:pt x="11716" y="86566"/>
                </a:lnTo>
                <a:lnTo>
                  <a:pt x="15111" y="73838"/>
                </a:lnTo>
                <a:lnTo>
                  <a:pt x="19318" y="61026"/>
                </a:lnTo>
                <a:lnTo>
                  <a:pt x="24679" y="48402"/>
                </a:lnTo>
                <a:lnTo>
                  <a:pt x="31480" y="36385"/>
                </a:lnTo>
                <a:lnTo>
                  <a:pt x="39883" y="25476"/>
                </a:lnTo>
                <a:lnTo>
                  <a:pt x="49867" y="16172"/>
                </a:lnTo>
                <a:lnTo>
                  <a:pt x="61230" y="8869"/>
                </a:lnTo>
                <a:lnTo>
                  <a:pt x="73619" y="3785"/>
                </a:lnTo>
                <a:lnTo>
                  <a:pt x="86597" y="908"/>
                </a:lnTo>
                <a:lnTo>
                  <a:pt x="99729" y="0"/>
                </a:lnTo>
                <a:lnTo>
                  <a:pt x="112665" y="648"/>
                </a:lnTo>
                <a:lnTo>
                  <a:pt x="125189" y="2350"/>
                </a:lnTo>
                <a:lnTo>
                  <a:pt x="137245" y="4616"/>
                </a:lnTo>
                <a:lnTo>
                  <a:pt x="148912" y="7072"/>
                </a:lnTo>
                <a:lnTo>
                  <a:pt x="160352" y="9522"/>
                </a:lnTo>
                <a:lnTo>
                  <a:pt x="171739" y="11979"/>
                </a:lnTo>
                <a:lnTo>
                  <a:pt x="183189" y="14640"/>
                </a:lnTo>
                <a:lnTo>
                  <a:pt x="194710" y="17823"/>
                </a:lnTo>
                <a:lnTo>
                  <a:pt x="206189" y="21881"/>
                </a:lnTo>
                <a:lnTo>
                  <a:pt x="217408" y="27118"/>
                </a:lnTo>
                <a:lnTo>
                  <a:pt x="228096" y="33720"/>
                </a:lnTo>
                <a:lnTo>
                  <a:pt x="237988" y="41720"/>
                </a:lnTo>
                <a:lnTo>
                  <a:pt x="246884" y="51011"/>
                </a:lnTo>
                <a:lnTo>
                  <a:pt x="254692" y="61382"/>
                </a:lnTo>
                <a:lnTo>
                  <a:pt x="261428" y="72581"/>
                </a:lnTo>
                <a:lnTo>
                  <a:pt x="267190" y="84378"/>
                </a:lnTo>
                <a:lnTo>
                  <a:pt x="272111" y="96604"/>
                </a:lnTo>
                <a:lnTo>
                  <a:pt x="276292" y="109173"/>
                </a:lnTo>
                <a:lnTo>
                  <a:pt x="279749" y="122062"/>
                </a:lnTo>
                <a:lnTo>
                  <a:pt x="282385" y="135268"/>
                </a:lnTo>
                <a:close/>
              </a:path>
            </a:pathLst>
          </a:custGeom>
          <a:solidFill xmlns:a="http://schemas.openxmlformats.org/drawingml/2006/main">
            <a:srgbClr val="E9F0F6"/>
          </a:solidFill>
          <a:ln xmlns:a="http://schemas.openxmlformats.org/drawingml/2006/main" w="7529">
            <a:solidFill>
              <a:srgbClr val="52779C"/>
            </a:solidFill>
            <a:prstDash val="solid"/>
          </a:ln>
        </p:spPr>
      </p:sp>
      <p:sp>
        <p:nvSpPr>
          <p:cNvPr id="42" name="tissue-cell-3-2-nucleus">
            <a:extLst xmlns:a="http://schemas.openxmlformats.org/drawingml/2006/main">
              <a:ext uri="{FF2B5EF4-FFF2-40B4-BE49-F238E27FC236}">
                <a16:creationId xmlns:a16="http://schemas.microsoft.com/office/drawing/2014/main" id="{0CFEE048-749F-4D28-8566-F10DC8B1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287" y="1059414"/>
            <a:ext cx="49692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5882">
            <a:solidFill>
              <a:srgbClr val="52779C"/>
            </a:solidFill>
            <a:prstDash val="solid"/>
          </a:ln>
        </p:spPr>
      </p:sp>
      <p:sp>
        <p:nvSpPr>
          <p:cNvPr id="43" name="tissue-cell-3-3-membrane">
            <a:extLst xmlns:a="http://schemas.openxmlformats.org/drawingml/2006/main">
              <a:ext uri="{FF2B5EF4-FFF2-40B4-BE49-F238E27FC236}">
                <a16:creationId xmlns:a16="http://schemas.microsoft.com/office/drawing/2014/main" id="{F802325D-3A5F-47A1-B632-B26A415D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008" y="1190496"/>
            <a:ext cx="140339" cy="151822"/>
          </a:xfrm>
          <a:custGeom xmlns:a="http://schemas.openxmlformats.org/drawingml/2006/main">
            <a:pathLst>
              <a:path w="284065" h="307308">
                <a:moveTo>
                  <a:pt x="283848" y="148628"/>
                </a:moveTo>
                <a:lnTo>
                  <a:pt x="284065" y="162258"/>
                </a:lnTo>
                <a:lnTo>
                  <a:pt x="282775" y="175856"/>
                </a:lnTo>
                <a:lnTo>
                  <a:pt x="279777" y="189151"/>
                </a:lnTo>
                <a:lnTo>
                  <a:pt x="274997" y="201824"/>
                </a:lnTo>
                <a:lnTo>
                  <a:pt x="268522" y="213573"/>
                </a:lnTo>
                <a:lnTo>
                  <a:pt x="260607" y="224183"/>
                </a:lnTo>
                <a:lnTo>
                  <a:pt x="251626" y="233579"/>
                </a:lnTo>
                <a:lnTo>
                  <a:pt x="242009" y="241856"/>
                </a:lnTo>
                <a:lnTo>
                  <a:pt x="232152" y="249260"/>
                </a:lnTo>
                <a:lnTo>
                  <a:pt x="222344" y="256137"/>
                </a:lnTo>
                <a:lnTo>
                  <a:pt x="212711" y="262846"/>
                </a:lnTo>
                <a:lnTo>
                  <a:pt x="203211" y="269667"/>
                </a:lnTo>
                <a:lnTo>
                  <a:pt x="193655" y="276717"/>
                </a:lnTo>
                <a:lnTo>
                  <a:pt x="183779" y="283902"/>
                </a:lnTo>
                <a:lnTo>
                  <a:pt x="173323" y="290918"/>
                </a:lnTo>
                <a:lnTo>
                  <a:pt x="162111" y="297294"/>
                </a:lnTo>
                <a:lnTo>
                  <a:pt x="150108" y="302480"/>
                </a:lnTo>
                <a:lnTo>
                  <a:pt x="137439" y="305951"/>
                </a:lnTo>
                <a:lnTo>
                  <a:pt x="124373" y="307308"/>
                </a:lnTo>
                <a:lnTo>
                  <a:pt x="111265" y="306349"/>
                </a:lnTo>
                <a:lnTo>
                  <a:pt x="98483" y="303100"/>
                </a:lnTo>
                <a:lnTo>
                  <a:pt x="86340" y="297795"/>
                </a:lnTo>
                <a:lnTo>
                  <a:pt x="75035" y="290817"/>
                </a:lnTo>
                <a:lnTo>
                  <a:pt x="64635" y="282610"/>
                </a:lnTo>
                <a:lnTo>
                  <a:pt x="55087" y="273589"/>
                </a:lnTo>
                <a:lnTo>
                  <a:pt x="46270" y="264070"/>
                </a:lnTo>
                <a:lnTo>
                  <a:pt x="38050" y="254229"/>
                </a:lnTo>
                <a:lnTo>
                  <a:pt x="30346" y="244106"/>
                </a:lnTo>
                <a:lnTo>
                  <a:pt x="23167" y="233643"/>
                </a:lnTo>
                <a:lnTo>
                  <a:pt x="16628" y="222738"/>
                </a:lnTo>
                <a:lnTo>
                  <a:pt x="10920" y="211312"/>
                </a:lnTo>
                <a:lnTo>
                  <a:pt x="6265" y="199355"/>
                </a:lnTo>
                <a:lnTo>
                  <a:pt x="2850" y="186945"/>
                </a:lnTo>
                <a:lnTo>
                  <a:pt x="771" y="174232"/>
                </a:lnTo>
                <a:lnTo>
                  <a:pt x="0" y="161404"/>
                </a:lnTo>
                <a:lnTo>
                  <a:pt x="384" y="148628"/>
                </a:lnTo>
                <a:lnTo>
                  <a:pt x="1680" y="136008"/>
                </a:lnTo>
                <a:lnTo>
                  <a:pt x="3618" y="123557"/>
                </a:lnTo>
                <a:lnTo>
                  <a:pt x="5972" y="111200"/>
                </a:lnTo>
                <a:lnTo>
                  <a:pt x="8628" y="98814"/>
                </a:lnTo>
                <a:lnTo>
                  <a:pt x="11617" y="86289"/>
                </a:lnTo>
                <a:lnTo>
                  <a:pt x="15120" y="73593"/>
                </a:lnTo>
                <a:lnTo>
                  <a:pt x="19426" y="60829"/>
                </a:lnTo>
                <a:lnTo>
                  <a:pt x="24863" y="48261"/>
                </a:lnTo>
                <a:lnTo>
                  <a:pt x="31713" y="36293"/>
                </a:lnTo>
                <a:lnTo>
                  <a:pt x="40137" y="25419"/>
                </a:lnTo>
                <a:lnTo>
                  <a:pt x="50123" y="16134"/>
                </a:lnTo>
                <a:lnTo>
                  <a:pt x="61479" y="8837"/>
                </a:lnTo>
                <a:lnTo>
                  <a:pt x="73858" y="3755"/>
                </a:lnTo>
                <a:lnTo>
                  <a:pt x="86829" y="885"/>
                </a:lnTo>
                <a:lnTo>
                  <a:pt x="99957" y="0"/>
                </a:lnTo>
                <a:lnTo>
                  <a:pt x="112888" y="689"/>
                </a:lnTo>
                <a:lnTo>
                  <a:pt x="125402" y="2446"/>
                </a:lnTo>
                <a:lnTo>
                  <a:pt x="137439" y="4771"/>
                </a:lnTo>
                <a:lnTo>
                  <a:pt x="149079" y="7274"/>
                </a:lnTo>
                <a:lnTo>
                  <a:pt x="160488" y="9744"/>
                </a:lnTo>
                <a:lnTo>
                  <a:pt x="171849" y="12182"/>
                </a:lnTo>
                <a:lnTo>
                  <a:pt x="183291" y="14778"/>
                </a:lnTo>
                <a:lnTo>
                  <a:pt x="194833" y="17855"/>
                </a:lnTo>
                <a:lnTo>
                  <a:pt x="206367" y="21780"/>
                </a:lnTo>
                <a:lnTo>
                  <a:pt x="217676" y="26876"/>
                </a:lnTo>
                <a:lnTo>
                  <a:pt x="228477" y="33352"/>
                </a:lnTo>
                <a:lnTo>
                  <a:pt x="238489" y="41262"/>
                </a:lnTo>
                <a:lnTo>
                  <a:pt x="247492" y="50511"/>
                </a:lnTo>
                <a:lnTo>
                  <a:pt x="255367" y="60893"/>
                </a:lnTo>
                <a:lnTo>
                  <a:pt x="262115" y="72147"/>
                </a:lnTo>
                <a:lnTo>
                  <a:pt x="267826" y="84027"/>
                </a:lnTo>
                <a:lnTo>
                  <a:pt x="272634" y="96345"/>
                </a:lnTo>
                <a:lnTo>
                  <a:pt x="276655" y="108993"/>
                </a:lnTo>
                <a:lnTo>
                  <a:pt x="279929" y="121933"/>
                </a:lnTo>
                <a:lnTo>
                  <a:pt x="282385" y="135154"/>
                </a:lnTo>
                <a:close/>
              </a:path>
            </a:pathLst>
          </a:custGeom>
          <a:solidFill xmlns:a="http://schemas.openxmlformats.org/drawingml/2006/main">
            <a:srgbClr val="E9F0F6"/>
          </a:solidFill>
          <a:ln xmlns:a="http://schemas.openxmlformats.org/drawingml/2006/main" w="7529">
            <a:solidFill>
              <a:srgbClr val="52779C"/>
            </a:solidFill>
            <a:prstDash val="solid"/>
          </a:ln>
        </p:spPr>
      </p:sp>
      <p:sp>
        <p:nvSpPr>
          <p:cNvPr id="44" name="tissue-cell-3-3-nucleus">
            <a:extLst xmlns:a="http://schemas.openxmlformats.org/drawingml/2006/main">
              <a:ext uri="{FF2B5EF4-FFF2-40B4-BE49-F238E27FC236}">
                <a16:creationId xmlns:a16="http://schemas.microsoft.com/office/drawing/2014/main" id="{DFB102F6-3106-42EC-9FCE-D4EC77FD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15" y="1233525"/>
            <a:ext cx="49692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5882">
            <a:solidFill>
              <a:srgbClr val="52779C"/>
            </a:solidFill>
            <a:prstDash val="solid"/>
          </a:ln>
        </p:spPr>
      </p:sp>
      <p:sp>
        <p:nvSpPr>
          <p:cNvPr id="45" name="tissue-cell-3-4-membrane">
            <a:extLst xmlns:a="http://schemas.openxmlformats.org/drawingml/2006/main">
              <a:ext uri="{FF2B5EF4-FFF2-40B4-BE49-F238E27FC236}">
                <a16:creationId xmlns:a16="http://schemas.microsoft.com/office/drawing/2014/main" id="{4074E556-E552-4E33-97CF-1427B119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76" y="1364543"/>
            <a:ext cx="140462" cy="151722"/>
          </a:xfrm>
          <a:custGeom xmlns:a="http://schemas.openxmlformats.org/drawingml/2006/main">
            <a:pathLst>
              <a:path w="284315" h="307106">
                <a:moveTo>
                  <a:pt x="283998" y="148759"/>
                </a:moveTo>
                <a:lnTo>
                  <a:pt x="284315" y="162431"/>
                </a:lnTo>
                <a:lnTo>
                  <a:pt x="283064" y="176078"/>
                </a:lnTo>
                <a:lnTo>
                  <a:pt x="280045" y="189414"/>
                </a:lnTo>
                <a:lnTo>
                  <a:pt x="275195" y="202107"/>
                </a:lnTo>
                <a:lnTo>
                  <a:pt x="268622" y="213850"/>
                </a:lnTo>
                <a:lnTo>
                  <a:pt x="260598" y="224429"/>
                </a:lnTo>
                <a:lnTo>
                  <a:pt x="251518" y="233776"/>
                </a:lnTo>
                <a:lnTo>
                  <a:pt x="241825" y="241997"/>
                </a:lnTo>
                <a:lnTo>
                  <a:pt x="231920" y="249352"/>
                </a:lnTo>
                <a:lnTo>
                  <a:pt x="222090" y="256193"/>
                </a:lnTo>
                <a:lnTo>
                  <a:pt x="212455" y="262884"/>
                </a:lnTo>
                <a:lnTo>
                  <a:pt x="202962" y="269699"/>
                </a:lnTo>
                <a:lnTo>
                  <a:pt x="193416" y="276747"/>
                </a:lnTo>
                <a:lnTo>
                  <a:pt x="183547" y="283925"/>
                </a:lnTo>
                <a:lnTo>
                  <a:pt x="173095" y="290918"/>
                </a:lnTo>
                <a:lnTo>
                  <a:pt x="161888" y="297253"/>
                </a:lnTo>
                <a:lnTo>
                  <a:pt x="149895" y="302384"/>
                </a:lnTo>
                <a:lnTo>
                  <a:pt x="137245" y="305797"/>
                </a:lnTo>
                <a:lnTo>
                  <a:pt x="124206" y="307106"/>
                </a:lnTo>
                <a:lnTo>
                  <a:pt x="111129" y="306127"/>
                </a:lnTo>
                <a:lnTo>
                  <a:pt x="98373" y="302897"/>
                </a:lnTo>
                <a:lnTo>
                  <a:pt x="86238" y="297657"/>
                </a:lnTo>
                <a:lnTo>
                  <a:pt x="74913" y="290785"/>
                </a:lnTo>
                <a:lnTo>
                  <a:pt x="64457" y="282711"/>
                </a:lnTo>
                <a:lnTo>
                  <a:pt x="54820" y="273831"/>
                </a:lnTo>
                <a:lnTo>
                  <a:pt x="45889" y="264437"/>
                </a:lnTo>
                <a:lnTo>
                  <a:pt x="37548" y="254687"/>
                </a:lnTo>
                <a:lnTo>
                  <a:pt x="29738" y="244606"/>
                </a:lnTo>
                <a:lnTo>
                  <a:pt x="22492" y="234132"/>
                </a:lnTo>
                <a:lnTo>
                  <a:pt x="15940" y="223172"/>
                </a:lnTo>
                <a:lnTo>
                  <a:pt x="10284" y="211662"/>
                </a:lnTo>
                <a:lnTo>
                  <a:pt x="5742" y="199614"/>
                </a:lnTo>
                <a:lnTo>
                  <a:pt x="2486" y="187125"/>
                </a:lnTo>
                <a:lnTo>
                  <a:pt x="591" y="174361"/>
                </a:lnTo>
                <a:lnTo>
                  <a:pt x="0" y="161517"/>
                </a:lnTo>
                <a:lnTo>
                  <a:pt x="534" y="148759"/>
                </a:lnTo>
                <a:lnTo>
                  <a:pt x="1930" y="136181"/>
                </a:lnTo>
                <a:lnTo>
                  <a:pt x="3906" y="123779"/>
                </a:lnTo>
                <a:lnTo>
                  <a:pt x="6240" y="111463"/>
                </a:lnTo>
                <a:lnTo>
                  <a:pt x="8826" y="99098"/>
                </a:lnTo>
                <a:lnTo>
                  <a:pt x="11716" y="86566"/>
                </a:lnTo>
                <a:lnTo>
                  <a:pt x="15111" y="73838"/>
                </a:lnTo>
                <a:lnTo>
                  <a:pt x="19318" y="61026"/>
                </a:lnTo>
                <a:lnTo>
                  <a:pt x="24679" y="48402"/>
                </a:lnTo>
                <a:lnTo>
                  <a:pt x="31480" y="36385"/>
                </a:lnTo>
                <a:lnTo>
                  <a:pt x="39883" y="25476"/>
                </a:lnTo>
                <a:lnTo>
                  <a:pt x="49867" y="16172"/>
                </a:lnTo>
                <a:lnTo>
                  <a:pt x="61230" y="8869"/>
                </a:lnTo>
                <a:lnTo>
                  <a:pt x="73619" y="3785"/>
                </a:lnTo>
                <a:lnTo>
                  <a:pt x="86597" y="908"/>
                </a:lnTo>
                <a:lnTo>
                  <a:pt x="99729" y="0"/>
                </a:lnTo>
                <a:lnTo>
                  <a:pt x="112665" y="648"/>
                </a:lnTo>
                <a:lnTo>
                  <a:pt x="125189" y="2350"/>
                </a:lnTo>
                <a:lnTo>
                  <a:pt x="137245" y="4616"/>
                </a:lnTo>
                <a:lnTo>
                  <a:pt x="148912" y="7072"/>
                </a:lnTo>
                <a:lnTo>
                  <a:pt x="160352" y="9522"/>
                </a:lnTo>
                <a:lnTo>
                  <a:pt x="171739" y="11979"/>
                </a:lnTo>
                <a:lnTo>
                  <a:pt x="183189" y="14640"/>
                </a:lnTo>
                <a:lnTo>
                  <a:pt x="194710" y="17823"/>
                </a:lnTo>
                <a:lnTo>
                  <a:pt x="206189" y="21881"/>
                </a:lnTo>
                <a:lnTo>
                  <a:pt x="217408" y="27118"/>
                </a:lnTo>
                <a:lnTo>
                  <a:pt x="228096" y="33720"/>
                </a:lnTo>
                <a:lnTo>
                  <a:pt x="237988" y="41720"/>
                </a:lnTo>
                <a:lnTo>
                  <a:pt x="246884" y="51011"/>
                </a:lnTo>
                <a:lnTo>
                  <a:pt x="254692" y="61382"/>
                </a:lnTo>
                <a:lnTo>
                  <a:pt x="261428" y="72581"/>
                </a:lnTo>
                <a:lnTo>
                  <a:pt x="267190" y="84378"/>
                </a:lnTo>
                <a:lnTo>
                  <a:pt x="272111" y="96604"/>
                </a:lnTo>
                <a:lnTo>
                  <a:pt x="276292" y="109173"/>
                </a:lnTo>
                <a:lnTo>
                  <a:pt x="279749" y="122062"/>
                </a:lnTo>
                <a:lnTo>
                  <a:pt x="282385" y="135268"/>
                </a:lnTo>
                <a:close/>
              </a:path>
            </a:pathLst>
          </a:custGeom>
          <a:solidFill xmlns:a="http://schemas.openxmlformats.org/drawingml/2006/main">
            <a:srgbClr val="E9F0F6"/>
          </a:solidFill>
          <a:ln xmlns:a="http://schemas.openxmlformats.org/drawingml/2006/main" w="7529">
            <a:solidFill>
              <a:srgbClr val="52779C"/>
            </a:solidFill>
            <a:prstDash val="solid"/>
          </a:ln>
        </p:spPr>
      </p:sp>
      <p:sp>
        <p:nvSpPr>
          <p:cNvPr id="46" name="tissue-cell-3-4-nucleus">
            <a:extLst xmlns:a="http://schemas.openxmlformats.org/drawingml/2006/main">
              <a:ext uri="{FF2B5EF4-FFF2-40B4-BE49-F238E27FC236}">
                <a16:creationId xmlns:a16="http://schemas.microsoft.com/office/drawing/2014/main" id="{AE0B1ABD-B0BD-48E9-B0B1-9BA889D3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287" y="1407637"/>
            <a:ext cx="49692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5882">
            <a:solidFill>
              <a:srgbClr val="52779C"/>
            </a:solidFill>
            <a:prstDash val="solid"/>
          </a:ln>
        </p:spPr>
      </p:sp>
      <p:sp>
        <p:nvSpPr>
          <p:cNvPr id="47" name="tissue-cell-4-0-membrane">
            <a:extLst xmlns:a="http://schemas.openxmlformats.org/drawingml/2006/main">
              <a:ext uri="{FF2B5EF4-FFF2-40B4-BE49-F238E27FC236}">
                <a16:creationId xmlns:a16="http://schemas.microsoft.com/office/drawing/2014/main" id="{67253E69-B514-403D-9601-AEA4C90E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733" y="722194"/>
            <a:ext cx="144418" cy="152007"/>
          </a:xfrm>
          <a:custGeom xmlns:a="http://schemas.openxmlformats.org/drawingml/2006/main">
            <a:pathLst>
              <a:path w="292322" h="307682">
                <a:moveTo>
                  <a:pt x="292322" y="147459"/>
                </a:moveTo>
                <a:lnTo>
                  <a:pt x="291778" y="160764"/>
                </a:lnTo>
                <a:lnTo>
                  <a:pt x="290145" y="173977"/>
                </a:lnTo>
                <a:lnTo>
                  <a:pt x="287227" y="186951"/>
                </a:lnTo>
                <a:lnTo>
                  <a:pt x="282877" y="199472"/>
                </a:lnTo>
                <a:lnTo>
                  <a:pt x="277053" y="211298"/>
                </a:lnTo>
                <a:lnTo>
                  <a:pt x="269848" y="222214"/>
                </a:lnTo>
                <a:lnTo>
                  <a:pt x="261488" y="232091"/>
                </a:lnTo>
                <a:lnTo>
                  <a:pt x="252291" y="240927"/>
                </a:lnTo>
                <a:lnTo>
                  <a:pt x="242598" y="248863"/>
                </a:lnTo>
                <a:lnTo>
                  <a:pt x="232697" y="256150"/>
                </a:lnTo>
                <a:lnTo>
                  <a:pt x="222765" y="263096"/>
                </a:lnTo>
                <a:lnTo>
                  <a:pt x="212832" y="269977"/>
                </a:lnTo>
                <a:lnTo>
                  <a:pt x="202785" y="276954"/>
                </a:lnTo>
                <a:lnTo>
                  <a:pt x="192415" y="284009"/>
                </a:lnTo>
                <a:lnTo>
                  <a:pt x="181486" y="290918"/>
                </a:lnTo>
                <a:lnTo>
                  <a:pt x="169815" y="297271"/>
                </a:lnTo>
                <a:lnTo>
                  <a:pt x="157345" y="302537"/>
                </a:lnTo>
                <a:lnTo>
                  <a:pt x="144176" y="306164"/>
                </a:lnTo>
                <a:lnTo>
                  <a:pt x="130571" y="307682"/>
                </a:lnTo>
                <a:lnTo>
                  <a:pt x="116907" y="306797"/>
                </a:lnTo>
                <a:lnTo>
                  <a:pt x="103609" y="303448"/>
                </a:lnTo>
                <a:lnTo>
                  <a:pt x="91060" y="297816"/>
                </a:lnTo>
                <a:lnTo>
                  <a:pt x="79536" y="290282"/>
                </a:lnTo>
                <a:lnTo>
                  <a:pt x="69150" y="281346"/>
                </a:lnTo>
                <a:lnTo>
                  <a:pt x="59856" y="271530"/>
                </a:lnTo>
                <a:lnTo>
                  <a:pt x="51477" y="261282"/>
                </a:lnTo>
                <a:lnTo>
                  <a:pt x="43771" y="250908"/>
                </a:lnTo>
                <a:lnTo>
                  <a:pt x="36511" y="240539"/>
                </a:lnTo>
                <a:lnTo>
                  <a:pt x="29555" y="230150"/>
                </a:lnTo>
                <a:lnTo>
                  <a:pt x="22891" y="219605"/>
                </a:lnTo>
                <a:lnTo>
                  <a:pt x="16643" y="208731"/>
                </a:lnTo>
                <a:lnTo>
                  <a:pt x="11043" y="197384"/>
                </a:lnTo>
                <a:lnTo>
                  <a:pt x="6369" y="185503"/>
                </a:lnTo>
                <a:lnTo>
                  <a:pt x="2879" y="173129"/>
                </a:lnTo>
                <a:lnTo>
                  <a:pt x="742" y="160388"/>
                </a:lnTo>
                <a:lnTo>
                  <a:pt x="0" y="147459"/>
                </a:lnTo>
                <a:lnTo>
                  <a:pt x="568" y="134514"/>
                </a:lnTo>
                <a:lnTo>
                  <a:pt x="2263" y="121678"/>
                </a:lnTo>
                <a:lnTo>
                  <a:pt x="4865" y="109000"/>
                </a:lnTo>
                <a:lnTo>
                  <a:pt x="8184" y="96462"/>
                </a:lnTo>
                <a:lnTo>
                  <a:pt x="12119" y="84013"/>
                </a:lnTo>
                <a:lnTo>
                  <a:pt x="16689" y="71624"/>
                </a:lnTo>
                <a:lnTo>
                  <a:pt x="22032" y="59341"/>
                </a:lnTo>
                <a:lnTo>
                  <a:pt x="28360" y="47332"/>
                </a:lnTo>
                <a:lnTo>
                  <a:pt x="35895" y="35896"/>
                </a:lnTo>
                <a:lnTo>
                  <a:pt x="44796" y="25433"/>
                </a:lnTo>
                <a:lnTo>
                  <a:pt x="55096" y="16384"/>
                </a:lnTo>
                <a:lnTo>
                  <a:pt x="66671" y="9147"/>
                </a:lnTo>
                <a:lnTo>
                  <a:pt x="79244" y="3992"/>
                </a:lnTo>
                <a:lnTo>
                  <a:pt x="92435" y="992"/>
                </a:lnTo>
                <a:lnTo>
                  <a:pt x="105827" y="0"/>
                </a:lnTo>
                <a:lnTo>
                  <a:pt x="119054" y="666"/>
                </a:lnTo>
                <a:lnTo>
                  <a:pt x="131867" y="2503"/>
                </a:lnTo>
                <a:lnTo>
                  <a:pt x="144176" y="4983"/>
                </a:lnTo>
                <a:lnTo>
                  <a:pt x="156049" y="7647"/>
                </a:lnTo>
                <a:lnTo>
                  <a:pt x="167669" y="10192"/>
                </a:lnTo>
                <a:lnTo>
                  <a:pt x="179267" y="12530"/>
                </a:lnTo>
                <a:lnTo>
                  <a:pt x="191041" y="14799"/>
                </a:lnTo>
                <a:lnTo>
                  <a:pt x="203077" y="17320"/>
                </a:lnTo>
                <a:lnTo>
                  <a:pt x="215312" y="20516"/>
                </a:lnTo>
                <a:lnTo>
                  <a:pt x="227526" y="24817"/>
                </a:lnTo>
                <a:lnTo>
                  <a:pt x="239378" y="30564"/>
                </a:lnTo>
                <a:lnTo>
                  <a:pt x="250474" y="37941"/>
                </a:lnTo>
                <a:lnTo>
                  <a:pt x="260443" y="46944"/>
                </a:lnTo>
                <a:lnTo>
                  <a:pt x="269012" y="57400"/>
                </a:lnTo>
                <a:lnTo>
                  <a:pt x="276050" y="69015"/>
                </a:lnTo>
                <a:lnTo>
                  <a:pt x="281577" y="81447"/>
                </a:lnTo>
                <a:lnTo>
                  <a:pt x="285736" y="94374"/>
                </a:lnTo>
                <a:lnTo>
                  <a:pt x="288731" y="107552"/>
                </a:lnTo>
                <a:lnTo>
                  <a:pt x="290761" y="120829"/>
                </a:lnTo>
                <a:lnTo>
                  <a:pt x="291952" y="134139"/>
                </a:lnTo>
                <a:close/>
              </a:path>
            </a:pathLst>
          </a:custGeom>
          <a:solidFill xmlns:a="http://schemas.openxmlformats.org/drawingml/2006/main">
            <a:srgbClr val="E9F0F6"/>
          </a:solidFill>
          <a:ln xmlns:a="http://schemas.openxmlformats.org/drawingml/2006/main" w="7529">
            <a:solidFill>
              <a:srgbClr val="52779C"/>
            </a:solidFill>
            <a:prstDash val="solid"/>
          </a:ln>
        </p:spPr>
      </p:sp>
      <p:sp>
        <p:nvSpPr>
          <p:cNvPr id="48" name="tissue-cell-4-0-nucleus">
            <a:extLst xmlns:a="http://schemas.openxmlformats.org/drawingml/2006/main">
              <a:ext uri="{FF2B5EF4-FFF2-40B4-BE49-F238E27FC236}">
                <a16:creationId xmlns:a16="http://schemas.microsoft.com/office/drawing/2014/main" id="{CEEDEF81-33F4-4B6D-A4A2-FCFA2747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15" y="764645"/>
            <a:ext cx="51245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5882">
            <a:solidFill>
              <a:srgbClr val="52779C"/>
            </a:solidFill>
            <a:prstDash val="solid"/>
          </a:ln>
        </p:spPr>
      </p:sp>
      <p:sp>
        <p:nvSpPr>
          <p:cNvPr id="49" name="tissue-cell-4-1-membrane">
            <a:extLst xmlns:a="http://schemas.openxmlformats.org/drawingml/2006/main">
              <a:ext uri="{FF2B5EF4-FFF2-40B4-BE49-F238E27FC236}">
                <a16:creationId xmlns:a16="http://schemas.microsoft.com/office/drawing/2014/main" id="{34FDA932-D8B3-4A1F-B615-33F891C1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44" y="896402"/>
            <a:ext cx="144418" cy="151958"/>
          </a:xfrm>
          <a:custGeom xmlns:a="http://schemas.openxmlformats.org/drawingml/2006/main">
            <a:pathLst>
              <a:path w="292322" h="307584">
                <a:moveTo>
                  <a:pt x="292322" y="147263"/>
                </a:moveTo>
                <a:lnTo>
                  <a:pt x="291665" y="160518"/>
                </a:lnTo>
                <a:lnTo>
                  <a:pt x="289987" y="173672"/>
                </a:lnTo>
                <a:lnTo>
                  <a:pt x="287097" y="186597"/>
                </a:lnTo>
                <a:lnTo>
                  <a:pt x="282838" y="199096"/>
                </a:lnTo>
                <a:lnTo>
                  <a:pt x="277150" y="210937"/>
                </a:lnTo>
                <a:lnTo>
                  <a:pt x="270102" y="221908"/>
                </a:lnTo>
                <a:lnTo>
                  <a:pt x="261894" y="231870"/>
                </a:lnTo>
                <a:lnTo>
                  <a:pt x="252821" y="240808"/>
                </a:lnTo>
                <a:lnTo>
                  <a:pt x="243209" y="248843"/>
                </a:lnTo>
                <a:lnTo>
                  <a:pt x="233346" y="256211"/>
                </a:lnTo>
                <a:lnTo>
                  <a:pt x="223412" y="263204"/>
                </a:lnTo>
                <a:lnTo>
                  <a:pt x="213449" y="270096"/>
                </a:lnTo>
                <a:lnTo>
                  <a:pt x="203358" y="277051"/>
                </a:lnTo>
                <a:lnTo>
                  <a:pt x="192943" y="284062"/>
                </a:lnTo>
                <a:lnTo>
                  <a:pt x="181977" y="290918"/>
                </a:lnTo>
                <a:lnTo>
                  <a:pt x="170281" y="297224"/>
                </a:lnTo>
                <a:lnTo>
                  <a:pt x="157795" y="302457"/>
                </a:lnTo>
                <a:lnTo>
                  <a:pt x="144617" y="306069"/>
                </a:lnTo>
                <a:lnTo>
                  <a:pt x="131003" y="307584"/>
                </a:lnTo>
                <a:lnTo>
                  <a:pt x="117331" y="306700"/>
                </a:lnTo>
                <a:lnTo>
                  <a:pt x="104025" y="303343"/>
                </a:lnTo>
                <a:lnTo>
                  <a:pt x="91478" y="297684"/>
                </a:lnTo>
                <a:lnTo>
                  <a:pt x="79970" y="290100"/>
                </a:lnTo>
                <a:lnTo>
                  <a:pt x="69623" y="281092"/>
                </a:lnTo>
                <a:lnTo>
                  <a:pt x="60391" y="271194"/>
                </a:lnTo>
                <a:lnTo>
                  <a:pt x="52095" y="260868"/>
                </a:lnTo>
                <a:lnTo>
                  <a:pt x="44480" y="250434"/>
                </a:lnTo>
                <a:lnTo>
                  <a:pt x="37304" y="240038"/>
                </a:lnTo>
                <a:lnTo>
                  <a:pt x="30404" y="229659"/>
                </a:lnTo>
                <a:lnTo>
                  <a:pt x="23749" y="219161"/>
                </a:lnTo>
                <a:lnTo>
                  <a:pt x="17453" y="208358"/>
                </a:lnTo>
                <a:lnTo>
                  <a:pt x="11744" y="197090"/>
                </a:lnTo>
                <a:lnTo>
                  <a:pt x="6912" y="185279"/>
                </a:lnTo>
                <a:lnTo>
                  <a:pt x="3234" y="172948"/>
                </a:lnTo>
                <a:lnTo>
                  <a:pt x="906" y="160217"/>
                </a:lnTo>
                <a:lnTo>
                  <a:pt x="0" y="147263"/>
                </a:lnTo>
                <a:lnTo>
                  <a:pt x="455" y="134268"/>
                </a:lnTo>
                <a:lnTo>
                  <a:pt x="2106" y="121373"/>
                </a:lnTo>
                <a:lnTo>
                  <a:pt x="4735" y="108646"/>
                </a:lnTo>
                <a:lnTo>
                  <a:pt x="8145" y="96086"/>
                </a:lnTo>
                <a:lnTo>
                  <a:pt x="12217" y="83653"/>
                </a:lnTo>
                <a:lnTo>
                  <a:pt x="16944" y="71317"/>
                </a:lnTo>
                <a:lnTo>
                  <a:pt x="22438" y="59120"/>
                </a:lnTo>
                <a:lnTo>
                  <a:pt x="28889" y="47213"/>
                </a:lnTo>
                <a:lnTo>
                  <a:pt x="36506" y="35876"/>
                </a:lnTo>
                <a:lnTo>
                  <a:pt x="45445" y="25493"/>
                </a:lnTo>
                <a:lnTo>
                  <a:pt x="55743" y="16492"/>
                </a:lnTo>
                <a:lnTo>
                  <a:pt x="67288" y="9266"/>
                </a:lnTo>
                <a:lnTo>
                  <a:pt x="79817" y="4089"/>
                </a:lnTo>
                <a:lnTo>
                  <a:pt x="92963" y="1045"/>
                </a:lnTo>
                <a:lnTo>
                  <a:pt x="106318" y="0"/>
                </a:lnTo>
                <a:lnTo>
                  <a:pt x="119520" y="619"/>
                </a:lnTo>
                <a:lnTo>
                  <a:pt x="132318" y="2423"/>
                </a:lnTo>
                <a:lnTo>
                  <a:pt x="144617" y="4888"/>
                </a:lnTo>
                <a:lnTo>
                  <a:pt x="156481" y="7550"/>
                </a:lnTo>
                <a:lnTo>
                  <a:pt x="168092" y="10095"/>
                </a:lnTo>
                <a:lnTo>
                  <a:pt x="179684" y="12425"/>
                </a:lnTo>
                <a:lnTo>
                  <a:pt x="191458" y="14667"/>
                </a:lnTo>
                <a:lnTo>
                  <a:pt x="203511" y="17137"/>
                </a:lnTo>
                <a:lnTo>
                  <a:pt x="215784" y="20262"/>
                </a:lnTo>
                <a:lnTo>
                  <a:pt x="228061" y="24482"/>
                </a:lnTo>
                <a:lnTo>
                  <a:pt x="239996" y="30150"/>
                </a:lnTo>
                <a:lnTo>
                  <a:pt x="251183" y="37467"/>
                </a:lnTo>
                <a:lnTo>
                  <a:pt x="261236" y="46443"/>
                </a:lnTo>
                <a:lnTo>
                  <a:pt x="269860" y="56909"/>
                </a:lnTo>
                <a:lnTo>
                  <a:pt x="276908" y="68570"/>
                </a:lnTo>
                <a:lnTo>
                  <a:pt x="282386" y="81073"/>
                </a:lnTo>
                <a:lnTo>
                  <a:pt x="286437" y="94081"/>
                </a:lnTo>
                <a:lnTo>
                  <a:pt x="289274" y="107328"/>
                </a:lnTo>
                <a:lnTo>
                  <a:pt x="291116" y="120649"/>
                </a:lnTo>
                <a:lnTo>
                  <a:pt x="292116" y="133968"/>
                </a:lnTo>
                <a:close/>
              </a:path>
            </a:pathLst>
          </a:custGeom>
          <a:solidFill xmlns:a="http://schemas.openxmlformats.org/drawingml/2006/main">
            <a:srgbClr val="E9F0F6"/>
          </a:solidFill>
          <a:ln xmlns:a="http://schemas.openxmlformats.org/drawingml/2006/main" w="7529">
            <a:solidFill>
              <a:srgbClr val="52779C"/>
            </a:solidFill>
            <a:prstDash val="solid"/>
          </a:ln>
        </p:spPr>
      </p:sp>
      <p:sp>
        <p:nvSpPr>
          <p:cNvPr id="50" name="tissue-cell-4-1-nucleus">
            <a:extLst xmlns:a="http://schemas.openxmlformats.org/drawingml/2006/main">
              <a:ext uri="{FF2B5EF4-FFF2-40B4-BE49-F238E27FC236}">
                <a16:creationId xmlns:a16="http://schemas.microsoft.com/office/drawing/2014/main" id="{4F0B1F58-081C-4F7C-B866-82C3E899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44" y="938757"/>
            <a:ext cx="51245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5882">
            <a:solidFill>
              <a:srgbClr val="52779C"/>
            </a:solidFill>
            <a:prstDash val="solid"/>
          </a:ln>
        </p:spPr>
      </p:sp>
      <p:sp>
        <p:nvSpPr>
          <p:cNvPr id="51" name="tissue-cell-4-2-membrane">
            <a:extLst xmlns:a="http://schemas.openxmlformats.org/drawingml/2006/main">
              <a:ext uri="{FF2B5EF4-FFF2-40B4-BE49-F238E27FC236}">
                <a16:creationId xmlns:a16="http://schemas.microsoft.com/office/drawing/2014/main" id="{0C77C7A8-72DD-441C-B60B-B84EC54F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733" y="1070417"/>
            <a:ext cx="144418" cy="152007"/>
          </a:xfrm>
          <a:custGeom xmlns:a="http://schemas.openxmlformats.org/drawingml/2006/main">
            <a:pathLst>
              <a:path w="292322" h="307682">
                <a:moveTo>
                  <a:pt x="292322" y="147459"/>
                </a:moveTo>
                <a:lnTo>
                  <a:pt x="291778" y="160764"/>
                </a:lnTo>
                <a:lnTo>
                  <a:pt x="290145" y="173977"/>
                </a:lnTo>
                <a:lnTo>
                  <a:pt x="287227" y="186951"/>
                </a:lnTo>
                <a:lnTo>
                  <a:pt x="282877" y="199472"/>
                </a:lnTo>
                <a:lnTo>
                  <a:pt x="277053" y="211298"/>
                </a:lnTo>
                <a:lnTo>
                  <a:pt x="269848" y="222214"/>
                </a:lnTo>
                <a:lnTo>
                  <a:pt x="261488" y="232091"/>
                </a:lnTo>
                <a:lnTo>
                  <a:pt x="252291" y="240927"/>
                </a:lnTo>
                <a:lnTo>
                  <a:pt x="242598" y="248863"/>
                </a:lnTo>
                <a:lnTo>
                  <a:pt x="232697" y="256150"/>
                </a:lnTo>
                <a:lnTo>
                  <a:pt x="222765" y="263096"/>
                </a:lnTo>
                <a:lnTo>
                  <a:pt x="212832" y="269977"/>
                </a:lnTo>
                <a:lnTo>
                  <a:pt x="202785" y="276954"/>
                </a:lnTo>
                <a:lnTo>
                  <a:pt x="192415" y="284009"/>
                </a:lnTo>
                <a:lnTo>
                  <a:pt x="181486" y="290918"/>
                </a:lnTo>
                <a:lnTo>
                  <a:pt x="169815" y="297271"/>
                </a:lnTo>
                <a:lnTo>
                  <a:pt x="157345" y="302537"/>
                </a:lnTo>
                <a:lnTo>
                  <a:pt x="144176" y="306164"/>
                </a:lnTo>
                <a:lnTo>
                  <a:pt x="130571" y="307682"/>
                </a:lnTo>
                <a:lnTo>
                  <a:pt x="116907" y="306797"/>
                </a:lnTo>
                <a:lnTo>
                  <a:pt x="103609" y="303448"/>
                </a:lnTo>
                <a:lnTo>
                  <a:pt x="91060" y="297816"/>
                </a:lnTo>
                <a:lnTo>
                  <a:pt x="79536" y="290282"/>
                </a:lnTo>
                <a:lnTo>
                  <a:pt x="69150" y="281346"/>
                </a:lnTo>
                <a:lnTo>
                  <a:pt x="59856" y="271530"/>
                </a:lnTo>
                <a:lnTo>
                  <a:pt x="51477" y="261282"/>
                </a:lnTo>
                <a:lnTo>
                  <a:pt x="43771" y="250908"/>
                </a:lnTo>
                <a:lnTo>
                  <a:pt x="36511" y="240539"/>
                </a:lnTo>
                <a:lnTo>
                  <a:pt x="29555" y="230150"/>
                </a:lnTo>
                <a:lnTo>
                  <a:pt x="22891" y="219605"/>
                </a:lnTo>
                <a:lnTo>
                  <a:pt x="16643" y="208731"/>
                </a:lnTo>
                <a:lnTo>
                  <a:pt x="11043" y="197384"/>
                </a:lnTo>
                <a:lnTo>
                  <a:pt x="6369" y="185503"/>
                </a:lnTo>
                <a:lnTo>
                  <a:pt x="2879" y="173129"/>
                </a:lnTo>
                <a:lnTo>
                  <a:pt x="742" y="160388"/>
                </a:lnTo>
                <a:lnTo>
                  <a:pt x="0" y="147459"/>
                </a:lnTo>
                <a:lnTo>
                  <a:pt x="568" y="134514"/>
                </a:lnTo>
                <a:lnTo>
                  <a:pt x="2263" y="121678"/>
                </a:lnTo>
                <a:lnTo>
                  <a:pt x="4865" y="109000"/>
                </a:lnTo>
                <a:lnTo>
                  <a:pt x="8184" y="96462"/>
                </a:lnTo>
                <a:lnTo>
                  <a:pt x="12119" y="84013"/>
                </a:lnTo>
                <a:lnTo>
                  <a:pt x="16689" y="71624"/>
                </a:lnTo>
                <a:lnTo>
                  <a:pt x="22032" y="59341"/>
                </a:lnTo>
                <a:lnTo>
                  <a:pt x="28360" y="47332"/>
                </a:lnTo>
                <a:lnTo>
                  <a:pt x="35895" y="35896"/>
                </a:lnTo>
                <a:lnTo>
                  <a:pt x="44796" y="25433"/>
                </a:lnTo>
                <a:lnTo>
                  <a:pt x="55096" y="16384"/>
                </a:lnTo>
                <a:lnTo>
                  <a:pt x="66671" y="9147"/>
                </a:lnTo>
                <a:lnTo>
                  <a:pt x="79244" y="3992"/>
                </a:lnTo>
                <a:lnTo>
                  <a:pt x="92435" y="992"/>
                </a:lnTo>
                <a:lnTo>
                  <a:pt x="105827" y="0"/>
                </a:lnTo>
                <a:lnTo>
                  <a:pt x="119054" y="666"/>
                </a:lnTo>
                <a:lnTo>
                  <a:pt x="131867" y="2503"/>
                </a:lnTo>
                <a:lnTo>
                  <a:pt x="144176" y="4983"/>
                </a:lnTo>
                <a:lnTo>
                  <a:pt x="156049" y="7647"/>
                </a:lnTo>
                <a:lnTo>
                  <a:pt x="167669" y="10192"/>
                </a:lnTo>
                <a:lnTo>
                  <a:pt x="179267" y="12530"/>
                </a:lnTo>
                <a:lnTo>
                  <a:pt x="191041" y="14799"/>
                </a:lnTo>
                <a:lnTo>
                  <a:pt x="203077" y="17320"/>
                </a:lnTo>
                <a:lnTo>
                  <a:pt x="215312" y="20516"/>
                </a:lnTo>
                <a:lnTo>
                  <a:pt x="227526" y="24817"/>
                </a:lnTo>
                <a:lnTo>
                  <a:pt x="239378" y="30564"/>
                </a:lnTo>
                <a:lnTo>
                  <a:pt x="250474" y="37941"/>
                </a:lnTo>
                <a:lnTo>
                  <a:pt x="260443" y="46944"/>
                </a:lnTo>
                <a:lnTo>
                  <a:pt x="269012" y="57400"/>
                </a:lnTo>
                <a:lnTo>
                  <a:pt x="276050" y="69015"/>
                </a:lnTo>
                <a:lnTo>
                  <a:pt x="281577" y="81447"/>
                </a:lnTo>
                <a:lnTo>
                  <a:pt x="285736" y="94374"/>
                </a:lnTo>
                <a:lnTo>
                  <a:pt x="288731" y="107552"/>
                </a:lnTo>
                <a:lnTo>
                  <a:pt x="290761" y="120829"/>
                </a:lnTo>
                <a:lnTo>
                  <a:pt x="291952" y="134139"/>
                </a:lnTo>
                <a:close/>
              </a:path>
            </a:pathLst>
          </a:custGeom>
          <a:solidFill xmlns:a="http://schemas.openxmlformats.org/drawingml/2006/main">
            <a:srgbClr val="E9F0F6"/>
          </a:solidFill>
          <a:ln xmlns:a="http://schemas.openxmlformats.org/drawingml/2006/main" w="7529">
            <a:solidFill>
              <a:srgbClr val="52779C"/>
            </a:solidFill>
            <a:prstDash val="solid"/>
          </a:ln>
        </p:spPr>
      </p:sp>
      <p:sp>
        <p:nvSpPr>
          <p:cNvPr id="52" name="tissue-cell-4-2-nucleus">
            <a:extLst xmlns:a="http://schemas.openxmlformats.org/drawingml/2006/main">
              <a:ext uri="{FF2B5EF4-FFF2-40B4-BE49-F238E27FC236}">
                <a16:creationId xmlns:a16="http://schemas.microsoft.com/office/drawing/2014/main" id="{A4282F8A-6255-4EA7-BBBD-288E72A4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15" y="1112868"/>
            <a:ext cx="51245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5882">
            <a:solidFill>
              <a:srgbClr val="52779C"/>
            </a:solidFill>
            <a:prstDash val="solid"/>
          </a:ln>
        </p:spPr>
      </p:sp>
      <p:sp>
        <p:nvSpPr>
          <p:cNvPr id="53" name="tissue-cell-4-3-membrane">
            <a:extLst xmlns:a="http://schemas.openxmlformats.org/drawingml/2006/main">
              <a:ext uri="{FF2B5EF4-FFF2-40B4-BE49-F238E27FC236}">
                <a16:creationId xmlns:a16="http://schemas.microsoft.com/office/drawing/2014/main" id="{7DF0945D-B3DC-4BAA-A33B-6753FC6E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44" y="1244625"/>
            <a:ext cx="144418" cy="151958"/>
          </a:xfrm>
          <a:custGeom xmlns:a="http://schemas.openxmlformats.org/drawingml/2006/main">
            <a:pathLst>
              <a:path w="292322" h="307584">
                <a:moveTo>
                  <a:pt x="292322" y="147263"/>
                </a:moveTo>
                <a:lnTo>
                  <a:pt x="291665" y="160518"/>
                </a:lnTo>
                <a:lnTo>
                  <a:pt x="289987" y="173672"/>
                </a:lnTo>
                <a:lnTo>
                  <a:pt x="287097" y="186597"/>
                </a:lnTo>
                <a:lnTo>
                  <a:pt x="282838" y="199096"/>
                </a:lnTo>
                <a:lnTo>
                  <a:pt x="277150" y="210937"/>
                </a:lnTo>
                <a:lnTo>
                  <a:pt x="270102" y="221908"/>
                </a:lnTo>
                <a:lnTo>
                  <a:pt x="261894" y="231870"/>
                </a:lnTo>
                <a:lnTo>
                  <a:pt x="252821" y="240808"/>
                </a:lnTo>
                <a:lnTo>
                  <a:pt x="243209" y="248843"/>
                </a:lnTo>
                <a:lnTo>
                  <a:pt x="233346" y="256211"/>
                </a:lnTo>
                <a:lnTo>
                  <a:pt x="223412" y="263204"/>
                </a:lnTo>
                <a:lnTo>
                  <a:pt x="213449" y="270096"/>
                </a:lnTo>
                <a:lnTo>
                  <a:pt x="203358" y="277051"/>
                </a:lnTo>
                <a:lnTo>
                  <a:pt x="192943" y="284062"/>
                </a:lnTo>
                <a:lnTo>
                  <a:pt x="181977" y="290918"/>
                </a:lnTo>
                <a:lnTo>
                  <a:pt x="170281" y="297224"/>
                </a:lnTo>
                <a:lnTo>
                  <a:pt x="157795" y="302457"/>
                </a:lnTo>
                <a:lnTo>
                  <a:pt x="144617" y="306069"/>
                </a:lnTo>
                <a:lnTo>
                  <a:pt x="131003" y="307584"/>
                </a:lnTo>
                <a:lnTo>
                  <a:pt x="117331" y="306700"/>
                </a:lnTo>
                <a:lnTo>
                  <a:pt x="104025" y="303343"/>
                </a:lnTo>
                <a:lnTo>
                  <a:pt x="91478" y="297684"/>
                </a:lnTo>
                <a:lnTo>
                  <a:pt x="79970" y="290100"/>
                </a:lnTo>
                <a:lnTo>
                  <a:pt x="69623" y="281092"/>
                </a:lnTo>
                <a:lnTo>
                  <a:pt x="60391" y="271194"/>
                </a:lnTo>
                <a:lnTo>
                  <a:pt x="52095" y="260868"/>
                </a:lnTo>
                <a:lnTo>
                  <a:pt x="44480" y="250434"/>
                </a:lnTo>
                <a:lnTo>
                  <a:pt x="37304" y="240038"/>
                </a:lnTo>
                <a:lnTo>
                  <a:pt x="30404" y="229659"/>
                </a:lnTo>
                <a:lnTo>
                  <a:pt x="23749" y="219161"/>
                </a:lnTo>
                <a:lnTo>
                  <a:pt x="17453" y="208358"/>
                </a:lnTo>
                <a:lnTo>
                  <a:pt x="11744" y="197090"/>
                </a:lnTo>
                <a:lnTo>
                  <a:pt x="6912" y="185279"/>
                </a:lnTo>
                <a:lnTo>
                  <a:pt x="3234" y="172948"/>
                </a:lnTo>
                <a:lnTo>
                  <a:pt x="906" y="160217"/>
                </a:lnTo>
                <a:lnTo>
                  <a:pt x="0" y="147263"/>
                </a:lnTo>
                <a:lnTo>
                  <a:pt x="455" y="134268"/>
                </a:lnTo>
                <a:lnTo>
                  <a:pt x="2106" y="121373"/>
                </a:lnTo>
                <a:lnTo>
                  <a:pt x="4735" y="108646"/>
                </a:lnTo>
                <a:lnTo>
                  <a:pt x="8145" y="96086"/>
                </a:lnTo>
                <a:lnTo>
                  <a:pt x="12217" y="83653"/>
                </a:lnTo>
                <a:lnTo>
                  <a:pt x="16944" y="71317"/>
                </a:lnTo>
                <a:lnTo>
                  <a:pt x="22438" y="59120"/>
                </a:lnTo>
                <a:lnTo>
                  <a:pt x="28889" y="47213"/>
                </a:lnTo>
                <a:lnTo>
                  <a:pt x="36506" y="35876"/>
                </a:lnTo>
                <a:lnTo>
                  <a:pt x="45445" y="25493"/>
                </a:lnTo>
                <a:lnTo>
                  <a:pt x="55743" y="16492"/>
                </a:lnTo>
                <a:lnTo>
                  <a:pt x="67288" y="9266"/>
                </a:lnTo>
                <a:lnTo>
                  <a:pt x="79817" y="4089"/>
                </a:lnTo>
                <a:lnTo>
                  <a:pt x="92963" y="1045"/>
                </a:lnTo>
                <a:lnTo>
                  <a:pt x="106318" y="0"/>
                </a:lnTo>
                <a:lnTo>
                  <a:pt x="119520" y="619"/>
                </a:lnTo>
                <a:lnTo>
                  <a:pt x="132318" y="2423"/>
                </a:lnTo>
                <a:lnTo>
                  <a:pt x="144617" y="4888"/>
                </a:lnTo>
                <a:lnTo>
                  <a:pt x="156481" y="7550"/>
                </a:lnTo>
                <a:lnTo>
                  <a:pt x="168092" y="10095"/>
                </a:lnTo>
                <a:lnTo>
                  <a:pt x="179684" y="12425"/>
                </a:lnTo>
                <a:lnTo>
                  <a:pt x="191458" y="14667"/>
                </a:lnTo>
                <a:lnTo>
                  <a:pt x="203511" y="17137"/>
                </a:lnTo>
                <a:lnTo>
                  <a:pt x="215784" y="20262"/>
                </a:lnTo>
                <a:lnTo>
                  <a:pt x="228061" y="24482"/>
                </a:lnTo>
                <a:lnTo>
                  <a:pt x="239996" y="30150"/>
                </a:lnTo>
                <a:lnTo>
                  <a:pt x="251183" y="37467"/>
                </a:lnTo>
                <a:lnTo>
                  <a:pt x="261236" y="46443"/>
                </a:lnTo>
                <a:lnTo>
                  <a:pt x="269860" y="56909"/>
                </a:lnTo>
                <a:lnTo>
                  <a:pt x="276908" y="68570"/>
                </a:lnTo>
                <a:lnTo>
                  <a:pt x="282386" y="81073"/>
                </a:lnTo>
                <a:lnTo>
                  <a:pt x="286437" y="94081"/>
                </a:lnTo>
                <a:lnTo>
                  <a:pt x="289274" y="107328"/>
                </a:lnTo>
                <a:lnTo>
                  <a:pt x="291116" y="120649"/>
                </a:lnTo>
                <a:lnTo>
                  <a:pt x="292116" y="133968"/>
                </a:lnTo>
                <a:close/>
              </a:path>
            </a:pathLst>
          </a:custGeom>
          <a:solidFill xmlns:a="http://schemas.openxmlformats.org/drawingml/2006/main">
            <a:srgbClr val="E9F0F6"/>
          </a:solidFill>
          <a:ln xmlns:a="http://schemas.openxmlformats.org/drawingml/2006/main" w="7529">
            <a:solidFill>
              <a:srgbClr val="52779C"/>
            </a:solidFill>
            <a:prstDash val="solid"/>
          </a:ln>
        </p:spPr>
      </p:sp>
      <p:sp>
        <p:nvSpPr>
          <p:cNvPr id="54" name="tissue-cell-4-3-nucleus">
            <a:extLst xmlns:a="http://schemas.openxmlformats.org/drawingml/2006/main">
              <a:ext uri="{FF2B5EF4-FFF2-40B4-BE49-F238E27FC236}">
                <a16:creationId xmlns:a16="http://schemas.microsoft.com/office/drawing/2014/main" id="{DECBDC69-F255-4CB2-B184-14FBA3BB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44" y="1286979"/>
            <a:ext cx="51245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5882">
            <a:solidFill>
              <a:srgbClr val="52779C"/>
            </a:solidFill>
            <a:prstDash val="solid"/>
          </a:ln>
        </p:spPr>
      </p:sp>
      <p:sp>
        <p:nvSpPr>
          <p:cNvPr id="55" name="tissue-cell-4-4-membrane">
            <a:extLst xmlns:a="http://schemas.openxmlformats.org/drawingml/2006/main">
              <a:ext uri="{FF2B5EF4-FFF2-40B4-BE49-F238E27FC236}">
                <a16:creationId xmlns:a16="http://schemas.microsoft.com/office/drawing/2014/main" id="{C4F0CED6-8FC3-4024-A51B-2C7B9352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733" y="1418639"/>
            <a:ext cx="144418" cy="152007"/>
          </a:xfrm>
          <a:custGeom xmlns:a="http://schemas.openxmlformats.org/drawingml/2006/main">
            <a:pathLst>
              <a:path w="292322" h="307682">
                <a:moveTo>
                  <a:pt x="292322" y="147459"/>
                </a:moveTo>
                <a:lnTo>
                  <a:pt x="291778" y="160764"/>
                </a:lnTo>
                <a:lnTo>
                  <a:pt x="290145" y="173977"/>
                </a:lnTo>
                <a:lnTo>
                  <a:pt x="287227" y="186951"/>
                </a:lnTo>
                <a:lnTo>
                  <a:pt x="282877" y="199472"/>
                </a:lnTo>
                <a:lnTo>
                  <a:pt x="277053" y="211298"/>
                </a:lnTo>
                <a:lnTo>
                  <a:pt x="269848" y="222214"/>
                </a:lnTo>
                <a:lnTo>
                  <a:pt x="261488" y="232091"/>
                </a:lnTo>
                <a:lnTo>
                  <a:pt x="252291" y="240927"/>
                </a:lnTo>
                <a:lnTo>
                  <a:pt x="242598" y="248863"/>
                </a:lnTo>
                <a:lnTo>
                  <a:pt x="232697" y="256150"/>
                </a:lnTo>
                <a:lnTo>
                  <a:pt x="222765" y="263096"/>
                </a:lnTo>
                <a:lnTo>
                  <a:pt x="212832" y="269977"/>
                </a:lnTo>
                <a:lnTo>
                  <a:pt x="202785" y="276954"/>
                </a:lnTo>
                <a:lnTo>
                  <a:pt x="192415" y="284009"/>
                </a:lnTo>
                <a:lnTo>
                  <a:pt x="181486" y="290918"/>
                </a:lnTo>
                <a:lnTo>
                  <a:pt x="169815" y="297271"/>
                </a:lnTo>
                <a:lnTo>
                  <a:pt x="157345" y="302537"/>
                </a:lnTo>
                <a:lnTo>
                  <a:pt x="144176" y="306164"/>
                </a:lnTo>
                <a:lnTo>
                  <a:pt x="130571" y="307682"/>
                </a:lnTo>
                <a:lnTo>
                  <a:pt x="116907" y="306797"/>
                </a:lnTo>
                <a:lnTo>
                  <a:pt x="103609" y="303448"/>
                </a:lnTo>
                <a:lnTo>
                  <a:pt x="91060" y="297816"/>
                </a:lnTo>
                <a:lnTo>
                  <a:pt x="79536" y="290282"/>
                </a:lnTo>
                <a:lnTo>
                  <a:pt x="69150" y="281346"/>
                </a:lnTo>
                <a:lnTo>
                  <a:pt x="59856" y="271530"/>
                </a:lnTo>
                <a:lnTo>
                  <a:pt x="51477" y="261282"/>
                </a:lnTo>
                <a:lnTo>
                  <a:pt x="43771" y="250908"/>
                </a:lnTo>
                <a:lnTo>
                  <a:pt x="36511" y="240539"/>
                </a:lnTo>
                <a:lnTo>
                  <a:pt x="29555" y="230150"/>
                </a:lnTo>
                <a:lnTo>
                  <a:pt x="22891" y="219605"/>
                </a:lnTo>
                <a:lnTo>
                  <a:pt x="16643" y="208731"/>
                </a:lnTo>
                <a:lnTo>
                  <a:pt x="11043" y="197384"/>
                </a:lnTo>
                <a:lnTo>
                  <a:pt x="6369" y="185503"/>
                </a:lnTo>
                <a:lnTo>
                  <a:pt x="2879" y="173129"/>
                </a:lnTo>
                <a:lnTo>
                  <a:pt x="742" y="160388"/>
                </a:lnTo>
                <a:lnTo>
                  <a:pt x="0" y="147459"/>
                </a:lnTo>
                <a:lnTo>
                  <a:pt x="568" y="134514"/>
                </a:lnTo>
                <a:lnTo>
                  <a:pt x="2263" y="121678"/>
                </a:lnTo>
                <a:lnTo>
                  <a:pt x="4865" y="109000"/>
                </a:lnTo>
                <a:lnTo>
                  <a:pt x="8184" y="96462"/>
                </a:lnTo>
                <a:lnTo>
                  <a:pt x="12119" y="84013"/>
                </a:lnTo>
                <a:lnTo>
                  <a:pt x="16689" y="71624"/>
                </a:lnTo>
                <a:lnTo>
                  <a:pt x="22032" y="59341"/>
                </a:lnTo>
                <a:lnTo>
                  <a:pt x="28360" y="47332"/>
                </a:lnTo>
                <a:lnTo>
                  <a:pt x="35895" y="35896"/>
                </a:lnTo>
                <a:lnTo>
                  <a:pt x="44796" y="25433"/>
                </a:lnTo>
                <a:lnTo>
                  <a:pt x="55096" y="16384"/>
                </a:lnTo>
                <a:lnTo>
                  <a:pt x="66671" y="9147"/>
                </a:lnTo>
                <a:lnTo>
                  <a:pt x="79244" y="3992"/>
                </a:lnTo>
                <a:lnTo>
                  <a:pt x="92435" y="992"/>
                </a:lnTo>
                <a:lnTo>
                  <a:pt x="105827" y="0"/>
                </a:lnTo>
                <a:lnTo>
                  <a:pt x="119054" y="666"/>
                </a:lnTo>
                <a:lnTo>
                  <a:pt x="131867" y="2503"/>
                </a:lnTo>
                <a:lnTo>
                  <a:pt x="144176" y="4983"/>
                </a:lnTo>
                <a:lnTo>
                  <a:pt x="156049" y="7647"/>
                </a:lnTo>
                <a:lnTo>
                  <a:pt x="167669" y="10192"/>
                </a:lnTo>
                <a:lnTo>
                  <a:pt x="179267" y="12530"/>
                </a:lnTo>
                <a:lnTo>
                  <a:pt x="191041" y="14799"/>
                </a:lnTo>
                <a:lnTo>
                  <a:pt x="203077" y="17320"/>
                </a:lnTo>
                <a:lnTo>
                  <a:pt x="215312" y="20516"/>
                </a:lnTo>
                <a:lnTo>
                  <a:pt x="227526" y="24817"/>
                </a:lnTo>
                <a:lnTo>
                  <a:pt x="239378" y="30564"/>
                </a:lnTo>
                <a:lnTo>
                  <a:pt x="250474" y="37941"/>
                </a:lnTo>
                <a:lnTo>
                  <a:pt x="260443" y="46944"/>
                </a:lnTo>
                <a:lnTo>
                  <a:pt x="269012" y="57400"/>
                </a:lnTo>
                <a:lnTo>
                  <a:pt x="276050" y="69015"/>
                </a:lnTo>
                <a:lnTo>
                  <a:pt x="281577" y="81447"/>
                </a:lnTo>
                <a:lnTo>
                  <a:pt x="285736" y="94374"/>
                </a:lnTo>
                <a:lnTo>
                  <a:pt x="288731" y="107552"/>
                </a:lnTo>
                <a:lnTo>
                  <a:pt x="290761" y="120829"/>
                </a:lnTo>
                <a:lnTo>
                  <a:pt x="291952" y="134139"/>
                </a:lnTo>
                <a:close/>
              </a:path>
            </a:pathLst>
          </a:custGeom>
          <a:solidFill xmlns:a="http://schemas.openxmlformats.org/drawingml/2006/main">
            <a:srgbClr val="E9F0F6"/>
          </a:solidFill>
          <a:ln xmlns:a="http://schemas.openxmlformats.org/drawingml/2006/main" w="7529">
            <a:solidFill>
              <a:srgbClr val="52779C"/>
            </a:solidFill>
            <a:prstDash val="solid"/>
          </a:ln>
        </p:spPr>
      </p:sp>
      <p:sp>
        <p:nvSpPr>
          <p:cNvPr id="56" name="tissue-cell-4-4-nucleus">
            <a:extLst xmlns:a="http://schemas.openxmlformats.org/drawingml/2006/main">
              <a:ext uri="{FF2B5EF4-FFF2-40B4-BE49-F238E27FC236}">
                <a16:creationId xmlns:a16="http://schemas.microsoft.com/office/drawing/2014/main" id="{36CFC24C-BD38-439A-8EF6-A00CEE76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15" y="1461091"/>
            <a:ext cx="51245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5882">
            <a:solidFill>
              <a:srgbClr val="52779C"/>
            </a:solidFill>
            <a:prstDash val="solid"/>
          </a:ln>
        </p:spPr>
      </p:sp>
      <p:sp>
        <p:nvSpPr>
          <p:cNvPr id="57" name="tissue-cell-5-0-membrane">
            <a:extLst xmlns:a="http://schemas.openxmlformats.org/drawingml/2006/main">
              <a:ext uri="{FF2B5EF4-FFF2-40B4-BE49-F238E27FC236}">
                <a16:creationId xmlns:a16="http://schemas.microsoft.com/office/drawing/2014/main" id="{9BBA2DC0-4766-4ACB-A762-64944070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178" y="734486"/>
            <a:ext cx="149526" cy="151119"/>
          </a:xfrm>
          <a:custGeom xmlns:a="http://schemas.openxmlformats.org/drawingml/2006/main">
            <a:pathLst>
              <a:path w="302661" h="305886">
                <a:moveTo>
                  <a:pt x="301495" y="145770"/>
                </a:moveTo>
                <a:lnTo>
                  <a:pt x="300034" y="158674"/>
                </a:lnTo>
                <a:lnTo>
                  <a:pt x="297992" y="171416"/>
                </a:lnTo>
                <a:lnTo>
                  <a:pt x="295219" y="183999"/>
                </a:lnTo>
                <a:lnTo>
                  <a:pt x="291511" y="196349"/>
                </a:lnTo>
                <a:lnTo>
                  <a:pt x="286683" y="208318"/>
                </a:lnTo>
                <a:lnTo>
                  <a:pt x="280625" y="219716"/>
                </a:lnTo>
                <a:lnTo>
                  <a:pt x="273349" y="230356"/>
                </a:lnTo>
                <a:lnTo>
                  <a:pt x="264985" y="240116"/>
                </a:lnTo>
                <a:lnTo>
                  <a:pt x="255750" y="248972"/>
                </a:lnTo>
                <a:lnTo>
                  <a:pt x="245893" y="257014"/>
                </a:lnTo>
                <a:lnTo>
                  <a:pt x="235627" y="264420"/>
                </a:lnTo>
                <a:lnTo>
                  <a:pt x="225081" y="271401"/>
                </a:lnTo>
                <a:lnTo>
                  <a:pt x="214268" y="278130"/>
                </a:lnTo>
                <a:lnTo>
                  <a:pt x="203103" y="284668"/>
                </a:lnTo>
                <a:lnTo>
                  <a:pt x="191440" y="290918"/>
                </a:lnTo>
                <a:lnTo>
                  <a:pt x="179144" y="296606"/>
                </a:lnTo>
                <a:lnTo>
                  <a:pt x="166157" y="301318"/>
                </a:lnTo>
                <a:lnTo>
                  <a:pt x="152548" y="304566"/>
                </a:lnTo>
                <a:lnTo>
                  <a:pt x="138540" y="305886"/>
                </a:lnTo>
                <a:lnTo>
                  <a:pt x="124483" y="304934"/>
                </a:lnTo>
                <a:lnTo>
                  <a:pt x="110803" y="301565"/>
                </a:lnTo>
                <a:lnTo>
                  <a:pt x="97917" y="295868"/>
                </a:lnTo>
                <a:lnTo>
                  <a:pt x="86151" y="288158"/>
                </a:lnTo>
                <a:lnTo>
                  <a:pt x="75675" y="278917"/>
                </a:lnTo>
                <a:lnTo>
                  <a:pt x="66471" y="268701"/>
                </a:lnTo>
                <a:lnTo>
                  <a:pt x="58345" y="258037"/>
                </a:lnTo>
                <a:lnTo>
                  <a:pt x="50989" y="247330"/>
                </a:lnTo>
                <a:lnTo>
                  <a:pt x="44056" y="236806"/>
                </a:lnTo>
                <a:lnTo>
                  <a:pt x="37261" y="226495"/>
                </a:lnTo>
                <a:lnTo>
                  <a:pt x="30453" y="216262"/>
                </a:lnTo>
                <a:lnTo>
                  <a:pt x="23660" y="205872"/>
                </a:lnTo>
                <a:lnTo>
                  <a:pt x="17090" y="195073"/>
                </a:lnTo>
                <a:lnTo>
                  <a:pt x="11087" y="183675"/>
                </a:lnTo>
                <a:lnTo>
                  <a:pt x="6056" y="171601"/>
                </a:lnTo>
                <a:lnTo>
                  <a:pt x="2374" y="158909"/>
                </a:lnTo>
                <a:lnTo>
                  <a:pt x="315" y="145770"/>
                </a:lnTo>
                <a:lnTo>
                  <a:pt x="0" y="132424"/>
                </a:lnTo>
                <a:lnTo>
                  <a:pt x="1387" y="119117"/>
                </a:lnTo>
                <a:lnTo>
                  <a:pt x="4301" y="106048"/>
                </a:lnTo>
                <a:lnTo>
                  <a:pt x="8494" y="93339"/>
                </a:lnTo>
                <a:lnTo>
                  <a:pt x="13721" y="81034"/>
                </a:lnTo>
                <a:lnTo>
                  <a:pt x="19795" y="69126"/>
                </a:lnTo>
                <a:lnTo>
                  <a:pt x="26637" y="57606"/>
                </a:lnTo>
                <a:lnTo>
                  <a:pt x="34267" y="46521"/>
                </a:lnTo>
                <a:lnTo>
                  <a:pt x="42783" y="36006"/>
                </a:lnTo>
                <a:lnTo>
                  <a:pt x="52298" y="26297"/>
                </a:lnTo>
                <a:lnTo>
                  <a:pt x="62877" y="17707"/>
                </a:lnTo>
                <a:lnTo>
                  <a:pt x="74490" y="10571"/>
                </a:lnTo>
                <a:lnTo>
                  <a:pt x="86984" y="5167"/>
                </a:lnTo>
                <a:lnTo>
                  <a:pt x="100093" y="1651"/>
                </a:lnTo>
                <a:lnTo>
                  <a:pt x="113489" y="0"/>
                </a:lnTo>
                <a:lnTo>
                  <a:pt x="126845" y="1"/>
                </a:lnTo>
                <a:lnTo>
                  <a:pt x="139907" y="1284"/>
                </a:lnTo>
                <a:lnTo>
                  <a:pt x="152548" y="3386"/>
                </a:lnTo>
                <a:lnTo>
                  <a:pt x="164789" y="5851"/>
                </a:lnTo>
                <a:lnTo>
                  <a:pt x="176783" y="8329"/>
                </a:lnTo>
                <a:lnTo>
                  <a:pt x="188754" y="10646"/>
                </a:lnTo>
                <a:lnTo>
                  <a:pt x="200927" y="12851"/>
                </a:lnTo>
                <a:lnTo>
                  <a:pt x="213436" y="15196"/>
                </a:lnTo>
                <a:lnTo>
                  <a:pt x="226266" y="18087"/>
                </a:lnTo>
                <a:lnTo>
                  <a:pt x="239221" y="21989"/>
                </a:lnTo>
                <a:lnTo>
                  <a:pt x="251940" y="27319"/>
                </a:lnTo>
                <a:lnTo>
                  <a:pt x="263955" y="34363"/>
                </a:lnTo>
                <a:lnTo>
                  <a:pt x="274774" y="43211"/>
                </a:lnTo>
                <a:lnTo>
                  <a:pt x="283974" y="53745"/>
                </a:lnTo>
                <a:lnTo>
                  <a:pt x="291283" y="65672"/>
                </a:lnTo>
                <a:lnTo>
                  <a:pt x="296622" y="78587"/>
                </a:lnTo>
                <a:lnTo>
                  <a:pt x="300107" y="92063"/>
                </a:lnTo>
                <a:lnTo>
                  <a:pt x="302005" y="105723"/>
                </a:lnTo>
                <a:lnTo>
                  <a:pt x="302661" y="119301"/>
                </a:lnTo>
                <a:lnTo>
                  <a:pt x="302408" y="132659"/>
                </a:lnTo>
                <a:close/>
              </a:path>
            </a:pathLst>
          </a:custGeom>
          <a:solidFill xmlns:a="http://schemas.openxmlformats.org/drawingml/2006/main">
            <a:srgbClr val="F0ECF5"/>
          </a:solidFill>
          <a:ln xmlns:a="http://schemas.openxmlformats.org/drawingml/2006/main" w="7529">
            <a:solidFill>
              <a:srgbClr val="8D79AC"/>
            </a:solidFill>
            <a:prstDash val="solid"/>
          </a:ln>
        </p:spPr>
      </p:sp>
      <p:sp>
        <p:nvSpPr>
          <p:cNvPr id="58" name="tissue-cell-5-0-nucleus">
            <a:extLst xmlns:a="http://schemas.openxmlformats.org/drawingml/2006/main">
              <a:ext uri="{FF2B5EF4-FFF2-40B4-BE49-F238E27FC236}">
                <a16:creationId xmlns:a16="http://schemas.microsoft.com/office/drawing/2014/main" id="{11F9059E-BA81-4CAD-BFAD-3E203AC9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44" y="776104"/>
            <a:ext cx="52798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B3D8"/>
          </a:solidFill>
          <a:ln xmlns:a="http://schemas.openxmlformats.org/drawingml/2006/main" w="5882">
            <a:solidFill>
              <a:srgbClr val="8D79AC"/>
            </a:solidFill>
            <a:prstDash val="solid"/>
          </a:ln>
        </p:spPr>
      </p:sp>
      <p:sp>
        <p:nvSpPr>
          <p:cNvPr id="59" name="tissue-cell-5-1-membrane">
            <a:extLst xmlns:a="http://schemas.openxmlformats.org/drawingml/2006/main">
              <a:ext uri="{FF2B5EF4-FFF2-40B4-BE49-F238E27FC236}">
                <a16:creationId xmlns:a16="http://schemas.microsoft.com/office/drawing/2014/main" id="{F2440663-3606-4E78-8395-73FC7612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432" y="908646"/>
            <a:ext cx="149730" cy="150994"/>
          </a:xfrm>
          <a:custGeom xmlns:a="http://schemas.openxmlformats.org/drawingml/2006/main">
            <a:pathLst>
              <a:path w="303074" h="305632">
                <a:moveTo>
                  <a:pt x="301599" y="145672"/>
                </a:moveTo>
                <a:lnTo>
                  <a:pt x="300034" y="158527"/>
                </a:lnTo>
                <a:lnTo>
                  <a:pt x="297950" y="171212"/>
                </a:lnTo>
                <a:lnTo>
                  <a:pt x="295206" y="183748"/>
                </a:lnTo>
                <a:lnTo>
                  <a:pt x="291595" y="196079"/>
                </a:lnTo>
                <a:lnTo>
                  <a:pt x="286915" y="208069"/>
                </a:lnTo>
                <a:lnTo>
                  <a:pt x="281034" y="219532"/>
                </a:lnTo>
                <a:lnTo>
                  <a:pt x="273934" y="230278"/>
                </a:lnTo>
                <a:lnTo>
                  <a:pt x="265718" y="240166"/>
                </a:lnTo>
                <a:lnTo>
                  <a:pt x="256585" y="249153"/>
                </a:lnTo>
                <a:lnTo>
                  <a:pt x="246775" y="257304"/>
                </a:lnTo>
                <a:lnTo>
                  <a:pt x="236503" y="264777"/>
                </a:lnTo>
                <a:lnTo>
                  <a:pt x="225908" y="271772"/>
                </a:lnTo>
                <a:lnTo>
                  <a:pt x="215024" y="278460"/>
                </a:lnTo>
                <a:lnTo>
                  <a:pt x="203783" y="284910"/>
                </a:lnTo>
                <a:lnTo>
                  <a:pt x="192057" y="291043"/>
                </a:lnTo>
                <a:lnTo>
                  <a:pt x="179718" y="296605"/>
                </a:lnTo>
                <a:lnTo>
                  <a:pt x="166712" y="301203"/>
                </a:lnTo>
                <a:lnTo>
                  <a:pt x="153105" y="304364"/>
                </a:lnTo>
                <a:lnTo>
                  <a:pt x="139110" y="305632"/>
                </a:lnTo>
                <a:lnTo>
                  <a:pt x="125071" y="304660"/>
                </a:lnTo>
                <a:lnTo>
                  <a:pt x="111406" y="301296"/>
                </a:lnTo>
                <a:lnTo>
                  <a:pt x="98530" y="295615"/>
                </a:lnTo>
                <a:lnTo>
                  <a:pt x="86773" y="287921"/>
                </a:lnTo>
                <a:lnTo>
                  <a:pt x="76310" y="278685"/>
                </a:lnTo>
                <a:lnTo>
                  <a:pt x="67126" y="268462"/>
                </a:lnTo>
                <a:lnTo>
                  <a:pt x="59034" y="257781"/>
                </a:lnTo>
                <a:lnTo>
                  <a:pt x="51720" y="247057"/>
                </a:lnTo>
                <a:lnTo>
                  <a:pt x="44831" y="236525"/>
                </a:lnTo>
                <a:lnTo>
                  <a:pt x="38067" y="226223"/>
                </a:lnTo>
                <a:lnTo>
                  <a:pt x="31263" y="216018"/>
                </a:lnTo>
                <a:lnTo>
                  <a:pt x="24434" y="205672"/>
                </a:lnTo>
                <a:lnTo>
                  <a:pt x="17783" y="194926"/>
                </a:lnTo>
                <a:lnTo>
                  <a:pt x="11655" y="183574"/>
                </a:lnTo>
                <a:lnTo>
                  <a:pt x="6469" y="171528"/>
                </a:lnTo>
                <a:lnTo>
                  <a:pt x="2624" y="158838"/>
                </a:lnTo>
                <a:lnTo>
                  <a:pt x="419" y="145672"/>
                </a:lnTo>
                <a:lnTo>
                  <a:pt x="0" y="132277"/>
                </a:lnTo>
                <a:lnTo>
                  <a:pt x="1345" y="118913"/>
                </a:lnTo>
                <a:lnTo>
                  <a:pt x="4288" y="105797"/>
                </a:lnTo>
                <a:lnTo>
                  <a:pt x="8578" y="93069"/>
                </a:lnTo>
                <a:lnTo>
                  <a:pt x="13953" y="80785"/>
                </a:lnTo>
                <a:lnTo>
                  <a:pt x="20204" y="68942"/>
                </a:lnTo>
                <a:lnTo>
                  <a:pt x="27221" y="57528"/>
                </a:lnTo>
                <a:lnTo>
                  <a:pt x="35000" y="46571"/>
                </a:lnTo>
                <a:lnTo>
                  <a:pt x="43618" y="36186"/>
                </a:lnTo>
                <a:lnTo>
                  <a:pt x="53180" y="26586"/>
                </a:lnTo>
                <a:lnTo>
                  <a:pt x="63753" y="18065"/>
                </a:lnTo>
                <a:lnTo>
                  <a:pt x="75318" y="10942"/>
                </a:lnTo>
                <a:lnTo>
                  <a:pt x="87740" y="5497"/>
                </a:lnTo>
                <a:lnTo>
                  <a:pt x="100773" y="1893"/>
                </a:lnTo>
                <a:lnTo>
                  <a:pt x="114105" y="124"/>
                </a:lnTo>
                <a:lnTo>
                  <a:pt x="127419" y="0"/>
                </a:lnTo>
                <a:lnTo>
                  <a:pt x="140462" y="1168"/>
                </a:lnTo>
                <a:lnTo>
                  <a:pt x="153105" y="3184"/>
                </a:lnTo>
                <a:lnTo>
                  <a:pt x="165360" y="5597"/>
                </a:lnTo>
                <a:lnTo>
                  <a:pt x="177370" y="8056"/>
                </a:lnTo>
                <a:lnTo>
                  <a:pt x="189357" y="10378"/>
                </a:lnTo>
                <a:lnTo>
                  <a:pt x="201540" y="12598"/>
                </a:lnTo>
                <a:lnTo>
                  <a:pt x="214057" y="14959"/>
                </a:lnTo>
                <a:lnTo>
                  <a:pt x="226900" y="17855"/>
                </a:lnTo>
                <a:lnTo>
                  <a:pt x="239877" y="21749"/>
                </a:lnTo>
                <a:lnTo>
                  <a:pt x="252629" y="27063"/>
                </a:lnTo>
                <a:lnTo>
                  <a:pt x="264687" y="34090"/>
                </a:lnTo>
                <a:lnTo>
                  <a:pt x="275548" y="42930"/>
                </a:lnTo>
                <a:lnTo>
                  <a:pt x="284779" y="53473"/>
                </a:lnTo>
                <a:lnTo>
                  <a:pt x="292093" y="65428"/>
                </a:lnTo>
                <a:lnTo>
                  <a:pt x="297396" y="78388"/>
                </a:lnTo>
                <a:lnTo>
                  <a:pt x="300800" y="91916"/>
                </a:lnTo>
                <a:lnTo>
                  <a:pt x="302573" y="105622"/>
                </a:lnTo>
                <a:lnTo>
                  <a:pt x="303074" y="119229"/>
                </a:lnTo>
                <a:lnTo>
                  <a:pt x="302658" y="132588"/>
                </a:lnTo>
                <a:close/>
              </a:path>
            </a:pathLst>
          </a:custGeom>
          <a:solidFill xmlns:a="http://schemas.openxmlformats.org/drawingml/2006/main">
            <a:srgbClr val="F0ECF5"/>
          </a:solidFill>
          <a:ln xmlns:a="http://schemas.openxmlformats.org/drawingml/2006/main" w="7529">
            <a:solidFill>
              <a:srgbClr val="8D79AC"/>
            </a:solidFill>
            <a:prstDash val="solid"/>
          </a:ln>
        </p:spPr>
      </p:sp>
      <p:sp>
        <p:nvSpPr>
          <p:cNvPr id="60" name="tissue-cell-5-1-nucleus">
            <a:extLst xmlns:a="http://schemas.openxmlformats.org/drawingml/2006/main">
              <a:ext uri="{FF2B5EF4-FFF2-40B4-BE49-F238E27FC236}">
                <a16:creationId xmlns:a16="http://schemas.microsoft.com/office/drawing/2014/main" id="{E78C3339-8A99-45AD-9A43-2E810697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472" y="950215"/>
            <a:ext cx="52798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B3D8"/>
          </a:solidFill>
          <a:ln xmlns:a="http://schemas.openxmlformats.org/drawingml/2006/main" w="5882">
            <a:solidFill>
              <a:srgbClr val="8D79AC"/>
            </a:solidFill>
            <a:prstDash val="solid"/>
          </a:ln>
        </p:spPr>
      </p:sp>
      <p:sp>
        <p:nvSpPr>
          <p:cNvPr id="61" name="tissue-cell-5-2-membrane">
            <a:extLst xmlns:a="http://schemas.openxmlformats.org/drawingml/2006/main">
              <a:ext uri="{FF2B5EF4-FFF2-40B4-BE49-F238E27FC236}">
                <a16:creationId xmlns:a16="http://schemas.microsoft.com/office/drawing/2014/main" id="{6108FE47-5056-4E5A-86B9-21656CBD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178" y="1082709"/>
            <a:ext cx="149526" cy="151119"/>
          </a:xfrm>
          <a:custGeom xmlns:a="http://schemas.openxmlformats.org/drawingml/2006/main">
            <a:pathLst>
              <a:path w="302661" h="305886">
                <a:moveTo>
                  <a:pt x="301495" y="145770"/>
                </a:moveTo>
                <a:lnTo>
                  <a:pt x="300034" y="158674"/>
                </a:lnTo>
                <a:lnTo>
                  <a:pt x="297992" y="171416"/>
                </a:lnTo>
                <a:lnTo>
                  <a:pt x="295219" y="183999"/>
                </a:lnTo>
                <a:lnTo>
                  <a:pt x="291511" y="196349"/>
                </a:lnTo>
                <a:lnTo>
                  <a:pt x="286683" y="208318"/>
                </a:lnTo>
                <a:lnTo>
                  <a:pt x="280625" y="219716"/>
                </a:lnTo>
                <a:lnTo>
                  <a:pt x="273349" y="230356"/>
                </a:lnTo>
                <a:lnTo>
                  <a:pt x="264985" y="240116"/>
                </a:lnTo>
                <a:lnTo>
                  <a:pt x="255750" y="248972"/>
                </a:lnTo>
                <a:lnTo>
                  <a:pt x="245893" y="257014"/>
                </a:lnTo>
                <a:lnTo>
                  <a:pt x="235627" y="264420"/>
                </a:lnTo>
                <a:lnTo>
                  <a:pt x="225081" y="271401"/>
                </a:lnTo>
                <a:lnTo>
                  <a:pt x="214268" y="278130"/>
                </a:lnTo>
                <a:lnTo>
                  <a:pt x="203103" y="284668"/>
                </a:lnTo>
                <a:lnTo>
                  <a:pt x="191440" y="290918"/>
                </a:lnTo>
                <a:lnTo>
                  <a:pt x="179144" y="296606"/>
                </a:lnTo>
                <a:lnTo>
                  <a:pt x="166157" y="301318"/>
                </a:lnTo>
                <a:lnTo>
                  <a:pt x="152548" y="304566"/>
                </a:lnTo>
                <a:lnTo>
                  <a:pt x="138540" y="305886"/>
                </a:lnTo>
                <a:lnTo>
                  <a:pt x="124483" y="304934"/>
                </a:lnTo>
                <a:lnTo>
                  <a:pt x="110803" y="301565"/>
                </a:lnTo>
                <a:lnTo>
                  <a:pt x="97917" y="295868"/>
                </a:lnTo>
                <a:lnTo>
                  <a:pt x="86151" y="288158"/>
                </a:lnTo>
                <a:lnTo>
                  <a:pt x="75675" y="278917"/>
                </a:lnTo>
                <a:lnTo>
                  <a:pt x="66471" y="268701"/>
                </a:lnTo>
                <a:lnTo>
                  <a:pt x="58345" y="258037"/>
                </a:lnTo>
                <a:lnTo>
                  <a:pt x="50989" y="247330"/>
                </a:lnTo>
                <a:lnTo>
                  <a:pt x="44056" y="236806"/>
                </a:lnTo>
                <a:lnTo>
                  <a:pt x="37261" y="226495"/>
                </a:lnTo>
                <a:lnTo>
                  <a:pt x="30453" y="216262"/>
                </a:lnTo>
                <a:lnTo>
                  <a:pt x="23660" y="205872"/>
                </a:lnTo>
                <a:lnTo>
                  <a:pt x="17090" y="195073"/>
                </a:lnTo>
                <a:lnTo>
                  <a:pt x="11087" y="183675"/>
                </a:lnTo>
                <a:lnTo>
                  <a:pt x="6056" y="171601"/>
                </a:lnTo>
                <a:lnTo>
                  <a:pt x="2374" y="158909"/>
                </a:lnTo>
                <a:lnTo>
                  <a:pt x="315" y="145770"/>
                </a:lnTo>
                <a:lnTo>
                  <a:pt x="0" y="132424"/>
                </a:lnTo>
                <a:lnTo>
                  <a:pt x="1387" y="119117"/>
                </a:lnTo>
                <a:lnTo>
                  <a:pt x="4301" y="106048"/>
                </a:lnTo>
                <a:lnTo>
                  <a:pt x="8494" y="93339"/>
                </a:lnTo>
                <a:lnTo>
                  <a:pt x="13721" y="81034"/>
                </a:lnTo>
                <a:lnTo>
                  <a:pt x="19795" y="69126"/>
                </a:lnTo>
                <a:lnTo>
                  <a:pt x="26637" y="57606"/>
                </a:lnTo>
                <a:lnTo>
                  <a:pt x="34267" y="46521"/>
                </a:lnTo>
                <a:lnTo>
                  <a:pt x="42783" y="36006"/>
                </a:lnTo>
                <a:lnTo>
                  <a:pt x="52298" y="26297"/>
                </a:lnTo>
                <a:lnTo>
                  <a:pt x="62877" y="17707"/>
                </a:lnTo>
                <a:lnTo>
                  <a:pt x="74490" y="10571"/>
                </a:lnTo>
                <a:lnTo>
                  <a:pt x="86984" y="5167"/>
                </a:lnTo>
                <a:lnTo>
                  <a:pt x="100093" y="1651"/>
                </a:lnTo>
                <a:lnTo>
                  <a:pt x="113489" y="0"/>
                </a:lnTo>
                <a:lnTo>
                  <a:pt x="126845" y="1"/>
                </a:lnTo>
                <a:lnTo>
                  <a:pt x="139907" y="1284"/>
                </a:lnTo>
                <a:lnTo>
                  <a:pt x="152548" y="3386"/>
                </a:lnTo>
                <a:lnTo>
                  <a:pt x="164789" y="5851"/>
                </a:lnTo>
                <a:lnTo>
                  <a:pt x="176783" y="8329"/>
                </a:lnTo>
                <a:lnTo>
                  <a:pt x="188754" y="10646"/>
                </a:lnTo>
                <a:lnTo>
                  <a:pt x="200927" y="12851"/>
                </a:lnTo>
                <a:lnTo>
                  <a:pt x="213436" y="15196"/>
                </a:lnTo>
                <a:lnTo>
                  <a:pt x="226266" y="18087"/>
                </a:lnTo>
                <a:lnTo>
                  <a:pt x="239221" y="21989"/>
                </a:lnTo>
                <a:lnTo>
                  <a:pt x="251940" y="27319"/>
                </a:lnTo>
                <a:lnTo>
                  <a:pt x="263955" y="34363"/>
                </a:lnTo>
                <a:lnTo>
                  <a:pt x="274774" y="43211"/>
                </a:lnTo>
                <a:lnTo>
                  <a:pt x="283974" y="53745"/>
                </a:lnTo>
                <a:lnTo>
                  <a:pt x="291283" y="65672"/>
                </a:lnTo>
                <a:lnTo>
                  <a:pt x="296622" y="78587"/>
                </a:lnTo>
                <a:lnTo>
                  <a:pt x="300107" y="92063"/>
                </a:lnTo>
                <a:lnTo>
                  <a:pt x="302005" y="105723"/>
                </a:lnTo>
                <a:lnTo>
                  <a:pt x="302661" y="119301"/>
                </a:lnTo>
                <a:lnTo>
                  <a:pt x="302408" y="132659"/>
                </a:lnTo>
                <a:close/>
              </a:path>
            </a:pathLst>
          </a:custGeom>
          <a:solidFill xmlns:a="http://schemas.openxmlformats.org/drawingml/2006/main">
            <a:srgbClr val="F0ECF5"/>
          </a:solidFill>
          <a:ln xmlns:a="http://schemas.openxmlformats.org/drawingml/2006/main" w="7529">
            <a:solidFill>
              <a:srgbClr val="8D79AC"/>
            </a:solidFill>
            <a:prstDash val="solid"/>
          </a:ln>
        </p:spPr>
      </p:sp>
      <p:sp>
        <p:nvSpPr>
          <p:cNvPr id="62" name="tissue-cell-5-2-nucleus">
            <a:extLst xmlns:a="http://schemas.openxmlformats.org/drawingml/2006/main">
              <a:ext uri="{FF2B5EF4-FFF2-40B4-BE49-F238E27FC236}">
                <a16:creationId xmlns:a16="http://schemas.microsoft.com/office/drawing/2014/main" id="{4D7957FB-885D-4E6D-9008-756D52AC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44" y="1124326"/>
            <a:ext cx="52798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B3D8"/>
          </a:solidFill>
          <a:ln xmlns:a="http://schemas.openxmlformats.org/drawingml/2006/main" w="5882">
            <a:solidFill>
              <a:srgbClr val="8D79AC"/>
            </a:solidFill>
            <a:prstDash val="solid"/>
          </a:ln>
        </p:spPr>
      </p:sp>
      <p:sp>
        <p:nvSpPr>
          <p:cNvPr id="63" name="tissue-cell-5-3-membrane">
            <a:extLst xmlns:a="http://schemas.openxmlformats.org/drawingml/2006/main">
              <a:ext uri="{FF2B5EF4-FFF2-40B4-BE49-F238E27FC236}">
                <a16:creationId xmlns:a16="http://schemas.microsoft.com/office/drawing/2014/main" id="{985C8EE0-E0D4-492B-9957-EBAD2851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432" y="1256869"/>
            <a:ext cx="149730" cy="150994"/>
          </a:xfrm>
          <a:custGeom xmlns:a="http://schemas.openxmlformats.org/drawingml/2006/main">
            <a:pathLst>
              <a:path w="303074" h="305632">
                <a:moveTo>
                  <a:pt x="301599" y="145672"/>
                </a:moveTo>
                <a:lnTo>
                  <a:pt x="300034" y="158527"/>
                </a:lnTo>
                <a:lnTo>
                  <a:pt x="297950" y="171212"/>
                </a:lnTo>
                <a:lnTo>
                  <a:pt x="295206" y="183748"/>
                </a:lnTo>
                <a:lnTo>
                  <a:pt x="291595" y="196079"/>
                </a:lnTo>
                <a:lnTo>
                  <a:pt x="286915" y="208069"/>
                </a:lnTo>
                <a:lnTo>
                  <a:pt x="281034" y="219532"/>
                </a:lnTo>
                <a:lnTo>
                  <a:pt x="273934" y="230278"/>
                </a:lnTo>
                <a:lnTo>
                  <a:pt x="265718" y="240166"/>
                </a:lnTo>
                <a:lnTo>
                  <a:pt x="256585" y="249153"/>
                </a:lnTo>
                <a:lnTo>
                  <a:pt x="246775" y="257304"/>
                </a:lnTo>
                <a:lnTo>
                  <a:pt x="236503" y="264777"/>
                </a:lnTo>
                <a:lnTo>
                  <a:pt x="225908" y="271772"/>
                </a:lnTo>
                <a:lnTo>
                  <a:pt x="215024" y="278460"/>
                </a:lnTo>
                <a:lnTo>
                  <a:pt x="203783" y="284910"/>
                </a:lnTo>
                <a:lnTo>
                  <a:pt x="192057" y="291043"/>
                </a:lnTo>
                <a:lnTo>
                  <a:pt x="179718" y="296605"/>
                </a:lnTo>
                <a:lnTo>
                  <a:pt x="166712" y="301203"/>
                </a:lnTo>
                <a:lnTo>
                  <a:pt x="153105" y="304364"/>
                </a:lnTo>
                <a:lnTo>
                  <a:pt x="139110" y="305632"/>
                </a:lnTo>
                <a:lnTo>
                  <a:pt x="125071" y="304660"/>
                </a:lnTo>
                <a:lnTo>
                  <a:pt x="111406" y="301296"/>
                </a:lnTo>
                <a:lnTo>
                  <a:pt x="98530" y="295615"/>
                </a:lnTo>
                <a:lnTo>
                  <a:pt x="86773" y="287921"/>
                </a:lnTo>
                <a:lnTo>
                  <a:pt x="76310" y="278685"/>
                </a:lnTo>
                <a:lnTo>
                  <a:pt x="67126" y="268462"/>
                </a:lnTo>
                <a:lnTo>
                  <a:pt x="59034" y="257781"/>
                </a:lnTo>
                <a:lnTo>
                  <a:pt x="51720" y="247057"/>
                </a:lnTo>
                <a:lnTo>
                  <a:pt x="44831" y="236525"/>
                </a:lnTo>
                <a:lnTo>
                  <a:pt x="38067" y="226223"/>
                </a:lnTo>
                <a:lnTo>
                  <a:pt x="31263" y="216018"/>
                </a:lnTo>
                <a:lnTo>
                  <a:pt x="24434" y="205672"/>
                </a:lnTo>
                <a:lnTo>
                  <a:pt x="17783" y="194926"/>
                </a:lnTo>
                <a:lnTo>
                  <a:pt x="11655" y="183574"/>
                </a:lnTo>
                <a:lnTo>
                  <a:pt x="6469" y="171528"/>
                </a:lnTo>
                <a:lnTo>
                  <a:pt x="2624" y="158838"/>
                </a:lnTo>
                <a:lnTo>
                  <a:pt x="419" y="145672"/>
                </a:lnTo>
                <a:lnTo>
                  <a:pt x="0" y="132277"/>
                </a:lnTo>
                <a:lnTo>
                  <a:pt x="1345" y="118913"/>
                </a:lnTo>
                <a:lnTo>
                  <a:pt x="4288" y="105797"/>
                </a:lnTo>
                <a:lnTo>
                  <a:pt x="8578" y="93069"/>
                </a:lnTo>
                <a:lnTo>
                  <a:pt x="13953" y="80785"/>
                </a:lnTo>
                <a:lnTo>
                  <a:pt x="20204" y="68942"/>
                </a:lnTo>
                <a:lnTo>
                  <a:pt x="27221" y="57528"/>
                </a:lnTo>
                <a:lnTo>
                  <a:pt x="35000" y="46571"/>
                </a:lnTo>
                <a:lnTo>
                  <a:pt x="43618" y="36186"/>
                </a:lnTo>
                <a:lnTo>
                  <a:pt x="53180" y="26586"/>
                </a:lnTo>
                <a:lnTo>
                  <a:pt x="63753" y="18065"/>
                </a:lnTo>
                <a:lnTo>
                  <a:pt x="75318" y="10942"/>
                </a:lnTo>
                <a:lnTo>
                  <a:pt x="87740" y="5497"/>
                </a:lnTo>
                <a:lnTo>
                  <a:pt x="100773" y="1893"/>
                </a:lnTo>
                <a:lnTo>
                  <a:pt x="114105" y="124"/>
                </a:lnTo>
                <a:lnTo>
                  <a:pt x="127419" y="0"/>
                </a:lnTo>
                <a:lnTo>
                  <a:pt x="140462" y="1168"/>
                </a:lnTo>
                <a:lnTo>
                  <a:pt x="153105" y="3184"/>
                </a:lnTo>
                <a:lnTo>
                  <a:pt x="165360" y="5597"/>
                </a:lnTo>
                <a:lnTo>
                  <a:pt x="177370" y="8056"/>
                </a:lnTo>
                <a:lnTo>
                  <a:pt x="189357" y="10378"/>
                </a:lnTo>
                <a:lnTo>
                  <a:pt x="201540" y="12598"/>
                </a:lnTo>
                <a:lnTo>
                  <a:pt x="214057" y="14959"/>
                </a:lnTo>
                <a:lnTo>
                  <a:pt x="226900" y="17855"/>
                </a:lnTo>
                <a:lnTo>
                  <a:pt x="239877" y="21749"/>
                </a:lnTo>
                <a:lnTo>
                  <a:pt x="252629" y="27063"/>
                </a:lnTo>
                <a:lnTo>
                  <a:pt x="264687" y="34090"/>
                </a:lnTo>
                <a:lnTo>
                  <a:pt x="275548" y="42930"/>
                </a:lnTo>
                <a:lnTo>
                  <a:pt x="284779" y="53473"/>
                </a:lnTo>
                <a:lnTo>
                  <a:pt x="292093" y="65428"/>
                </a:lnTo>
                <a:lnTo>
                  <a:pt x="297396" y="78388"/>
                </a:lnTo>
                <a:lnTo>
                  <a:pt x="300800" y="91916"/>
                </a:lnTo>
                <a:lnTo>
                  <a:pt x="302573" y="105622"/>
                </a:lnTo>
                <a:lnTo>
                  <a:pt x="303074" y="119229"/>
                </a:lnTo>
                <a:lnTo>
                  <a:pt x="302658" y="132588"/>
                </a:lnTo>
                <a:close/>
              </a:path>
            </a:pathLst>
          </a:custGeom>
          <a:solidFill xmlns:a="http://schemas.openxmlformats.org/drawingml/2006/main">
            <a:srgbClr val="F0ECF5"/>
          </a:solidFill>
          <a:ln xmlns:a="http://schemas.openxmlformats.org/drawingml/2006/main" w="7529">
            <a:solidFill>
              <a:srgbClr val="8D79AC"/>
            </a:solidFill>
            <a:prstDash val="solid"/>
          </a:ln>
        </p:spPr>
      </p:sp>
      <p:sp>
        <p:nvSpPr>
          <p:cNvPr id="64" name="tissue-cell-5-3-nucleus">
            <a:extLst xmlns:a="http://schemas.openxmlformats.org/drawingml/2006/main">
              <a:ext uri="{FF2B5EF4-FFF2-40B4-BE49-F238E27FC236}">
                <a16:creationId xmlns:a16="http://schemas.microsoft.com/office/drawing/2014/main" id="{49D79809-C15E-4F58-AEE9-B3F383FC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472" y="1298438"/>
            <a:ext cx="52798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B3D8"/>
          </a:solidFill>
          <a:ln xmlns:a="http://schemas.openxmlformats.org/drawingml/2006/main" w="5882">
            <a:solidFill>
              <a:srgbClr val="8D79AC"/>
            </a:solidFill>
            <a:prstDash val="solid"/>
          </a:ln>
        </p:spPr>
      </p:sp>
      <p:sp>
        <p:nvSpPr>
          <p:cNvPr id="65" name="tissue-cell-5-4-membrane">
            <a:extLst xmlns:a="http://schemas.openxmlformats.org/drawingml/2006/main">
              <a:ext uri="{FF2B5EF4-FFF2-40B4-BE49-F238E27FC236}">
                <a16:creationId xmlns:a16="http://schemas.microsoft.com/office/drawing/2014/main" id="{73E760B2-CAF1-4D24-9540-EB076B11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178" y="1430932"/>
            <a:ext cx="149526" cy="151119"/>
          </a:xfrm>
          <a:custGeom xmlns:a="http://schemas.openxmlformats.org/drawingml/2006/main">
            <a:pathLst>
              <a:path w="302661" h="305886">
                <a:moveTo>
                  <a:pt x="301495" y="145770"/>
                </a:moveTo>
                <a:lnTo>
                  <a:pt x="300034" y="158674"/>
                </a:lnTo>
                <a:lnTo>
                  <a:pt x="297992" y="171416"/>
                </a:lnTo>
                <a:lnTo>
                  <a:pt x="295219" y="183999"/>
                </a:lnTo>
                <a:lnTo>
                  <a:pt x="291511" y="196349"/>
                </a:lnTo>
                <a:lnTo>
                  <a:pt x="286683" y="208318"/>
                </a:lnTo>
                <a:lnTo>
                  <a:pt x="280625" y="219716"/>
                </a:lnTo>
                <a:lnTo>
                  <a:pt x="273349" y="230356"/>
                </a:lnTo>
                <a:lnTo>
                  <a:pt x="264985" y="240116"/>
                </a:lnTo>
                <a:lnTo>
                  <a:pt x="255750" y="248972"/>
                </a:lnTo>
                <a:lnTo>
                  <a:pt x="245893" y="257014"/>
                </a:lnTo>
                <a:lnTo>
                  <a:pt x="235627" y="264420"/>
                </a:lnTo>
                <a:lnTo>
                  <a:pt x="225081" y="271401"/>
                </a:lnTo>
                <a:lnTo>
                  <a:pt x="214268" y="278130"/>
                </a:lnTo>
                <a:lnTo>
                  <a:pt x="203103" y="284668"/>
                </a:lnTo>
                <a:lnTo>
                  <a:pt x="191440" y="290918"/>
                </a:lnTo>
                <a:lnTo>
                  <a:pt x="179144" y="296606"/>
                </a:lnTo>
                <a:lnTo>
                  <a:pt x="166157" y="301318"/>
                </a:lnTo>
                <a:lnTo>
                  <a:pt x="152548" y="304566"/>
                </a:lnTo>
                <a:lnTo>
                  <a:pt x="138540" y="305886"/>
                </a:lnTo>
                <a:lnTo>
                  <a:pt x="124483" y="304934"/>
                </a:lnTo>
                <a:lnTo>
                  <a:pt x="110803" y="301565"/>
                </a:lnTo>
                <a:lnTo>
                  <a:pt x="97917" y="295868"/>
                </a:lnTo>
                <a:lnTo>
                  <a:pt x="86151" y="288158"/>
                </a:lnTo>
                <a:lnTo>
                  <a:pt x="75675" y="278917"/>
                </a:lnTo>
                <a:lnTo>
                  <a:pt x="66471" y="268701"/>
                </a:lnTo>
                <a:lnTo>
                  <a:pt x="58345" y="258037"/>
                </a:lnTo>
                <a:lnTo>
                  <a:pt x="50989" y="247330"/>
                </a:lnTo>
                <a:lnTo>
                  <a:pt x="44056" y="236806"/>
                </a:lnTo>
                <a:lnTo>
                  <a:pt x="37261" y="226495"/>
                </a:lnTo>
                <a:lnTo>
                  <a:pt x="30453" y="216262"/>
                </a:lnTo>
                <a:lnTo>
                  <a:pt x="23660" y="205872"/>
                </a:lnTo>
                <a:lnTo>
                  <a:pt x="17090" y="195073"/>
                </a:lnTo>
                <a:lnTo>
                  <a:pt x="11087" y="183675"/>
                </a:lnTo>
                <a:lnTo>
                  <a:pt x="6056" y="171601"/>
                </a:lnTo>
                <a:lnTo>
                  <a:pt x="2374" y="158909"/>
                </a:lnTo>
                <a:lnTo>
                  <a:pt x="315" y="145770"/>
                </a:lnTo>
                <a:lnTo>
                  <a:pt x="0" y="132424"/>
                </a:lnTo>
                <a:lnTo>
                  <a:pt x="1387" y="119117"/>
                </a:lnTo>
                <a:lnTo>
                  <a:pt x="4301" y="106048"/>
                </a:lnTo>
                <a:lnTo>
                  <a:pt x="8494" y="93339"/>
                </a:lnTo>
                <a:lnTo>
                  <a:pt x="13721" y="81034"/>
                </a:lnTo>
                <a:lnTo>
                  <a:pt x="19795" y="69126"/>
                </a:lnTo>
                <a:lnTo>
                  <a:pt x="26637" y="57606"/>
                </a:lnTo>
                <a:lnTo>
                  <a:pt x="34267" y="46521"/>
                </a:lnTo>
                <a:lnTo>
                  <a:pt x="42783" y="36006"/>
                </a:lnTo>
                <a:lnTo>
                  <a:pt x="52298" y="26297"/>
                </a:lnTo>
                <a:lnTo>
                  <a:pt x="62877" y="17707"/>
                </a:lnTo>
                <a:lnTo>
                  <a:pt x="74490" y="10571"/>
                </a:lnTo>
                <a:lnTo>
                  <a:pt x="86984" y="5167"/>
                </a:lnTo>
                <a:lnTo>
                  <a:pt x="100093" y="1651"/>
                </a:lnTo>
                <a:lnTo>
                  <a:pt x="113489" y="0"/>
                </a:lnTo>
                <a:lnTo>
                  <a:pt x="126845" y="1"/>
                </a:lnTo>
                <a:lnTo>
                  <a:pt x="139907" y="1284"/>
                </a:lnTo>
                <a:lnTo>
                  <a:pt x="152548" y="3386"/>
                </a:lnTo>
                <a:lnTo>
                  <a:pt x="164789" y="5851"/>
                </a:lnTo>
                <a:lnTo>
                  <a:pt x="176783" y="8329"/>
                </a:lnTo>
                <a:lnTo>
                  <a:pt x="188754" y="10646"/>
                </a:lnTo>
                <a:lnTo>
                  <a:pt x="200927" y="12851"/>
                </a:lnTo>
                <a:lnTo>
                  <a:pt x="213436" y="15196"/>
                </a:lnTo>
                <a:lnTo>
                  <a:pt x="226266" y="18087"/>
                </a:lnTo>
                <a:lnTo>
                  <a:pt x="239221" y="21989"/>
                </a:lnTo>
                <a:lnTo>
                  <a:pt x="251940" y="27319"/>
                </a:lnTo>
                <a:lnTo>
                  <a:pt x="263955" y="34363"/>
                </a:lnTo>
                <a:lnTo>
                  <a:pt x="274774" y="43211"/>
                </a:lnTo>
                <a:lnTo>
                  <a:pt x="283974" y="53745"/>
                </a:lnTo>
                <a:lnTo>
                  <a:pt x="291283" y="65672"/>
                </a:lnTo>
                <a:lnTo>
                  <a:pt x="296622" y="78587"/>
                </a:lnTo>
                <a:lnTo>
                  <a:pt x="300107" y="92063"/>
                </a:lnTo>
                <a:lnTo>
                  <a:pt x="302005" y="105723"/>
                </a:lnTo>
                <a:lnTo>
                  <a:pt x="302661" y="119301"/>
                </a:lnTo>
                <a:lnTo>
                  <a:pt x="302408" y="132659"/>
                </a:lnTo>
                <a:close/>
              </a:path>
            </a:pathLst>
          </a:custGeom>
          <a:solidFill xmlns:a="http://schemas.openxmlformats.org/drawingml/2006/main">
            <a:srgbClr val="F0ECF5"/>
          </a:solidFill>
          <a:ln xmlns:a="http://schemas.openxmlformats.org/drawingml/2006/main" w="7529">
            <a:solidFill>
              <a:srgbClr val="8D79AC"/>
            </a:solidFill>
            <a:prstDash val="solid"/>
          </a:ln>
        </p:spPr>
      </p:sp>
      <p:sp>
        <p:nvSpPr>
          <p:cNvPr id="66" name="tissue-cell-5-4-nucleus">
            <a:extLst xmlns:a="http://schemas.openxmlformats.org/drawingml/2006/main">
              <a:ext uri="{FF2B5EF4-FFF2-40B4-BE49-F238E27FC236}">
                <a16:creationId xmlns:a16="http://schemas.microsoft.com/office/drawing/2014/main" id="{A9D25C84-80C2-43F0-BFBD-BECBFAB5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44" y="1472549"/>
            <a:ext cx="52798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B3D8"/>
          </a:solidFill>
          <a:ln xmlns:a="http://schemas.openxmlformats.org/drawingml/2006/main" w="5882">
            <a:solidFill>
              <a:srgbClr val="8D79AC"/>
            </a:solidFill>
            <a:prstDash val="solid"/>
          </a:ln>
        </p:spPr>
      </p:sp>
      <p:sp>
        <p:nvSpPr>
          <p:cNvPr id="67" name="tissue-cell-6-1-membrane">
            <a:extLst xmlns:a="http://schemas.openxmlformats.org/drawingml/2006/main">
              <a:ext uri="{FF2B5EF4-FFF2-40B4-BE49-F238E27FC236}">
                <a16:creationId xmlns:a16="http://schemas.microsoft.com/office/drawing/2014/main" id="{C7915AD6-4F77-41E9-983C-FAE9AEE9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556" y="852453"/>
            <a:ext cx="142374" cy="149647"/>
          </a:xfrm>
          <a:custGeom xmlns:a="http://schemas.openxmlformats.org/drawingml/2006/main">
            <a:pathLst>
              <a:path w="288185" h="302905">
                <a:moveTo>
                  <a:pt x="284512" y="145239"/>
                </a:moveTo>
                <a:lnTo>
                  <a:pt x="282385" y="157746"/>
                </a:lnTo>
                <a:lnTo>
                  <a:pt x="280156" y="170028"/>
                </a:lnTo>
                <a:lnTo>
                  <a:pt x="277776" y="182231"/>
                </a:lnTo>
                <a:lnTo>
                  <a:pt x="275046" y="194432"/>
                </a:lnTo>
                <a:lnTo>
                  <a:pt x="271689" y="206601"/>
                </a:lnTo>
                <a:lnTo>
                  <a:pt x="267420" y="218594"/>
                </a:lnTo>
                <a:lnTo>
                  <a:pt x="262021" y="230187"/>
                </a:lnTo>
                <a:lnTo>
                  <a:pt x="255395" y="241129"/>
                </a:lnTo>
                <a:lnTo>
                  <a:pt x="247571" y="251204"/>
                </a:lnTo>
                <a:lnTo>
                  <a:pt x="238691" y="260279"/>
                </a:lnTo>
                <a:lnTo>
                  <a:pt x="228961" y="268333"/>
                </a:lnTo>
                <a:lnTo>
                  <a:pt x="218591" y="275444"/>
                </a:lnTo>
                <a:lnTo>
                  <a:pt x="207748" y="281743"/>
                </a:lnTo>
                <a:lnTo>
                  <a:pt x="196524" y="287357"/>
                </a:lnTo>
                <a:lnTo>
                  <a:pt x="184937" y="292342"/>
                </a:lnTo>
                <a:lnTo>
                  <a:pt x="172964" y="296633"/>
                </a:lnTo>
                <a:lnTo>
                  <a:pt x="160586" y="300034"/>
                </a:lnTo>
                <a:lnTo>
                  <a:pt x="147840" y="302243"/>
                </a:lnTo>
                <a:lnTo>
                  <a:pt x="134857" y="302905"/>
                </a:lnTo>
                <a:lnTo>
                  <a:pt x="121874" y="301703"/>
                </a:lnTo>
                <a:lnTo>
                  <a:pt x="109206" y="298431"/>
                </a:lnTo>
                <a:lnTo>
                  <a:pt x="97200" y="293065"/>
                </a:lnTo>
                <a:lnTo>
                  <a:pt x="86160" y="285779"/>
                </a:lnTo>
                <a:lnTo>
                  <a:pt x="76280" y="276931"/>
                </a:lnTo>
                <a:lnTo>
                  <a:pt x="67599" y="266997"/>
                </a:lnTo>
                <a:lnTo>
                  <a:pt x="59986" y="256483"/>
                </a:lnTo>
                <a:lnTo>
                  <a:pt x="53168" y="245828"/>
                </a:lnTo>
                <a:lnTo>
                  <a:pt x="46795" y="235325"/>
                </a:lnTo>
                <a:lnTo>
                  <a:pt x="40528" y="225075"/>
                </a:lnTo>
                <a:lnTo>
                  <a:pt x="34127" y="214994"/>
                </a:lnTo>
                <a:lnTo>
                  <a:pt x="27518" y="204852"/>
                </a:lnTo>
                <a:lnTo>
                  <a:pt x="20831" y="194356"/>
                </a:lnTo>
                <a:lnTo>
                  <a:pt x="14380" y="183234"/>
                </a:lnTo>
                <a:lnTo>
                  <a:pt x="8613" y="171323"/>
                </a:lnTo>
                <a:lnTo>
                  <a:pt x="4022" y="158608"/>
                </a:lnTo>
                <a:lnTo>
                  <a:pt x="1048" y="145239"/>
                </a:lnTo>
                <a:lnTo>
                  <a:pt x="0" y="131496"/>
                </a:lnTo>
                <a:lnTo>
                  <a:pt x="999" y="117729"/>
                </a:lnTo>
                <a:lnTo>
                  <a:pt x="3970" y="104280"/>
                </a:lnTo>
                <a:lnTo>
                  <a:pt x="8677" y="91422"/>
                </a:lnTo>
                <a:lnTo>
                  <a:pt x="14784" y="79316"/>
                </a:lnTo>
                <a:lnTo>
                  <a:pt x="21933" y="68003"/>
                </a:lnTo>
                <a:lnTo>
                  <a:pt x="29821" y="57437"/>
                </a:lnTo>
                <a:lnTo>
                  <a:pt x="38249" y="47534"/>
                </a:lnTo>
                <a:lnTo>
                  <a:pt x="47131" y="38237"/>
                </a:lnTo>
                <a:lnTo>
                  <a:pt x="56484" y="29561"/>
                </a:lnTo>
                <a:lnTo>
                  <a:pt x="66373" y="21621"/>
                </a:lnTo>
                <a:lnTo>
                  <a:pt x="76859" y="14614"/>
                </a:lnTo>
                <a:lnTo>
                  <a:pt x="87951" y="8781"/>
                </a:lnTo>
                <a:lnTo>
                  <a:pt x="99573" y="4340"/>
                </a:lnTo>
                <a:lnTo>
                  <a:pt x="111571" y="1424"/>
                </a:lnTo>
                <a:lnTo>
                  <a:pt x="123741" y="28"/>
                </a:lnTo>
                <a:lnTo>
                  <a:pt x="135880" y="0"/>
                </a:lnTo>
                <a:lnTo>
                  <a:pt x="147840" y="1062"/>
                </a:lnTo>
                <a:lnTo>
                  <a:pt x="159562" y="2871"/>
                </a:lnTo>
                <a:lnTo>
                  <a:pt x="171097" y="5098"/>
                </a:lnTo>
                <a:lnTo>
                  <a:pt x="182572" y="7513"/>
                </a:lnTo>
                <a:lnTo>
                  <a:pt x="194151" y="10048"/>
                </a:lnTo>
                <a:lnTo>
                  <a:pt x="205957" y="12817"/>
                </a:lnTo>
                <a:lnTo>
                  <a:pt x="218012" y="16101"/>
                </a:lnTo>
                <a:lnTo>
                  <a:pt x="230187" y="20285"/>
                </a:lnTo>
                <a:lnTo>
                  <a:pt x="242193" y="25765"/>
                </a:lnTo>
                <a:lnTo>
                  <a:pt x="253607" y="32861"/>
                </a:lnTo>
                <a:lnTo>
                  <a:pt x="263941" y="41729"/>
                </a:lnTo>
                <a:lnTo>
                  <a:pt x="272728" y="52325"/>
                </a:lnTo>
                <a:lnTo>
                  <a:pt x="279614" y="64404"/>
                </a:lnTo>
                <a:lnTo>
                  <a:pt x="284424" y="77568"/>
                </a:lnTo>
                <a:lnTo>
                  <a:pt x="287200" y="91346"/>
                </a:lnTo>
                <a:lnTo>
                  <a:pt x="288185" y="105283"/>
                </a:lnTo>
                <a:lnTo>
                  <a:pt x="287770" y="119023"/>
                </a:lnTo>
                <a:lnTo>
                  <a:pt x="286407" y="132358"/>
                </a:lnTo>
                <a:close/>
              </a:path>
            </a:pathLst>
          </a:custGeom>
          <a:solidFill xmlns:a="http://schemas.openxmlformats.org/drawingml/2006/main">
            <a:srgbClr val="F0ECF5"/>
          </a:solidFill>
          <a:ln xmlns:a="http://schemas.openxmlformats.org/drawingml/2006/main" w="7529">
            <a:solidFill>
              <a:srgbClr val="8D79AC"/>
            </a:solidFill>
            <a:prstDash val="solid"/>
          </a:ln>
        </p:spPr>
      </p:sp>
      <p:sp>
        <p:nvSpPr>
          <p:cNvPr id="68" name="tissue-cell-6-1-nucleus">
            <a:extLst xmlns:a="http://schemas.openxmlformats.org/drawingml/2006/main">
              <a:ext uri="{FF2B5EF4-FFF2-40B4-BE49-F238E27FC236}">
                <a16:creationId xmlns:a16="http://schemas.microsoft.com/office/drawing/2014/main" id="{C6C5518A-DE20-425F-849A-3A13C11F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01" y="893808"/>
            <a:ext cx="49692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B3D8"/>
          </a:solidFill>
          <a:ln xmlns:a="http://schemas.openxmlformats.org/drawingml/2006/main" w="5882">
            <a:solidFill>
              <a:srgbClr val="8D79AC"/>
            </a:solidFill>
            <a:prstDash val="solid"/>
          </a:ln>
        </p:spPr>
      </p:sp>
      <p:sp>
        <p:nvSpPr>
          <p:cNvPr id="69" name="tissue-cell-6-2-membrane">
            <a:extLst xmlns:a="http://schemas.openxmlformats.org/drawingml/2006/main">
              <a:ext uri="{FF2B5EF4-FFF2-40B4-BE49-F238E27FC236}">
                <a16:creationId xmlns:a16="http://schemas.microsoft.com/office/drawing/2014/main" id="{8AF737E9-0D00-40D1-B38D-A075E057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230" y="1026566"/>
            <a:ext cx="142212" cy="149833"/>
          </a:xfrm>
          <a:custGeom xmlns:a="http://schemas.openxmlformats.org/drawingml/2006/main">
            <a:pathLst>
              <a:path w="287856" h="303283">
                <a:moveTo>
                  <a:pt x="284445" y="145237"/>
                </a:moveTo>
                <a:lnTo>
                  <a:pt x="282385" y="157782"/>
                </a:lnTo>
                <a:lnTo>
                  <a:pt x="280184" y="170108"/>
                </a:lnTo>
                <a:lnTo>
                  <a:pt x="277781" y="182347"/>
                </a:lnTo>
                <a:lnTo>
                  <a:pt x="274976" y="194561"/>
                </a:lnTo>
                <a:lnTo>
                  <a:pt x="271498" y="206707"/>
                </a:lnTo>
                <a:lnTo>
                  <a:pt x="267081" y="218635"/>
                </a:lnTo>
                <a:lnTo>
                  <a:pt x="261531" y="230125"/>
                </a:lnTo>
                <a:lnTo>
                  <a:pt x="254771" y="240937"/>
                </a:lnTo>
                <a:lnTo>
                  <a:pt x="246854" y="250875"/>
                </a:lnTo>
                <a:lnTo>
                  <a:pt x="237931" y="259833"/>
                </a:lnTo>
                <a:lnTo>
                  <a:pt x="228210" y="267813"/>
                </a:lnTo>
                <a:lnTo>
                  <a:pt x="217892" y="274909"/>
                </a:lnTo>
                <a:lnTo>
                  <a:pt x="207128" y="281261"/>
                </a:lnTo>
                <a:lnTo>
                  <a:pt x="195989" y="286990"/>
                </a:lnTo>
                <a:lnTo>
                  <a:pt x="184475" y="292134"/>
                </a:lnTo>
                <a:lnTo>
                  <a:pt x="172550" y="296605"/>
                </a:lnTo>
                <a:lnTo>
                  <a:pt x="160188" y="300180"/>
                </a:lnTo>
                <a:lnTo>
                  <a:pt x="147430" y="302529"/>
                </a:lnTo>
                <a:lnTo>
                  <a:pt x="134416" y="303283"/>
                </a:lnTo>
                <a:lnTo>
                  <a:pt x="121395" y="302116"/>
                </a:lnTo>
                <a:lnTo>
                  <a:pt x="108696" y="298828"/>
                </a:lnTo>
                <a:lnTo>
                  <a:pt x="96673" y="293406"/>
                </a:lnTo>
                <a:lnTo>
                  <a:pt x="85633" y="286042"/>
                </a:lnTo>
                <a:lnTo>
                  <a:pt x="75769" y="277113"/>
                </a:lnTo>
                <a:lnTo>
                  <a:pt x="67112" y="267110"/>
                </a:lnTo>
                <a:lnTo>
                  <a:pt x="59523" y="256547"/>
                </a:lnTo>
                <a:lnTo>
                  <a:pt x="52722" y="245864"/>
                </a:lnTo>
                <a:lnTo>
                  <a:pt x="46357" y="235347"/>
                </a:lnTo>
                <a:lnTo>
                  <a:pt x="40091" y="225093"/>
                </a:lnTo>
                <a:lnTo>
                  <a:pt x="33692" y="215007"/>
                </a:lnTo>
                <a:lnTo>
                  <a:pt x="27097" y="204856"/>
                </a:lnTo>
                <a:lnTo>
                  <a:pt x="20443" y="194345"/>
                </a:lnTo>
                <a:lnTo>
                  <a:pt x="14050" y="183209"/>
                </a:lnTo>
                <a:lnTo>
                  <a:pt x="8364" y="171290"/>
                </a:lnTo>
                <a:lnTo>
                  <a:pt x="3865" y="158582"/>
                </a:lnTo>
                <a:lnTo>
                  <a:pt x="981" y="145237"/>
                </a:lnTo>
                <a:lnTo>
                  <a:pt x="0" y="131532"/>
                </a:lnTo>
                <a:lnTo>
                  <a:pt x="1027" y="117809"/>
                </a:lnTo>
                <a:lnTo>
                  <a:pt x="3975" y="104396"/>
                </a:lnTo>
                <a:lnTo>
                  <a:pt x="8607" y="91551"/>
                </a:lnTo>
                <a:lnTo>
                  <a:pt x="14593" y="79423"/>
                </a:lnTo>
                <a:lnTo>
                  <a:pt x="21594" y="68045"/>
                </a:lnTo>
                <a:lnTo>
                  <a:pt x="29331" y="57375"/>
                </a:lnTo>
                <a:lnTo>
                  <a:pt x="37625" y="47341"/>
                </a:lnTo>
                <a:lnTo>
                  <a:pt x="46414" y="37908"/>
                </a:lnTo>
                <a:lnTo>
                  <a:pt x="55724" y="29115"/>
                </a:lnTo>
                <a:lnTo>
                  <a:pt x="65621" y="21100"/>
                </a:lnTo>
                <a:lnTo>
                  <a:pt x="76160" y="14079"/>
                </a:lnTo>
                <a:lnTo>
                  <a:pt x="87331" y="8299"/>
                </a:lnTo>
                <a:lnTo>
                  <a:pt x="99038" y="3973"/>
                </a:lnTo>
                <a:lnTo>
                  <a:pt x="111109" y="1216"/>
                </a:lnTo>
                <a:lnTo>
                  <a:pt x="123327" y="0"/>
                </a:lnTo>
                <a:lnTo>
                  <a:pt x="135482" y="145"/>
                </a:lnTo>
                <a:lnTo>
                  <a:pt x="147430" y="1348"/>
                </a:lnTo>
                <a:lnTo>
                  <a:pt x="159121" y="3249"/>
                </a:lnTo>
                <a:lnTo>
                  <a:pt x="170618" y="5511"/>
                </a:lnTo>
                <a:lnTo>
                  <a:pt x="182062" y="7910"/>
                </a:lnTo>
                <a:lnTo>
                  <a:pt x="193623" y="10388"/>
                </a:lnTo>
                <a:lnTo>
                  <a:pt x="205430" y="13080"/>
                </a:lnTo>
                <a:lnTo>
                  <a:pt x="217501" y="16283"/>
                </a:lnTo>
                <a:lnTo>
                  <a:pt x="229701" y="20398"/>
                </a:lnTo>
                <a:lnTo>
                  <a:pt x="241730" y="25830"/>
                </a:lnTo>
                <a:lnTo>
                  <a:pt x="253161" y="32897"/>
                </a:lnTo>
                <a:lnTo>
                  <a:pt x="263503" y="41752"/>
                </a:lnTo>
                <a:lnTo>
                  <a:pt x="272291" y="52343"/>
                </a:lnTo>
                <a:lnTo>
                  <a:pt x="279179" y="64417"/>
                </a:lnTo>
                <a:lnTo>
                  <a:pt x="284003" y="77571"/>
                </a:lnTo>
                <a:lnTo>
                  <a:pt x="286812" y="91335"/>
                </a:lnTo>
                <a:lnTo>
                  <a:pt x="287856" y="105258"/>
                </a:lnTo>
                <a:lnTo>
                  <a:pt x="287521" y="118991"/>
                </a:lnTo>
                <a:lnTo>
                  <a:pt x="286251" y="132332"/>
                </a:lnTo>
                <a:close/>
              </a:path>
            </a:pathLst>
          </a:custGeom>
          <a:solidFill xmlns:a="http://schemas.openxmlformats.org/drawingml/2006/main">
            <a:srgbClr val="F0ECF5"/>
          </a:solidFill>
          <a:ln xmlns:a="http://schemas.openxmlformats.org/drawingml/2006/main" w="7529">
            <a:solidFill>
              <a:srgbClr val="8D79AC"/>
            </a:solidFill>
            <a:prstDash val="solid"/>
          </a:ln>
        </p:spPr>
      </p:sp>
      <p:sp>
        <p:nvSpPr>
          <p:cNvPr id="70" name="tissue-cell-6-2-nucleus">
            <a:extLst xmlns:a="http://schemas.openxmlformats.org/drawingml/2006/main">
              <a:ext uri="{FF2B5EF4-FFF2-40B4-BE49-F238E27FC236}">
                <a16:creationId xmlns:a16="http://schemas.microsoft.com/office/drawing/2014/main" id="{28FAF370-FF5E-4DB6-B185-DFF56D15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72" y="1067920"/>
            <a:ext cx="49692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B3D8"/>
          </a:solidFill>
          <a:ln xmlns:a="http://schemas.openxmlformats.org/drawingml/2006/main" w="5882">
            <a:solidFill>
              <a:srgbClr val="8D79AC"/>
            </a:solidFill>
            <a:prstDash val="solid"/>
          </a:ln>
        </p:spPr>
      </p:sp>
      <p:sp>
        <p:nvSpPr>
          <p:cNvPr id="71" name="tissue-cell-6-3-membrane">
            <a:extLst xmlns:a="http://schemas.openxmlformats.org/drawingml/2006/main">
              <a:ext uri="{FF2B5EF4-FFF2-40B4-BE49-F238E27FC236}">
                <a16:creationId xmlns:a16="http://schemas.microsoft.com/office/drawing/2014/main" id="{68003CCC-7E0B-4606-A4F2-90DA4AED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556" y="1200676"/>
            <a:ext cx="142374" cy="149647"/>
          </a:xfrm>
          <a:custGeom xmlns:a="http://schemas.openxmlformats.org/drawingml/2006/main">
            <a:pathLst>
              <a:path w="288185" h="302905">
                <a:moveTo>
                  <a:pt x="284512" y="145239"/>
                </a:moveTo>
                <a:lnTo>
                  <a:pt x="282385" y="157746"/>
                </a:lnTo>
                <a:lnTo>
                  <a:pt x="280156" y="170028"/>
                </a:lnTo>
                <a:lnTo>
                  <a:pt x="277776" y="182231"/>
                </a:lnTo>
                <a:lnTo>
                  <a:pt x="275046" y="194432"/>
                </a:lnTo>
                <a:lnTo>
                  <a:pt x="271689" y="206601"/>
                </a:lnTo>
                <a:lnTo>
                  <a:pt x="267420" y="218594"/>
                </a:lnTo>
                <a:lnTo>
                  <a:pt x="262021" y="230187"/>
                </a:lnTo>
                <a:lnTo>
                  <a:pt x="255395" y="241129"/>
                </a:lnTo>
                <a:lnTo>
                  <a:pt x="247571" y="251204"/>
                </a:lnTo>
                <a:lnTo>
                  <a:pt x="238691" y="260279"/>
                </a:lnTo>
                <a:lnTo>
                  <a:pt x="228961" y="268333"/>
                </a:lnTo>
                <a:lnTo>
                  <a:pt x="218591" y="275444"/>
                </a:lnTo>
                <a:lnTo>
                  <a:pt x="207748" y="281743"/>
                </a:lnTo>
                <a:lnTo>
                  <a:pt x="196524" y="287357"/>
                </a:lnTo>
                <a:lnTo>
                  <a:pt x="184937" y="292342"/>
                </a:lnTo>
                <a:lnTo>
                  <a:pt x="172964" y="296633"/>
                </a:lnTo>
                <a:lnTo>
                  <a:pt x="160586" y="300034"/>
                </a:lnTo>
                <a:lnTo>
                  <a:pt x="147840" y="302243"/>
                </a:lnTo>
                <a:lnTo>
                  <a:pt x="134857" y="302905"/>
                </a:lnTo>
                <a:lnTo>
                  <a:pt x="121874" y="301703"/>
                </a:lnTo>
                <a:lnTo>
                  <a:pt x="109206" y="298431"/>
                </a:lnTo>
                <a:lnTo>
                  <a:pt x="97200" y="293065"/>
                </a:lnTo>
                <a:lnTo>
                  <a:pt x="86160" y="285779"/>
                </a:lnTo>
                <a:lnTo>
                  <a:pt x="76280" y="276931"/>
                </a:lnTo>
                <a:lnTo>
                  <a:pt x="67599" y="266997"/>
                </a:lnTo>
                <a:lnTo>
                  <a:pt x="59986" y="256483"/>
                </a:lnTo>
                <a:lnTo>
                  <a:pt x="53168" y="245828"/>
                </a:lnTo>
                <a:lnTo>
                  <a:pt x="46795" y="235325"/>
                </a:lnTo>
                <a:lnTo>
                  <a:pt x="40528" y="225075"/>
                </a:lnTo>
                <a:lnTo>
                  <a:pt x="34127" y="214994"/>
                </a:lnTo>
                <a:lnTo>
                  <a:pt x="27518" y="204852"/>
                </a:lnTo>
                <a:lnTo>
                  <a:pt x="20831" y="194356"/>
                </a:lnTo>
                <a:lnTo>
                  <a:pt x="14380" y="183234"/>
                </a:lnTo>
                <a:lnTo>
                  <a:pt x="8613" y="171323"/>
                </a:lnTo>
                <a:lnTo>
                  <a:pt x="4022" y="158608"/>
                </a:lnTo>
                <a:lnTo>
                  <a:pt x="1048" y="145239"/>
                </a:lnTo>
                <a:lnTo>
                  <a:pt x="0" y="131496"/>
                </a:lnTo>
                <a:lnTo>
                  <a:pt x="999" y="117729"/>
                </a:lnTo>
                <a:lnTo>
                  <a:pt x="3970" y="104280"/>
                </a:lnTo>
                <a:lnTo>
                  <a:pt x="8677" y="91422"/>
                </a:lnTo>
                <a:lnTo>
                  <a:pt x="14784" y="79316"/>
                </a:lnTo>
                <a:lnTo>
                  <a:pt x="21933" y="68003"/>
                </a:lnTo>
                <a:lnTo>
                  <a:pt x="29821" y="57437"/>
                </a:lnTo>
                <a:lnTo>
                  <a:pt x="38249" y="47534"/>
                </a:lnTo>
                <a:lnTo>
                  <a:pt x="47131" y="38237"/>
                </a:lnTo>
                <a:lnTo>
                  <a:pt x="56484" y="29561"/>
                </a:lnTo>
                <a:lnTo>
                  <a:pt x="66373" y="21621"/>
                </a:lnTo>
                <a:lnTo>
                  <a:pt x="76859" y="14614"/>
                </a:lnTo>
                <a:lnTo>
                  <a:pt x="87951" y="8781"/>
                </a:lnTo>
                <a:lnTo>
                  <a:pt x="99573" y="4340"/>
                </a:lnTo>
                <a:lnTo>
                  <a:pt x="111571" y="1424"/>
                </a:lnTo>
                <a:lnTo>
                  <a:pt x="123741" y="28"/>
                </a:lnTo>
                <a:lnTo>
                  <a:pt x="135880" y="0"/>
                </a:lnTo>
                <a:lnTo>
                  <a:pt x="147840" y="1062"/>
                </a:lnTo>
                <a:lnTo>
                  <a:pt x="159562" y="2871"/>
                </a:lnTo>
                <a:lnTo>
                  <a:pt x="171097" y="5098"/>
                </a:lnTo>
                <a:lnTo>
                  <a:pt x="182572" y="7513"/>
                </a:lnTo>
                <a:lnTo>
                  <a:pt x="194151" y="10048"/>
                </a:lnTo>
                <a:lnTo>
                  <a:pt x="205957" y="12817"/>
                </a:lnTo>
                <a:lnTo>
                  <a:pt x="218012" y="16101"/>
                </a:lnTo>
                <a:lnTo>
                  <a:pt x="230187" y="20285"/>
                </a:lnTo>
                <a:lnTo>
                  <a:pt x="242193" y="25765"/>
                </a:lnTo>
                <a:lnTo>
                  <a:pt x="253607" y="32861"/>
                </a:lnTo>
                <a:lnTo>
                  <a:pt x="263941" y="41729"/>
                </a:lnTo>
                <a:lnTo>
                  <a:pt x="272728" y="52325"/>
                </a:lnTo>
                <a:lnTo>
                  <a:pt x="279614" y="64404"/>
                </a:lnTo>
                <a:lnTo>
                  <a:pt x="284424" y="77568"/>
                </a:lnTo>
                <a:lnTo>
                  <a:pt x="287200" y="91346"/>
                </a:lnTo>
                <a:lnTo>
                  <a:pt x="288185" y="105283"/>
                </a:lnTo>
                <a:lnTo>
                  <a:pt x="287770" y="119023"/>
                </a:lnTo>
                <a:lnTo>
                  <a:pt x="286407" y="132358"/>
                </a:lnTo>
                <a:close/>
              </a:path>
            </a:pathLst>
          </a:custGeom>
          <a:solidFill xmlns:a="http://schemas.openxmlformats.org/drawingml/2006/main">
            <a:srgbClr val="F0ECF5"/>
          </a:solidFill>
          <a:ln xmlns:a="http://schemas.openxmlformats.org/drawingml/2006/main" w="7529">
            <a:solidFill>
              <a:srgbClr val="8D79AC"/>
            </a:solidFill>
            <a:prstDash val="solid"/>
          </a:ln>
        </p:spPr>
      </p:sp>
      <p:sp>
        <p:nvSpPr>
          <p:cNvPr id="72" name="tissue-cell-6-3-nucleus">
            <a:extLst xmlns:a="http://schemas.openxmlformats.org/drawingml/2006/main">
              <a:ext uri="{FF2B5EF4-FFF2-40B4-BE49-F238E27FC236}">
                <a16:creationId xmlns:a16="http://schemas.microsoft.com/office/drawing/2014/main" id="{15DECBAC-9C6D-4F5A-BB6E-3B6A2D55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01" y="1242031"/>
            <a:ext cx="49692" cy="59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B3D8"/>
          </a:solidFill>
          <a:ln xmlns:a="http://schemas.openxmlformats.org/drawingml/2006/main" w="5882">
            <a:solidFill>
              <a:srgbClr val="8D79AC"/>
            </a:solidFill>
            <a:prstDash val="solid"/>
          </a:ln>
        </p:spPr>
      </p:sp>
      <p:sp>
        <p:nvSpPr>
          <p:cNvPr id="73" name="selected-region">
            <a:extLst xmlns:a="http://schemas.openxmlformats.org/drawingml/2006/main">
              <a:ext uri="{FF2B5EF4-FFF2-40B4-BE49-F238E27FC236}">
                <a16:creationId xmlns:a16="http://schemas.microsoft.com/office/drawing/2014/main" id="{41FF5647-C7A2-47F7-B11F-526C9049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54" y="908203"/>
            <a:ext cx="385869" cy="404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411">
            <a:solidFill>
              <a:srgbClr val="253746"/>
            </a:solidFill>
            <a:prstDash val="dash"/>
          </a:ln>
        </p:spPr>
      </p:sp>
      <p:sp>
        <p:nvSpPr>
          <p:cNvPr id="74" name="roi-label">
            <a:extLst xmlns:a="http://schemas.openxmlformats.org/drawingml/2006/main">
              <a:ext uri="{FF2B5EF4-FFF2-40B4-BE49-F238E27FC236}">
                <a16:creationId xmlns:a16="http://schemas.microsoft.com/office/drawing/2014/main" id="{488A8B3E-B1A6-47D1-B9EE-F0255E36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669" y="1327011"/>
            <a:ext cx="207051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ROI</a:t>
            </a:r>
          </a:p>
        </p:txBody>
      </p:sp>
      <p:sp>
        <p:nvSpPr>
          <p:cNvPr id="75" name="roi-enlarge-anchor-1-a">
            <a:extLst xmlns:a="http://schemas.openxmlformats.org/drawingml/2006/main">
              <a:ext uri="{FF2B5EF4-FFF2-40B4-BE49-F238E27FC236}">
                <a16:creationId xmlns:a16="http://schemas.microsoft.com/office/drawing/2014/main" id="{16AA66CD-CC1F-4020-8781-178B0C8C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423" y="90820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roi-enlarge-anchor-1-b">
            <a:extLst xmlns:a="http://schemas.openxmlformats.org/drawingml/2006/main">
              <a:ext uri="{FF2B5EF4-FFF2-40B4-BE49-F238E27FC236}">
                <a16:creationId xmlns:a16="http://schemas.microsoft.com/office/drawing/2014/main" id="{944D7F59-B01B-4411-9BBF-4B0185DF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4049" y="62586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5" name=""/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 flipV="1">
            <a:off x="1336470" y="625884"/>
            <a:ext cx="597579" cy="282343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56636F"/>
            </a:solidFill>
            <a:prstDash val="dash"/>
          </a:ln>
        </p:spPr>
      </p:cxnSp>
      <p:sp>
        <p:nvSpPr>
          <p:cNvPr id="78" name="roi-enlarge-lower-anchor-1-a">
            <a:extLst xmlns:a="http://schemas.openxmlformats.org/drawingml/2006/main">
              <a:ext uri="{FF2B5EF4-FFF2-40B4-BE49-F238E27FC236}">
                <a16:creationId xmlns:a16="http://schemas.microsoft.com/office/drawing/2014/main" id="{DA3D7D8B-55EE-4664-AAA2-E3C27D02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423" y="131289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roi-enlarge-lower-anchor-1-b">
            <a:extLst xmlns:a="http://schemas.openxmlformats.org/drawingml/2006/main">
              <a:ext uri="{FF2B5EF4-FFF2-40B4-BE49-F238E27FC236}">
                <a16:creationId xmlns:a16="http://schemas.microsoft.com/office/drawing/2014/main" id="{2535F189-4EF6-4323-82BF-797711D2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4049" y="149641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8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1336470" y="1312918"/>
            <a:ext cx="597579" cy="183523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56636F"/>
            </a:solidFill>
            <a:prstDash val="dash"/>
          </a:ln>
        </p:spPr>
      </p:cxnSp>
      <p:sp>
        <p:nvSpPr>
          <p:cNvPr id="81" name="focal-cell-membrane">
            <a:extLst xmlns:a="http://schemas.openxmlformats.org/drawingml/2006/main">
              <a:ext uri="{FF2B5EF4-FFF2-40B4-BE49-F238E27FC236}">
                <a16:creationId xmlns:a16="http://schemas.microsoft.com/office/drawing/2014/main" id="{C08918CB-CC30-4BA7-BBC9-AB62AB86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367" y="592262"/>
            <a:ext cx="866207" cy="872876"/>
          </a:xfrm>
          <a:custGeom xmlns:a="http://schemas.openxmlformats.org/drawingml/2006/main">
            <a:pathLst>
              <a:path w="1753320" h="1766819">
                <a:moveTo>
                  <a:pt x="1741677" y="901444"/>
                </a:moveTo>
                <a:lnTo>
                  <a:pt x="1729610" y="973030"/>
                </a:lnTo>
                <a:lnTo>
                  <a:pt x="1716139" y="1043333"/>
                </a:lnTo>
                <a:lnTo>
                  <a:pt x="1702501" y="1113387"/>
                </a:lnTo>
                <a:lnTo>
                  <a:pt x="1688851" y="1184344"/>
                </a:lnTo>
                <a:lnTo>
                  <a:pt x="1674196" y="1257019"/>
                </a:lnTo>
                <a:lnTo>
                  <a:pt x="1656594" y="1331478"/>
                </a:lnTo>
                <a:lnTo>
                  <a:pt x="1633585" y="1406793"/>
                </a:lnTo>
                <a:lnTo>
                  <a:pt x="1602747" y="1481025"/>
                </a:lnTo>
                <a:lnTo>
                  <a:pt x="1562259" y="1551468"/>
                </a:lnTo>
                <a:lnTo>
                  <a:pt x="1511321" y="1615096"/>
                </a:lnTo>
                <a:lnTo>
                  <a:pt x="1450343" y="1669125"/>
                </a:lnTo>
                <a:lnTo>
                  <a:pt x="1380872" y="1711543"/>
                </a:lnTo>
                <a:lnTo>
                  <a:pt x="1305267" y="1741490"/>
                </a:lnTo>
                <a:lnTo>
                  <a:pt x="1226218" y="1759392"/>
                </a:lnTo>
                <a:lnTo>
                  <a:pt x="1146235" y="1766819"/>
                </a:lnTo>
                <a:lnTo>
                  <a:pt x="1067224" y="1766097"/>
                </a:lnTo>
                <a:lnTo>
                  <a:pt x="990249" y="1759775"/>
                </a:lnTo>
                <a:lnTo>
                  <a:pt x="915536" y="1750072"/>
                </a:lnTo>
                <a:lnTo>
                  <a:pt x="842680" y="1738435"/>
                </a:lnTo>
                <a:lnTo>
                  <a:pt x="771003" y="1725312"/>
                </a:lnTo>
                <a:lnTo>
                  <a:pt x="699937" y="1710177"/>
                </a:lnTo>
                <a:lnTo>
                  <a:pt x="629333" y="1691791"/>
                </a:lnTo>
                <a:lnTo>
                  <a:pt x="559614" y="1668616"/>
                </a:lnTo>
                <a:lnTo>
                  <a:pt x="491715" y="1639269"/>
                </a:lnTo>
                <a:lnTo>
                  <a:pt x="426867" y="1602896"/>
                </a:lnTo>
                <a:lnTo>
                  <a:pt x="366272" y="1559371"/>
                </a:lnTo>
                <a:lnTo>
                  <a:pt x="310780" y="1509286"/>
                </a:lnTo>
                <a:lnTo>
                  <a:pt x="260676" y="1453740"/>
                </a:lnTo>
                <a:lnTo>
                  <a:pt x="215646" y="1394013"/>
                </a:lnTo>
                <a:lnTo>
                  <a:pt x="174929" y="1331216"/>
                </a:lnTo>
                <a:lnTo>
                  <a:pt x="137642" y="1266033"/>
                </a:lnTo>
                <a:lnTo>
                  <a:pt x="103166" y="1198632"/>
                </a:lnTo>
                <a:lnTo>
                  <a:pt x="71503" y="1128756"/>
                </a:lnTo>
                <a:lnTo>
                  <a:pt x="43480" y="1055996"/>
                </a:lnTo>
                <a:lnTo>
                  <a:pt x="20732" y="980129"/>
                </a:lnTo>
                <a:lnTo>
                  <a:pt x="5460" y="901444"/>
                </a:lnTo>
                <a:lnTo>
                  <a:pt x="0" y="820937"/>
                </a:lnTo>
                <a:lnTo>
                  <a:pt x="6300" y="740304"/>
                </a:lnTo>
                <a:lnTo>
                  <a:pt x="25444" y="661728"/>
                </a:lnTo>
                <a:lnTo>
                  <a:pt x="57341" y="587493"/>
                </a:lnTo>
                <a:lnTo>
                  <a:pt x="100649" y="519518"/>
                </a:lnTo>
                <a:lnTo>
                  <a:pt x="152986" y="458940"/>
                </a:lnTo>
                <a:lnTo>
                  <a:pt x="211359" y="405859"/>
                </a:lnTo>
                <a:lnTo>
                  <a:pt x="272728" y="359312"/>
                </a:lnTo>
                <a:lnTo>
                  <a:pt x="334569" y="317513"/>
                </a:lnTo>
                <a:lnTo>
                  <a:pt x="395302" y="278291"/>
                </a:lnTo>
                <a:lnTo>
                  <a:pt x="454490" y="239643"/>
                </a:lnTo>
                <a:lnTo>
                  <a:pt x="512764" y="200263"/>
                </a:lnTo>
                <a:lnTo>
                  <a:pt x="571510" y="159915"/>
                </a:lnTo>
                <a:lnTo>
                  <a:pt x="632397" y="119558"/>
                </a:lnTo>
                <a:lnTo>
                  <a:pt x="696869" y="81206"/>
                </a:lnTo>
                <a:lnTo>
                  <a:pt x="765733" y="47534"/>
                </a:lnTo>
                <a:lnTo>
                  <a:pt x="838928" y="21341"/>
                </a:lnTo>
                <a:lnTo>
                  <a:pt x="915536" y="4997"/>
                </a:lnTo>
                <a:lnTo>
                  <a:pt x="994002" y="0"/>
                </a:lnTo>
                <a:lnTo>
                  <a:pt x="1072494" y="6748"/>
                </a:lnTo>
                <a:lnTo>
                  <a:pt x="1149303" y="24564"/>
                </a:lnTo>
                <a:lnTo>
                  <a:pt x="1223155" y="51957"/>
                </a:lnTo>
                <a:lnTo>
                  <a:pt x="1293371" y="87041"/>
                </a:lnTo>
                <a:lnTo>
                  <a:pt x="1359823" y="127990"/>
                </a:lnTo>
                <a:lnTo>
                  <a:pt x="1422721" y="173414"/>
                </a:lnTo>
                <a:lnTo>
                  <a:pt x="1482291" y="222566"/>
                </a:lnTo>
                <a:lnTo>
                  <a:pt x="1538470" y="275332"/>
                </a:lnTo>
                <a:lnTo>
                  <a:pt x="1590696" y="332028"/>
                </a:lnTo>
                <a:lnTo>
                  <a:pt x="1637872" y="393079"/>
                </a:lnTo>
                <a:lnTo>
                  <a:pt x="1678537" y="458678"/>
                </a:lnTo>
                <a:lnTo>
                  <a:pt x="1711189" y="528533"/>
                </a:lnTo>
                <a:lnTo>
                  <a:pt x="1734676" y="601781"/>
                </a:lnTo>
                <a:lnTo>
                  <a:pt x="1748560" y="677097"/>
                </a:lnTo>
                <a:lnTo>
                  <a:pt x="1753320" y="752967"/>
                </a:lnTo>
                <a:lnTo>
                  <a:pt x="1750342" y="828036"/>
                </a:lnTo>
                <a:close/>
              </a:path>
            </a:pathLst>
          </a:custGeom>
          <a:solidFill xmlns:a="http://schemas.openxmlformats.org/drawingml/2006/main">
            <a:srgbClr val="E9F0F6"/>
          </a:solidFill>
          <a:ln xmlns:a="http://schemas.openxmlformats.org/drawingml/2006/main" w="7529">
            <a:solidFill>
              <a:srgbClr val="52779C"/>
            </a:solidFill>
            <a:prstDash val="solid"/>
          </a:ln>
        </p:spPr>
      </p:sp>
      <p:sp>
        <p:nvSpPr>
          <p:cNvPr id="82" name="focal-cell-nucleus">
            <a:extLst xmlns:a="http://schemas.openxmlformats.org/drawingml/2006/main">
              <a:ext uri="{FF2B5EF4-FFF2-40B4-BE49-F238E27FC236}">
                <a16:creationId xmlns:a16="http://schemas.microsoft.com/office/drawing/2014/main" id="{1AA8A3CF-1118-431D-B684-AC483AEE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106" y="861475"/>
            <a:ext cx="304366" cy="3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5882">
            <a:solidFill>
              <a:srgbClr val="52779C"/>
            </a:solidFill>
            <a:prstDash val="solid"/>
          </a:ln>
        </p:spPr>
      </p:sp>
      <p:sp>
        <p:nvSpPr>
          <p:cNvPr id="83" name="focal-cell-nucleolus">
            <a:extLst xmlns:a="http://schemas.openxmlformats.org/drawingml/2006/main">
              <a:ext uri="{FF2B5EF4-FFF2-40B4-BE49-F238E27FC236}">
                <a16:creationId xmlns:a16="http://schemas.microsoft.com/office/drawing/2014/main" id="{FD2E1D5F-2BE4-4300-B497-C6946CAA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454" y="972718"/>
            <a:ext cx="83009" cy="834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focal-cell-transcript-0-anchor-1-a">
            <a:extLst xmlns:a="http://schemas.openxmlformats.org/drawingml/2006/main">
              <a:ext uri="{FF2B5EF4-FFF2-40B4-BE49-F238E27FC236}">
                <a16:creationId xmlns:a16="http://schemas.microsoft.com/office/drawing/2014/main" id="{6173F18B-F1EA-460B-917B-1ADA95DE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204" y="126936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focal-cell-transcript-0-anchor-1-b">
            <a:extLst xmlns:a="http://schemas.openxmlformats.org/drawingml/2006/main">
              <a:ext uri="{FF2B5EF4-FFF2-40B4-BE49-F238E27FC236}">
                <a16:creationId xmlns:a16="http://schemas.microsoft.com/office/drawing/2014/main" id="{A09D53DF-5FD8-48C7-B5FC-6FAC07C2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767" y="1213745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4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 flipV="1">
            <a:off x="2184251" y="1213769"/>
            <a:ext cx="64516" cy="55621"/>
          </a:xfrm>
          <a:prstGeom xmlns:a="http://schemas.openxmlformats.org/drawingml/2006/main" prst="straightConnector1">
            <a:avLst/>
          </a:prstGeom>
          <a:ln xmlns:a="http://schemas.openxmlformats.org/drawingml/2006/main" w="5882">
            <a:solidFill>
              <a:srgbClr val="52779C"/>
            </a:solidFill>
            <a:prstDash val="solid"/>
          </a:ln>
        </p:spPr>
      </p:cxnSp>
      <p:sp>
        <p:nvSpPr>
          <p:cNvPr id="87" name="focal-cell-transcript-0-anchor-2-a">
            <a:extLst xmlns:a="http://schemas.openxmlformats.org/drawingml/2006/main">
              <a:ext uri="{FF2B5EF4-FFF2-40B4-BE49-F238E27FC236}">
                <a16:creationId xmlns:a16="http://schemas.microsoft.com/office/drawing/2014/main" id="{1894D4C0-5770-4109-8DEF-A8564A2B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767" y="1213745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focal-cell-transcript-0-anchor-2-b">
            <a:extLst xmlns:a="http://schemas.openxmlformats.org/drawingml/2006/main">
              <a:ext uri="{FF2B5EF4-FFF2-40B4-BE49-F238E27FC236}">
                <a16:creationId xmlns:a16="http://schemas.microsoft.com/office/drawing/2014/main" id="{3248384A-5E01-47B1-885A-74904C1E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660" y="125082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7" name=""/>
          <p:cNvCxnSpPr>
            <a:stCxn xmlns:a="http://schemas.openxmlformats.org/drawingml/2006/main" id="87" idx="2"/>
            <a:endCxn xmlns:a="http://schemas.openxmlformats.org/drawingml/2006/main" id="88" idx="0"/>
          </p:cNvCxnSpPr>
          <p:nvPr/>
        </p:nvCxnSpPr>
        <p:spPr>
          <a:xfrm xmlns:a="http://schemas.openxmlformats.org/drawingml/2006/main">
            <a:off x="2248791" y="1213792"/>
            <a:ext cx="36893" cy="37034"/>
          </a:xfrm>
          <a:prstGeom xmlns:a="http://schemas.openxmlformats.org/drawingml/2006/main" prst="straightConnector1">
            <a:avLst/>
          </a:prstGeom>
          <a:ln xmlns:a="http://schemas.openxmlformats.org/drawingml/2006/main" w="5882">
            <a:solidFill>
              <a:srgbClr val="52779C"/>
            </a:solidFill>
            <a:prstDash val="solid"/>
          </a:ln>
        </p:spPr>
      </p:cxnSp>
      <p:sp>
        <p:nvSpPr>
          <p:cNvPr id="90" name="focal-cell-transcript-1-anchor-1-a">
            <a:extLst xmlns:a="http://schemas.openxmlformats.org/drawingml/2006/main">
              <a:ext uri="{FF2B5EF4-FFF2-40B4-BE49-F238E27FC236}">
                <a16:creationId xmlns:a16="http://schemas.microsoft.com/office/drawing/2014/main" id="{B53FD10E-F521-4691-823E-E1E9D94D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892" y="126936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focal-cell-transcript-1-anchor-1-b">
            <a:extLst xmlns:a="http://schemas.openxmlformats.org/drawingml/2006/main">
              <a:ext uri="{FF2B5EF4-FFF2-40B4-BE49-F238E27FC236}">
                <a16:creationId xmlns:a16="http://schemas.microsoft.com/office/drawing/2014/main" id="{47BE060A-1D7F-42DE-9D01-14665998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454" y="1213745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0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 flipV="1">
            <a:off x="2377939" y="1213769"/>
            <a:ext cx="64515" cy="55621"/>
          </a:xfrm>
          <a:prstGeom xmlns:a="http://schemas.openxmlformats.org/drawingml/2006/main" prst="straightConnector1">
            <a:avLst/>
          </a:prstGeom>
          <a:ln xmlns:a="http://schemas.openxmlformats.org/drawingml/2006/main" w="5882">
            <a:solidFill>
              <a:srgbClr val="52779C"/>
            </a:solidFill>
            <a:prstDash val="solid"/>
          </a:ln>
        </p:spPr>
      </p:cxnSp>
      <p:sp>
        <p:nvSpPr>
          <p:cNvPr id="93" name="focal-cell-transcript-1-anchor-2-a">
            <a:extLst xmlns:a="http://schemas.openxmlformats.org/drawingml/2006/main">
              <a:ext uri="{FF2B5EF4-FFF2-40B4-BE49-F238E27FC236}">
                <a16:creationId xmlns:a16="http://schemas.microsoft.com/office/drawing/2014/main" id="{0A0B6435-475A-47B8-9675-171AB712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454" y="1213745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" name="focal-cell-transcript-1-anchor-2-b">
            <a:extLst xmlns:a="http://schemas.openxmlformats.org/drawingml/2006/main">
              <a:ext uri="{FF2B5EF4-FFF2-40B4-BE49-F238E27FC236}">
                <a16:creationId xmlns:a16="http://schemas.microsoft.com/office/drawing/2014/main" id="{D32EC920-87A5-4329-B53A-8EA7308C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347" y="125082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3" name=""/>
          <p:cNvCxnSpPr>
            <a:stCxn xmlns:a="http://schemas.openxmlformats.org/drawingml/2006/main" id="93" idx="2"/>
            <a:endCxn xmlns:a="http://schemas.openxmlformats.org/drawingml/2006/main" id="94" idx="0"/>
          </p:cNvCxnSpPr>
          <p:nvPr/>
        </p:nvCxnSpPr>
        <p:spPr>
          <a:xfrm xmlns:a="http://schemas.openxmlformats.org/drawingml/2006/main">
            <a:off x="2442478" y="1213792"/>
            <a:ext cx="36893" cy="37034"/>
          </a:xfrm>
          <a:prstGeom xmlns:a="http://schemas.openxmlformats.org/drawingml/2006/main" prst="straightConnector1">
            <a:avLst/>
          </a:prstGeom>
          <a:ln xmlns:a="http://schemas.openxmlformats.org/drawingml/2006/main" w="5882">
            <a:solidFill>
              <a:srgbClr val="52779C"/>
            </a:solidFill>
            <a:prstDash val="solid"/>
          </a:ln>
        </p:spPr>
      </p:cxnSp>
      <p:sp>
        <p:nvSpPr>
          <p:cNvPr id="96" name="focal-cell-transcript-2-anchor-1-a">
            <a:extLst xmlns:a="http://schemas.openxmlformats.org/drawingml/2006/main">
              <a:ext uri="{FF2B5EF4-FFF2-40B4-BE49-F238E27FC236}">
                <a16:creationId xmlns:a16="http://schemas.microsoft.com/office/drawing/2014/main" id="{B3720AEF-0618-4F0B-8496-E4AF89D8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579" y="126936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focal-cell-transcript-2-anchor-1-b">
            <a:extLst xmlns:a="http://schemas.openxmlformats.org/drawingml/2006/main">
              <a:ext uri="{FF2B5EF4-FFF2-40B4-BE49-F238E27FC236}">
                <a16:creationId xmlns:a16="http://schemas.microsoft.com/office/drawing/2014/main" id="{013F9253-8C01-46DA-8963-E308E23B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141" y="1213745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6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 flipV="1">
            <a:off x="2571626" y="1213769"/>
            <a:ext cx="64515" cy="55621"/>
          </a:xfrm>
          <a:prstGeom xmlns:a="http://schemas.openxmlformats.org/drawingml/2006/main" prst="straightConnector1">
            <a:avLst/>
          </a:prstGeom>
          <a:ln xmlns:a="http://schemas.openxmlformats.org/drawingml/2006/main" w="5882">
            <a:solidFill>
              <a:srgbClr val="52779C"/>
            </a:solidFill>
            <a:prstDash val="solid"/>
          </a:ln>
        </p:spPr>
      </p:cxnSp>
      <p:sp>
        <p:nvSpPr>
          <p:cNvPr id="99" name="focal-cell-transcript-2-anchor-2-a">
            <a:extLst xmlns:a="http://schemas.openxmlformats.org/drawingml/2006/main">
              <a:ext uri="{FF2B5EF4-FFF2-40B4-BE49-F238E27FC236}">
                <a16:creationId xmlns:a16="http://schemas.microsoft.com/office/drawing/2014/main" id="{7A82EFF7-36CC-42B4-9E14-F87E4329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141" y="1213745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focal-cell-transcript-2-anchor-2-b">
            <a:extLst xmlns:a="http://schemas.openxmlformats.org/drawingml/2006/main">
              <a:ext uri="{FF2B5EF4-FFF2-40B4-BE49-F238E27FC236}">
                <a16:creationId xmlns:a16="http://schemas.microsoft.com/office/drawing/2014/main" id="{8551E608-34D9-456E-839F-5AF2F8C4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034" y="125082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9" name=""/>
          <p:cNvCxnSpPr>
            <a:stCxn xmlns:a="http://schemas.openxmlformats.org/drawingml/2006/main" id="99" idx="2"/>
            <a:endCxn xmlns:a="http://schemas.openxmlformats.org/drawingml/2006/main" id="100" idx="0"/>
          </p:cNvCxnSpPr>
          <p:nvPr/>
        </p:nvCxnSpPr>
        <p:spPr>
          <a:xfrm xmlns:a="http://schemas.openxmlformats.org/drawingml/2006/main">
            <a:off x="2636165" y="1213792"/>
            <a:ext cx="36893" cy="37034"/>
          </a:xfrm>
          <a:prstGeom xmlns:a="http://schemas.openxmlformats.org/drawingml/2006/main" prst="straightConnector1">
            <a:avLst/>
          </a:prstGeom>
          <a:ln xmlns:a="http://schemas.openxmlformats.org/drawingml/2006/main" w="5882">
            <a:solidFill>
              <a:srgbClr val="52779C"/>
            </a:solidFill>
            <a:prstDash val="solid"/>
          </a:ln>
        </p:spPr>
      </p:cxnSp>
      <p:sp>
        <p:nvSpPr>
          <p:cNvPr id="102" name="chromatin-loop-0-anchor-1-a">
            <a:extLst xmlns:a="http://schemas.openxmlformats.org/drawingml/2006/main">
              <a:ext uri="{FF2B5EF4-FFF2-40B4-BE49-F238E27FC236}">
                <a16:creationId xmlns:a16="http://schemas.microsoft.com/office/drawing/2014/main" id="{07FCF85F-28D4-4F6F-A950-AF27DE91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034" y="100231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chromatin-loop-0-anchor-1-b">
            <a:extLst xmlns:a="http://schemas.openxmlformats.org/drawingml/2006/main">
              <a:ext uri="{FF2B5EF4-FFF2-40B4-BE49-F238E27FC236}">
                <a16:creationId xmlns:a16="http://schemas.microsoft.com/office/drawing/2014/main" id="{D4F2B0AB-58CD-452D-9B22-243EE42A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58" y="102892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2" name=""/>
          <p:cNvCxnSpPr>
            <a:stCxn xmlns:a="http://schemas.openxmlformats.org/drawingml/2006/main" id="102" idx="2"/>
            <a:endCxn xmlns:a="http://schemas.openxmlformats.org/drawingml/2006/main" id="103" idx="0"/>
          </p:cNvCxnSpPr>
          <p:nvPr/>
        </p:nvCxnSpPr>
        <p:spPr>
          <a:xfrm xmlns:a="http://schemas.openxmlformats.org/drawingml/2006/main">
            <a:off x="2334058" y="1002364"/>
            <a:ext cx="6824" cy="26562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05" name="chromatin-loop-0-anchor-2-a">
            <a:extLst xmlns:a="http://schemas.openxmlformats.org/drawingml/2006/main">
              <a:ext uri="{FF2B5EF4-FFF2-40B4-BE49-F238E27FC236}">
                <a16:creationId xmlns:a16="http://schemas.microsoft.com/office/drawing/2014/main" id="{B4680429-64FE-4DB6-8308-9DDB90A9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58" y="102892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chromatin-loop-0-anchor-2-b">
            <a:extLst xmlns:a="http://schemas.openxmlformats.org/drawingml/2006/main">
              <a:ext uri="{FF2B5EF4-FFF2-40B4-BE49-F238E27FC236}">
                <a16:creationId xmlns:a16="http://schemas.microsoft.com/office/drawing/2014/main" id="{271FCBFF-76B1-4009-9D06-E5206EDD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681" y="105023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5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2340882" y="1028973"/>
            <a:ext cx="6823" cy="21264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08" name="chromatin-loop-0-anchor-3-a">
            <a:extLst xmlns:a="http://schemas.openxmlformats.org/drawingml/2006/main">
              <a:ext uri="{FF2B5EF4-FFF2-40B4-BE49-F238E27FC236}">
                <a16:creationId xmlns:a16="http://schemas.microsoft.com/office/drawing/2014/main" id="{6956B97D-CD05-4346-88B2-20BB77E8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681" y="105023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chromatin-loop-0-anchor-3-b">
            <a:extLst xmlns:a="http://schemas.openxmlformats.org/drawingml/2006/main">
              <a:ext uri="{FF2B5EF4-FFF2-40B4-BE49-F238E27FC236}">
                <a16:creationId xmlns:a16="http://schemas.microsoft.com/office/drawing/2014/main" id="{DDC214BF-97CC-42DB-BB7D-EA760D4A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504" y="106200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8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2347705" y="1050284"/>
            <a:ext cx="6823" cy="11722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11" name="chromatin-loop-0-anchor-4-a">
            <a:extLst xmlns:a="http://schemas.openxmlformats.org/drawingml/2006/main">
              <a:ext uri="{FF2B5EF4-FFF2-40B4-BE49-F238E27FC236}">
                <a16:creationId xmlns:a16="http://schemas.microsoft.com/office/drawing/2014/main" id="{B1CED4D8-C666-42C5-9C6D-61165AFD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504" y="106200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" name="chromatin-loop-0-anchor-4-b">
            <a:extLst xmlns:a="http://schemas.openxmlformats.org/drawingml/2006/main">
              <a:ext uri="{FF2B5EF4-FFF2-40B4-BE49-F238E27FC236}">
                <a16:creationId xmlns:a16="http://schemas.microsoft.com/office/drawing/2014/main" id="{A48FC44A-3213-48F0-8764-DB4E6E72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327" y="106189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1" name=""/>
          <p:cNvCxnSpPr>
            <a:stCxn xmlns:a="http://schemas.openxmlformats.org/drawingml/2006/main" id="111" idx="3"/>
            <a:endCxn xmlns:a="http://schemas.openxmlformats.org/drawingml/2006/main" id="112" idx="1"/>
          </p:cNvCxnSpPr>
          <p:nvPr/>
        </p:nvCxnSpPr>
        <p:spPr>
          <a:xfrm xmlns:a="http://schemas.openxmlformats.org/drawingml/2006/main" flipV="1">
            <a:off x="2354551" y="1061916"/>
            <a:ext cx="6776" cy="114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14" name="chromatin-loop-0-anchor-5-a">
            <a:extLst xmlns:a="http://schemas.openxmlformats.org/drawingml/2006/main">
              <a:ext uri="{FF2B5EF4-FFF2-40B4-BE49-F238E27FC236}">
                <a16:creationId xmlns:a16="http://schemas.microsoft.com/office/drawing/2014/main" id="{81C48E77-4AE1-4A9E-9E41-E6AF980D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327" y="106189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chromatin-loop-0-anchor-5-b">
            <a:extLst xmlns:a="http://schemas.openxmlformats.org/drawingml/2006/main">
              <a:ext uri="{FF2B5EF4-FFF2-40B4-BE49-F238E27FC236}">
                <a16:creationId xmlns:a16="http://schemas.microsoft.com/office/drawing/2014/main" id="{7536C87A-DDC6-472B-82A7-F8A01687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151" y="1049915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4" name=""/>
          <p:cNvCxnSpPr>
            <a:stCxn xmlns:a="http://schemas.openxmlformats.org/drawingml/2006/main" id="114" idx="0"/>
            <a:endCxn xmlns:a="http://schemas.openxmlformats.org/drawingml/2006/main" id="115" idx="2"/>
          </p:cNvCxnSpPr>
          <p:nvPr/>
        </p:nvCxnSpPr>
        <p:spPr>
          <a:xfrm xmlns:a="http://schemas.openxmlformats.org/drawingml/2006/main" flipV="1">
            <a:off x="2361351" y="1049962"/>
            <a:ext cx="6824" cy="11930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17" name="chromatin-loop-0-anchor-6-a">
            <a:extLst xmlns:a="http://schemas.openxmlformats.org/drawingml/2006/main">
              <a:ext uri="{FF2B5EF4-FFF2-40B4-BE49-F238E27FC236}">
                <a16:creationId xmlns:a16="http://schemas.microsoft.com/office/drawing/2014/main" id="{477D4DD3-8EDD-4B4A-9047-A2D0E273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151" y="1049915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chromatin-loop-0-anchor-6-b">
            <a:extLst xmlns:a="http://schemas.openxmlformats.org/drawingml/2006/main">
              <a:ext uri="{FF2B5EF4-FFF2-40B4-BE49-F238E27FC236}">
                <a16:creationId xmlns:a16="http://schemas.microsoft.com/office/drawing/2014/main" id="{6B91EBA8-1AA2-47FF-83C5-1D3CFDE1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74" y="102846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7" name=""/>
          <p:cNvCxnSpPr>
            <a:stCxn xmlns:a="http://schemas.openxmlformats.org/drawingml/2006/main" id="117" idx="0"/>
            <a:endCxn xmlns:a="http://schemas.openxmlformats.org/drawingml/2006/main" id="118" idx="2"/>
          </p:cNvCxnSpPr>
          <p:nvPr/>
        </p:nvCxnSpPr>
        <p:spPr>
          <a:xfrm xmlns:a="http://schemas.openxmlformats.org/drawingml/2006/main" flipV="1">
            <a:off x="2368175" y="1028509"/>
            <a:ext cx="6823" cy="21406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20" name="chromatin-loop-0-anchor-7-a">
            <a:extLst xmlns:a="http://schemas.openxmlformats.org/drawingml/2006/main">
              <a:ext uri="{FF2B5EF4-FFF2-40B4-BE49-F238E27FC236}">
                <a16:creationId xmlns:a16="http://schemas.microsoft.com/office/drawing/2014/main" id="{C71C58D6-36B7-4349-9280-1DD42B5D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74" y="102846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chromatin-loop-0-anchor-7-b">
            <a:extLst xmlns:a="http://schemas.openxmlformats.org/drawingml/2006/main">
              <a:ext uri="{FF2B5EF4-FFF2-40B4-BE49-F238E27FC236}">
                <a16:creationId xmlns:a16="http://schemas.microsoft.com/office/drawing/2014/main" id="{1C2F0ECB-9F4F-4A19-BCE4-B720C147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797" y="100180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0" name=""/>
          <p:cNvCxnSpPr>
            <a:stCxn xmlns:a="http://schemas.openxmlformats.org/drawingml/2006/main" id="120" idx="0"/>
            <a:endCxn xmlns:a="http://schemas.openxmlformats.org/drawingml/2006/main" id="121" idx="2"/>
          </p:cNvCxnSpPr>
          <p:nvPr/>
        </p:nvCxnSpPr>
        <p:spPr>
          <a:xfrm xmlns:a="http://schemas.openxmlformats.org/drawingml/2006/main" flipV="1">
            <a:off x="2374998" y="1001850"/>
            <a:ext cx="6823" cy="26612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23" name="chromatin-loop-0-anchor-8-a">
            <a:extLst xmlns:a="http://schemas.openxmlformats.org/drawingml/2006/main">
              <a:ext uri="{FF2B5EF4-FFF2-40B4-BE49-F238E27FC236}">
                <a16:creationId xmlns:a16="http://schemas.microsoft.com/office/drawing/2014/main" id="{D54097F6-C1B8-4694-9106-322CAD3A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797" y="100180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chromatin-loop-0-anchor-8-b">
            <a:extLst xmlns:a="http://schemas.openxmlformats.org/drawingml/2006/main">
              <a:ext uri="{FF2B5EF4-FFF2-40B4-BE49-F238E27FC236}">
                <a16:creationId xmlns:a16="http://schemas.microsoft.com/office/drawing/2014/main" id="{CD31D46F-710F-40E0-8C21-C5944297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621" y="97524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3" name=""/>
          <p:cNvCxnSpPr>
            <a:stCxn xmlns:a="http://schemas.openxmlformats.org/drawingml/2006/main" id="123" idx="0"/>
            <a:endCxn xmlns:a="http://schemas.openxmlformats.org/drawingml/2006/main" id="124" idx="2"/>
          </p:cNvCxnSpPr>
          <p:nvPr/>
        </p:nvCxnSpPr>
        <p:spPr>
          <a:xfrm xmlns:a="http://schemas.openxmlformats.org/drawingml/2006/main" flipV="1">
            <a:off x="2381821" y="975293"/>
            <a:ext cx="6824" cy="26510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26" name="chromatin-loop-0-anchor-9-a">
            <a:extLst xmlns:a="http://schemas.openxmlformats.org/drawingml/2006/main">
              <a:ext uri="{FF2B5EF4-FFF2-40B4-BE49-F238E27FC236}">
                <a16:creationId xmlns:a16="http://schemas.microsoft.com/office/drawing/2014/main" id="{2579BA28-3F0E-40A4-8555-A84B81BC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621" y="97524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chromatin-loop-0-anchor-9-b">
            <a:extLst xmlns:a="http://schemas.openxmlformats.org/drawingml/2006/main">
              <a:ext uri="{FF2B5EF4-FFF2-40B4-BE49-F238E27FC236}">
                <a16:creationId xmlns:a16="http://schemas.microsoft.com/office/drawing/2014/main" id="{2386EADE-857A-43D8-B728-6D3E48DD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444" y="95408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6" name=""/>
          <p:cNvCxnSpPr>
            <a:stCxn xmlns:a="http://schemas.openxmlformats.org/drawingml/2006/main" id="126" idx="0"/>
            <a:endCxn xmlns:a="http://schemas.openxmlformats.org/drawingml/2006/main" id="127" idx="2"/>
          </p:cNvCxnSpPr>
          <p:nvPr/>
        </p:nvCxnSpPr>
        <p:spPr>
          <a:xfrm xmlns:a="http://schemas.openxmlformats.org/drawingml/2006/main" flipV="1">
            <a:off x="2388645" y="954127"/>
            <a:ext cx="6823" cy="21119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29" name="chromatin-loop-0-anchor-10-a">
            <a:extLst xmlns:a="http://schemas.openxmlformats.org/drawingml/2006/main">
              <a:ext uri="{FF2B5EF4-FFF2-40B4-BE49-F238E27FC236}">
                <a16:creationId xmlns:a16="http://schemas.microsoft.com/office/drawing/2014/main" id="{EEE72874-0A4C-4B0A-B787-6DB048CF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444" y="95408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0" name="chromatin-loop-0-anchor-10-b">
            <a:extLst xmlns:a="http://schemas.openxmlformats.org/drawingml/2006/main">
              <a:ext uri="{FF2B5EF4-FFF2-40B4-BE49-F238E27FC236}">
                <a16:creationId xmlns:a16="http://schemas.microsoft.com/office/drawing/2014/main" id="{4A699CE4-41BB-420B-BB14-7984228D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267" y="94251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9" name=""/>
          <p:cNvCxnSpPr>
            <a:stCxn xmlns:a="http://schemas.openxmlformats.org/drawingml/2006/main" id="129" idx="0"/>
            <a:endCxn xmlns:a="http://schemas.openxmlformats.org/drawingml/2006/main" id="130" idx="2"/>
          </p:cNvCxnSpPr>
          <p:nvPr/>
        </p:nvCxnSpPr>
        <p:spPr>
          <a:xfrm xmlns:a="http://schemas.openxmlformats.org/drawingml/2006/main" flipV="1">
            <a:off x="2395468" y="942564"/>
            <a:ext cx="6823" cy="11516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32" name="chromatin-loop-0-anchor-11-a">
            <a:extLst xmlns:a="http://schemas.openxmlformats.org/drawingml/2006/main">
              <a:ext uri="{FF2B5EF4-FFF2-40B4-BE49-F238E27FC236}">
                <a16:creationId xmlns:a16="http://schemas.microsoft.com/office/drawing/2014/main" id="{BCF25BF7-5CEB-47AD-A792-4D306AB6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267" y="94251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chromatin-loop-0-anchor-11-b">
            <a:extLst xmlns:a="http://schemas.openxmlformats.org/drawingml/2006/main">
              <a:ext uri="{FF2B5EF4-FFF2-40B4-BE49-F238E27FC236}">
                <a16:creationId xmlns:a16="http://schemas.microsoft.com/office/drawing/2014/main" id="{C1CEB2DA-5AC6-4D69-A28E-0C09D259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090" y="94286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2" name=""/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>
            <a:off x="2402314" y="942541"/>
            <a:ext cx="6776" cy="345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35" name="chromatin-loop-0-anchor-12-a">
            <a:extLst xmlns:a="http://schemas.openxmlformats.org/drawingml/2006/main">
              <a:ext uri="{FF2B5EF4-FFF2-40B4-BE49-F238E27FC236}">
                <a16:creationId xmlns:a16="http://schemas.microsoft.com/office/drawing/2014/main" id="{37061E7A-1634-46C1-A078-342858DD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090" y="94286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chromatin-loop-0-anchor-12-b">
            <a:extLst xmlns:a="http://schemas.openxmlformats.org/drawingml/2006/main">
              <a:ext uri="{FF2B5EF4-FFF2-40B4-BE49-F238E27FC236}">
                <a16:creationId xmlns:a16="http://schemas.microsoft.com/office/drawing/2014/main" id="{955AB081-2D77-4A11-96EC-ABBAB538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914" y="95504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5" name=""/>
          <p:cNvCxnSpPr>
            <a:stCxn xmlns:a="http://schemas.openxmlformats.org/drawingml/2006/main" id="135" idx="2"/>
            <a:endCxn xmlns:a="http://schemas.openxmlformats.org/drawingml/2006/main" id="136" idx="0"/>
          </p:cNvCxnSpPr>
          <p:nvPr/>
        </p:nvCxnSpPr>
        <p:spPr>
          <a:xfrm xmlns:a="http://schemas.openxmlformats.org/drawingml/2006/main">
            <a:off x="2409114" y="942909"/>
            <a:ext cx="6824" cy="12135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38" name="chromatin-loop-0-anchor-13-a">
            <a:extLst xmlns:a="http://schemas.openxmlformats.org/drawingml/2006/main">
              <a:ext uri="{FF2B5EF4-FFF2-40B4-BE49-F238E27FC236}">
                <a16:creationId xmlns:a16="http://schemas.microsoft.com/office/drawing/2014/main" id="{FC3755C6-4645-4148-89AA-D51B1094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914" y="95504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9" name="chromatin-loop-0-anchor-13-b">
            <a:extLst xmlns:a="http://schemas.openxmlformats.org/drawingml/2006/main">
              <a:ext uri="{FF2B5EF4-FFF2-40B4-BE49-F238E27FC236}">
                <a16:creationId xmlns:a16="http://schemas.microsoft.com/office/drawing/2014/main" id="{97D32484-C922-49A1-BBE0-D18ED9BC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737" y="976638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8" name=""/>
          <p:cNvCxnSpPr>
            <a:stCxn xmlns:a="http://schemas.openxmlformats.org/drawingml/2006/main" id="138" idx="2"/>
            <a:endCxn xmlns:a="http://schemas.openxmlformats.org/drawingml/2006/main" id="139" idx="0"/>
          </p:cNvCxnSpPr>
          <p:nvPr/>
        </p:nvCxnSpPr>
        <p:spPr>
          <a:xfrm xmlns:a="http://schemas.openxmlformats.org/drawingml/2006/main">
            <a:off x="2415938" y="955091"/>
            <a:ext cx="6823" cy="21547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41" name="chromatin-loop-0-anchor-14-a">
            <a:extLst xmlns:a="http://schemas.openxmlformats.org/drawingml/2006/main">
              <a:ext uri="{FF2B5EF4-FFF2-40B4-BE49-F238E27FC236}">
                <a16:creationId xmlns:a16="http://schemas.microsoft.com/office/drawing/2014/main" id="{74F9990A-3D78-4155-AF6B-B4115A43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737" y="976638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2" name="chromatin-loop-0-anchor-14-b">
            <a:extLst xmlns:a="http://schemas.openxmlformats.org/drawingml/2006/main">
              <a:ext uri="{FF2B5EF4-FFF2-40B4-BE49-F238E27FC236}">
                <a16:creationId xmlns:a16="http://schemas.microsoft.com/office/drawing/2014/main" id="{451147AA-3BA6-409E-A670-E58EC5CB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560" y="100334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1" name=""/>
          <p:cNvCxnSpPr>
            <a:stCxn xmlns:a="http://schemas.openxmlformats.org/drawingml/2006/main" id="141" idx="2"/>
            <a:endCxn xmlns:a="http://schemas.openxmlformats.org/drawingml/2006/main" id="142" idx="0"/>
          </p:cNvCxnSpPr>
          <p:nvPr/>
        </p:nvCxnSpPr>
        <p:spPr>
          <a:xfrm xmlns:a="http://schemas.openxmlformats.org/drawingml/2006/main">
            <a:off x="2422761" y="976685"/>
            <a:ext cx="6823" cy="26661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44" name="chromatin-loop-0-anchor-15-a">
            <a:extLst xmlns:a="http://schemas.openxmlformats.org/drawingml/2006/main">
              <a:ext uri="{FF2B5EF4-FFF2-40B4-BE49-F238E27FC236}">
                <a16:creationId xmlns:a16="http://schemas.microsoft.com/office/drawing/2014/main" id="{8C11C4A6-5D05-475F-B0F7-4F35C231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560" y="100334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chromatin-loop-0-anchor-15-b">
            <a:extLst xmlns:a="http://schemas.openxmlformats.org/drawingml/2006/main">
              <a:ext uri="{FF2B5EF4-FFF2-40B4-BE49-F238E27FC236}">
                <a16:creationId xmlns:a16="http://schemas.microsoft.com/office/drawing/2014/main" id="{82B726CE-28C4-418F-AA9F-D8FA410D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384" y="1029848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4" name=""/>
          <p:cNvCxnSpPr>
            <a:stCxn xmlns:a="http://schemas.openxmlformats.org/drawingml/2006/main" id="144" idx="2"/>
            <a:endCxn xmlns:a="http://schemas.openxmlformats.org/drawingml/2006/main" id="145" idx="0"/>
          </p:cNvCxnSpPr>
          <p:nvPr/>
        </p:nvCxnSpPr>
        <p:spPr>
          <a:xfrm xmlns:a="http://schemas.openxmlformats.org/drawingml/2006/main">
            <a:off x="2429584" y="1003393"/>
            <a:ext cx="6824" cy="26455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47" name="chromatin-loop-0-anchor-16-a">
            <a:extLst xmlns:a="http://schemas.openxmlformats.org/drawingml/2006/main">
              <a:ext uri="{FF2B5EF4-FFF2-40B4-BE49-F238E27FC236}">
                <a16:creationId xmlns:a16="http://schemas.microsoft.com/office/drawing/2014/main" id="{041834C8-0ED4-419A-BB7A-8D696E3D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384" y="1029848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8" name="chromatin-loop-0-anchor-16-b">
            <a:extLst xmlns:a="http://schemas.openxmlformats.org/drawingml/2006/main">
              <a:ext uri="{FF2B5EF4-FFF2-40B4-BE49-F238E27FC236}">
                <a16:creationId xmlns:a16="http://schemas.microsoft.com/office/drawing/2014/main" id="{42B2FCB1-EDFD-4F39-ACA2-27DFBE61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207" y="105086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7" name=""/>
          <p:cNvCxnSpPr>
            <a:stCxn xmlns:a="http://schemas.openxmlformats.org/drawingml/2006/main" id="147" idx="2"/>
            <a:endCxn xmlns:a="http://schemas.openxmlformats.org/drawingml/2006/main" id="148" idx="0"/>
          </p:cNvCxnSpPr>
          <p:nvPr/>
        </p:nvCxnSpPr>
        <p:spPr>
          <a:xfrm xmlns:a="http://schemas.openxmlformats.org/drawingml/2006/main">
            <a:off x="2436408" y="1029895"/>
            <a:ext cx="6823" cy="20974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50" name="chromatin-loop-0-anchor-17-a">
            <a:extLst xmlns:a="http://schemas.openxmlformats.org/drawingml/2006/main">
              <a:ext uri="{FF2B5EF4-FFF2-40B4-BE49-F238E27FC236}">
                <a16:creationId xmlns:a16="http://schemas.microsoft.com/office/drawing/2014/main" id="{6F3B0ADA-7DA5-49A3-9B77-66BE0920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207" y="105086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1" name="chromatin-loop-0-anchor-17-b">
            <a:extLst xmlns:a="http://schemas.openxmlformats.org/drawingml/2006/main">
              <a:ext uri="{FF2B5EF4-FFF2-40B4-BE49-F238E27FC236}">
                <a16:creationId xmlns:a16="http://schemas.microsoft.com/office/drawing/2014/main" id="{AA7C6732-5267-40B2-8B23-9B5332D8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030" y="106222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0" name=""/>
          <p:cNvCxnSpPr>
            <a:stCxn xmlns:a="http://schemas.openxmlformats.org/drawingml/2006/main" id="150" idx="2"/>
            <a:endCxn xmlns:a="http://schemas.openxmlformats.org/drawingml/2006/main" id="151" idx="0"/>
          </p:cNvCxnSpPr>
          <p:nvPr/>
        </p:nvCxnSpPr>
        <p:spPr>
          <a:xfrm xmlns:a="http://schemas.openxmlformats.org/drawingml/2006/main">
            <a:off x="2443231" y="1050916"/>
            <a:ext cx="6823" cy="11307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53" name="chromatin-loop-0-anchor-18-a">
            <a:extLst xmlns:a="http://schemas.openxmlformats.org/drawingml/2006/main">
              <a:ext uri="{FF2B5EF4-FFF2-40B4-BE49-F238E27FC236}">
                <a16:creationId xmlns:a16="http://schemas.microsoft.com/office/drawing/2014/main" id="{BAA26BB7-BC9B-4D5E-B1DB-36100223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030" y="106222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4" name="chromatin-loop-0-anchor-18-b">
            <a:extLst xmlns:a="http://schemas.openxmlformats.org/drawingml/2006/main">
              <a:ext uri="{FF2B5EF4-FFF2-40B4-BE49-F238E27FC236}">
                <a16:creationId xmlns:a16="http://schemas.microsoft.com/office/drawing/2014/main" id="{D3A613EE-E3BA-4C84-9BA6-8FB1A7A0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53" y="106164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3" name=""/>
          <p:cNvCxnSpPr>
            <a:stCxn xmlns:a="http://schemas.openxmlformats.org/drawingml/2006/main" id="153" idx="3"/>
            <a:endCxn xmlns:a="http://schemas.openxmlformats.org/drawingml/2006/main" id="154" idx="1"/>
          </p:cNvCxnSpPr>
          <p:nvPr/>
        </p:nvCxnSpPr>
        <p:spPr>
          <a:xfrm xmlns:a="http://schemas.openxmlformats.org/drawingml/2006/main" flipV="1">
            <a:off x="2450077" y="1061673"/>
            <a:ext cx="6776" cy="574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56" name="chromatin-loop-0-anchor-19-a">
            <a:extLst xmlns:a="http://schemas.openxmlformats.org/drawingml/2006/main">
              <a:ext uri="{FF2B5EF4-FFF2-40B4-BE49-F238E27FC236}">
                <a16:creationId xmlns:a16="http://schemas.microsoft.com/office/drawing/2014/main" id="{31886227-1E1C-4C56-ABB6-69A76F06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53" y="106164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7" name="chromatin-loop-0-anchor-19-b">
            <a:extLst xmlns:a="http://schemas.openxmlformats.org/drawingml/2006/main">
              <a:ext uri="{FF2B5EF4-FFF2-40B4-BE49-F238E27FC236}">
                <a16:creationId xmlns:a16="http://schemas.microsoft.com/office/drawing/2014/main" id="{2C79D562-1861-4F85-B144-A45F8B5E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677" y="104926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6" name=""/>
          <p:cNvCxnSpPr>
            <a:stCxn xmlns:a="http://schemas.openxmlformats.org/drawingml/2006/main" id="156" idx="0"/>
            <a:endCxn xmlns:a="http://schemas.openxmlformats.org/drawingml/2006/main" id="157" idx="2"/>
          </p:cNvCxnSpPr>
          <p:nvPr/>
        </p:nvCxnSpPr>
        <p:spPr>
          <a:xfrm xmlns:a="http://schemas.openxmlformats.org/drawingml/2006/main" flipV="1">
            <a:off x="2456877" y="1049309"/>
            <a:ext cx="6824" cy="12340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59" name="chromatin-loop-0-anchor-20-a">
            <a:extLst xmlns:a="http://schemas.openxmlformats.org/drawingml/2006/main">
              <a:ext uri="{FF2B5EF4-FFF2-40B4-BE49-F238E27FC236}">
                <a16:creationId xmlns:a16="http://schemas.microsoft.com/office/drawing/2014/main" id="{9994FFAA-71F7-4B74-8521-02CBE8FC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677" y="104926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0" name="chromatin-loop-0-anchor-20-b">
            <a:extLst xmlns:a="http://schemas.openxmlformats.org/drawingml/2006/main">
              <a:ext uri="{FF2B5EF4-FFF2-40B4-BE49-F238E27FC236}">
                <a16:creationId xmlns:a16="http://schemas.microsoft.com/office/drawing/2014/main" id="{69F223AB-3B30-4F5A-918E-8EBDD290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500" y="1027528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9" name=""/>
          <p:cNvCxnSpPr>
            <a:stCxn xmlns:a="http://schemas.openxmlformats.org/drawingml/2006/main" id="159" idx="0"/>
            <a:endCxn xmlns:a="http://schemas.openxmlformats.org/drawingml/2006/main" id="160" idx="2"/>
          </p:cNvCxnSpPr>
          <p:nvPr/>
        </p:nvCxnSpPr>
        <p:spPr>
          <a:xfrm xmlns:a="http://schemas.openxmlformats.org/drawingml/2006/main" flipV="1">
            <a:off x="2463701" y="1027575"/>
            <a:ext cx="6823" cy="21687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62" name="chromatin-loop-0-anchor-21-a">
            <a:extLst xmlns:a="http://schemas.openxmlformats.org/drawingml/2006/main">
              <a:ext uri="{FF2B5EF4-FFF2-40B4-BE49-F238E27FC236}">
                <a16:creationId xmlns:a16="http://schemas.microsoft.com/office/drawing/2014/main" id="{18FE2E25-0BCF-4A6F-814D-EAECFA6A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500" y="1027528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3" name="chromatin-loop-0-anchor-21-b">
            <a:extLst xmlns:a="http://schemas.openxmlformats.org/drawingml/2006/main">
              <a:ext uri="{FF2B5EF4-FFF2-40B4-BE49-F238E27FC236}">
                <a16:creationId xmlns:a16="http://schemas.microsoft.com/office/drawing/2014/main" id="{C4A2A3C2-9E68-4DD4-9343-F74A5752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323" y="100077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2" name=""/>
          <p:cNvCxnSpPr>
            <a:stCxn xmlns:a="http://schemas.openxmlformats.org/drawingml/2006/main" id="162" idx="0"/>
            <a:endCxn xmlns:a="http://schemas.openxmlformats.org/drawingml/2006/main" id="163" idx="2"/>
          </p:cNvCxnSpPr>
          <p:nvPr/>
        </p:nvCxnSpPr>
        <p:spPr>
          <a:xfrm xmlns:a="http://schemas.openxmlformats.org/drawingml/2006/main" flipV="1">
            <a:off x="2470524" y="1000821"/>
            <a:ext cx="6823" cy="26707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65" name="chromatin-loop-0-anchor-22-a">
            <a:extLst xmlns:a="http://schemas.openxmlformats.org/drawingml/2006/main">
              <a:ext uri="{FF2B5EF4-FFF2-40B4-BE49-F238E27FC236}">
                <a16:creationId xmlns:a16="http://schemas.microsoft.com/office/drawing/2014/main" id="{5590A2C7-A854-48BB-A959-3D0A1ED1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323" y="100077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6" name="chromatin-loop-0-anchor-22-b">
            <a:extLst xmlns:a="http://schemas.openxmlformats.org/drawingml/2006/main">
              <a:ext uri="{FF2B5EF4-FFF2-40B4-BE49-F238E27FC236}">
                <a16:creationId xmlns:a16="http://schemas.microsoft.com/office/drawing/2014/main" id="{855CEB79-3A83-40D6-A2B3-1B0FE30E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147" y="974328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5" name=""/>
          <p:cNvCxnSpPr>
            <a:stCxn xmlns:a="http://schemas.openxmlformats.org/drawingml/2006/main" id="165" idx="0"/>
            <a:endCxn xmlns:a="http://schemas.openxmlformats.org/drawingml/2006/main" id="166" idx="2"/>
          </p:cNvCxnSpPr>
          <p:nvPr/>
        </p:nvCxnSpPr>
        <p:spPr>
          <a:xfrm xmlns:a="http://schemas.openxmlformats.org/drawingml/2006/main" flipV="1">
            <a:off x="2477347" y="974375"/>
            <a:ext cx="6824" cy="26399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68" name="chromatin-loop-0-anchor-23-a">
            <a:extLst xmlns:a="http://schemas.openxmlformats.org/drawingml/2006/main">
              <a:ext uri="{FF2B5EF4-FFF2-40B4-BE49-F238E27FC236}">
                <a16:creationId xmlns:a16="http://schemas.microsoft.com/office/drawing/2014/main" id="{4DF38686-C760-4DCE-B7C8-31EADD9C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147" y="974328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9" name="chromatin-loop-0-anchor-23-b">
            <a:extLst xmlns:a="http://schemas.openxmlformats.org/drawingml/2006/main">
              <a:ext uri="{FF2B5EF4-FFF2-40B4-BE49-F238E27FC236}">
                <a16:creationId xmlns:a16="http://schemas.microsoft.com/office/drawing/2014/main" id="{2D31788E-A035-4650-A3CF-5C4B09FD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970" y="95345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8" name=""/>
          <p:cNvCxnSpPr>
            <a:stCxn xmlns:a="http://schemas.openxmlformats.org/drawingml/2006/main" id="168" idx="0"/>
            <a:endCxn xmlns:a="http://schemas.openxmlformats.org/drawingml/2006/main" id="169" idx="2"/>
          </p:cNvCxnSpPr>
          <p:nvPr/>
        </p:nvCxnSpPr>
        <p:spPr>
          <a:xfrm xmlns:a="http://schemas.openxmlformats.org/drawingml/2006/main" flipV="1">
            <a:off x="2484171" y="953501"/>
            <a:ext cx="6823" cy="20827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71" name="chromatin-loop-0-anchor-24-a">
            <a:extLst xmlns:a="http://schemas.openxmlformats.org/drawingml/2006/main">
              <a:ext uri="{FF2B5EF4-FFF2-40B4-BE49-F238E27FC236}">
                <a16:creationId xmlns:a16="http://schemas.microsoft.com/office/drawing/2014/main" id="{7B4B3648-F310-480A-8752-1F0D97D0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970" y="95345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2" name="chromatin-loop-0-anchor-24-b">
            <a:extLst xmlns:a="http://schemas.openxmlformats.org/drawingml/2006/main">
              <a:ext uri="{FF2B5EF4-FFF2-40B4-BE49-F238E27FC236}">
                <a16:creationId xmlns:a16="http://schemas.microsoft.com/office/drawing/2014/main" id="{5E626E07-25CC-491C-8FDC-6FA069A2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793" y="94230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1" name=""/>
          <p:cNvCxnSpPr>
            <a:stCxn xmlns:a="http://schemas.openxmlformats.org/drawingml/2006/main" id="171" idx="0"/>
            <a:endCxn xmlns:a="http://schemas.openxmlformats.org/drawingml/2006/main" id="172" idx="2"/>
          </p:cNvCxnSpPr>
          <p:nvPr/>
        </p:nvCxnSpPr>
        <p:spPr>
          <a:xfrm xmlns:a="http://schemas.openxmlformats.org/drawingml/2006/main" flipV="1">
            <a:off x="2490994" y="942356"/>
            <a:ext cx="6823" cy="11098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74" name="chromatin-loop-0-anchor-25-a">
            <a:extLst xmlns:a="http://schemas.openxmlformats.org/drawingml/2006/main">
              <a:ext uri="{FF2B5EF4-FFF2-40B4-BE49-F238E27FC236}">
                <a16:creationId xmlns:a16="http://schemas.microsoft.com/office/drawing/2014/main" id="{945C224F-4A95-40FC-A46E-2607F540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793" y="94230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5" name="chromatin-loop-0-anchor-25-b">
            <a:extLst xmlns:a="http://schemas.openxmlformats.org/drawingml/2006/main">
              <a:ext uri="{FF2B5EF4-FFF2-40B4-BE49-F238E27FC236}">
                <a16:creationId xmlns:a16="http://schemas.microsoft.com/office/drawing/2014/main" id="{5FB54349-0585-4E96-A7F8-BA27DAF0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16" y="94311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4" name=""/>
          <p:cNvCxnSpPr>
            <a:stCxn xmlns:a="http://schemas.openxmlformats.org/drawingml/2006/main" id="174" idx="3"/>
            <a:endCxn xmlns:a="http://schemas.openxmlformats.org/drawingml/2006/main" id="175" idx="1"/>
          </p:cNvCxnSpPr>
          <p:nvPr/>
        </p:nvCxnSpPr>
        <p:spPr>
          <a:xfrm xmlns:a="http://schemas.openxmlformats.org/drawingml/2006/main">
            <a:off x="2497840" y="942333"/>
            <a:ext cx="6776" cy="803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77" name="chromatin-loop-0-anchor-26-a">
            <a:extLst xmlns:a="http://schemas.openxmlformats.org/drawingml/2006/main">
              <a:ext uri="{FF2B5EF4-FFF2-40B4-BE49-F238E27FC236}">
                <a16:creationId xmlns:a16="http://schemas.microsoft.com/office/drawing/2014/main" id="{8008C863-0FB0-426A-B24E-684C1FB0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16" y="94311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8" name="chromatin-loop-0-anchor-26-b">
            <a:extLst xmlns:a="http://schemas.openxmlformats.org/drawingml/2006/main">
              <a:ext uri="{FF2B5EF4-FFF2-40B4-BE49-F238E27FC236}">
                <a16:creationId xmlns:a16="http://schemas.microsoft.com/office/drawing/2014/main" id="{80AEB326-E502-4884-BBBF-7E9A48B3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440" y="95570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7" name=""/>
          <p:cNvCxnSpPr>
            <a:stCxn xmlns:a="http://schemas.openxmlformats.org/drawingml/2006/main" id="177" idx="2"/>
            <a:endCxn xmlns:a="http://schemas.openxmlformats.org/drawingml/2006/main" id="178" idx="0"/>
          </p:cNvCxnSpPr>
          <p:nvPr/>
        </p:nvCxnSpPr>
        <p:spPr>
          <a:xfrm xmlns:a="http://schemas.openxmlformats.org/drawingml/2006/main">
            <a:off x="2504640" y="943159"/>
            <a:ext cx="6824" cy="12544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80" name="chromatin-loop-0-anchor-27-a">
            <a:extLst xmlns:a="http://schemas.openxmlformats.org/drawingml/2006/main">
              <a:ext uri="{FF2B5EF4-FFF2-40B4-BE49-F238E27FC236}">
                <a16:creationId xmlns:a16="http://schemas.microsoft.com/office/drawing/2014/main" id="{8B0DDF73-0A75-4FC0-8D06-C5AD1B4F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440" y="95570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1" name="chromatin-loop-0-anchor-27-b">
            <a:extLst xmlns:a="http://schemas.openxmlformats.org/drawingml/2006/main">
              <a:ext uri="{FF2B5EF4-FFF2-40B4-BE49-F238E27FC236}">
                <a16:creationId xmlns:a16="http://schemas.microsoft.com/office/drawing/2014/main" id="{DF5C7119-BB22-4A62-8B46-556B3861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263" y="97757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0" name=""/>
          <p:cNvCxnSpPr>
            <a:stCxn xmlns:a="http://schemas.openxmlformats.org/drawingml/2006/main" id="180" idx="2"/>
            <a:endCxn xmlns:a="http://schemas.openxmlformats.org/drawingml/2006/main" id="181" idx="0"/>
          </p:cNvCxnSpPr>
          <p:nvPr/>
        </p:nvCxnSpPr>
        <p:spPr>
          <a:xfrm xmlns:a="http://schemas.openxmlformats.org/drawingml/2006/main">
            <a:off x="2511464" y="955750"/>
            <a:ext cx="6823" cy="21826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83" name="chromatin-loop-1-anchor-1-a">
            <a:extLst xmlns:a="http://schemas.openxmlformats.org/drawingml/2006/main">
              <a:ext uri="{FF2B5EF4-FFF2-40B4-BE49-F238E27FC236}">
                <a16:creationId xmlns:a16="http://schemas.microsoft.com/office/drawing/2014/main" id="{48799AE0-84FD-4A30-8A5E-3E14D885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034" y="106298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4" name="chromatin-loop-1-anchor-1-b">
            <a:extLst xmlns:a="http://schemas.openxmlformats.org/drawingml/2006/main">
              <a:ext uri="{FF2B5EF4-FFF2-40B4-BE49-F238E27FC236}">
                <a16:creationId xmlns:a16="http://schemas.microsoft.com/office/drawing/2014/main" id="{37E798C6-C7C7-4944-8E63-586B7BCE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58" y="105351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3" name=""/>
          <p:cNvCxnSpPr>
            <a:stCxn xmlns:a="http://schemas.openxmlformats.org/drawingml/2006/main" id="183" idx="0"/>
            <a:endCxn xmlns:a="http://schemas.openxmlformats.org/drawingml/2006/main" id="184" idx="2"/>
          </p:cNvCxnSpPr>
          <p:nvPr/>
        </p:nvCxnSpPr>
        <p:spPr>
          <a:xfrm xmlns:a="http://schemas.openxmlformats.org/drawingml/2006/main" flipV="1">
            <a:off x="2334058" y="1053561"/>
            <a:ext cx="6824" cy="9421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86" name="chromatin-loop-1-anchor-2-a">
            <a:extLst xmlns:a="http://schemas.openxmlformats.org/drawingml/2006/main">
              <a:ext uri="{FF2B5EF4-FFF2-40B4-BE49-F238E27FC236}">
                <a16:creationId xmlns:a16="http://schemas.microsoft.com/office/drawing/2014/main" id="{4EDDD445-2D50-4FD7-8DE1-F05C9DA5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58" y="105351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7" name="chromatin-loop-1-anchor-2-b">
            <a:extLst xmlns:a="http://schemas.openxmlformats.org/drawingml/2006/main">
              <a:ext uri="{FF2B5EF4-FFF2-40B4-BE49-F238E27FC236}">
                <a16:creationId xmlns:a16="http://schemas.microsoft.com/office/drawing/2014/main" id="{74D94634-127B-47F3-B4EA-17448707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681" y="103385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6" name=""/>
          <p:cNvCxnSpPr>
            <a:stCxn xmlns:a="http://schemas.openxmlformats.org/drawingml/2006/main" id="186" idx="0"/>
            <a:endCxn xmlns:a="http://schemas.openxmlformats.org/drawingml/2006/main" id="187" idx="2"/>
          </p:cNvCxnSpPr>
          <p:nvPr/>
        </p:nvCxnSpPr>
        <p:spPr>
          <a:xfrm xmlns:a="http://schemas.openxmlformats.org/drawingml/2006/main" flipV="1">
            <a:off x="2340882" y="1033900"/>
            <a:ext cx="6823" cy="19614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89" name="chromatin-loop-1-anchor-3-a">
            <a:extLst xmlns:a="http://schemas.openxmlformats.org/drawingml/2006/main">
              <a:ext uri="{FF2B5EF4-FFF2-40B4-BE49-F238E27FC236}">
                <a16:creationId xmlns:a16="http://schemas.microsoft.com/office/drawing/2014/main" id="{DF501A82-BABF-4716-91C2-B0434F86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681" y="103385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0" name="chromatin-loop-1-anchor-3-b">
            <a:extLst xmlns:a="http://schemas.openxmlformats.org/drawingml/2006/main">
              <a:ext uri="{FF2B5EF4-FFF2-40B4-BE49-F238E27FC236}">
                <a16:creationId xmlns:a16="http://schemas.microsoft.com/office/drawing/2014/main" id="{8228703A-8176-4935-A122-726589D0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504" y="100791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9" name=""/>
          <p:cNvCxnSpPr>
            <a:stCxn xmlns:a="http://schemas.openxmlformats.org/drawingml/2006/main" id="189" idx="0"/>
            <a:endCxn xmlns:a="http://schemas.openxmlformats.org/drawingml/2006/main" id="190" idx="2"/>
          </p:cNvCxnSpPr>
          <p:nvPr/>
        </p:nvCxnSpPr>
        <p:spPr>
          <a:xfrm xmlns:a="http://schemas.openxmlformats.org/drawingml/2006/main" flipV="1">
            <a:off x="2347705" y="1007959"/>
            <a:ext cx="6823" cy="25894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92" name="chromatin-loop-1-anchor-4-a">
            <a:extLst xmlns:a="http://schemas.openxmlformats.org/drawingml/2006/main">
              <a:ext uri="{FF2B5EF4-FFF2-40B4-BE49-F238E27FC236}">
                <a16:creationId xmlns:a16="http://schemas.microsoft.com/office/drawing/2014/main" id="{249CDFEC-3F0C-4916-BDD8-4F7B0C53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504" y="100791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3" name="chromatin-loop-1-anchor-4-b">
            <a:extLst xmlns:a="http://schemas.openxmlformats.org/drawingml/2006/main">
              <a:ext uri="{FF2B5EF4-FFF2-40B4-BE49-F238E27FC236}">
                <a16:creationId xmlns:a16="http://schemas.microsoft.com/office/drawing/2014/main" id="{C55C257A-D76E-4985-8610-D34443BA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327" y="980858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2" name=""/>
          <p:cNvCxnSpPr>
            <a:stCxn xmlns:a="http://schemas.openxmlformats.org/drawingml/2006/main" id="192" idx="0"/>
            <a:endCxn xmlns:a="http://schemas.openxmlformats.org/drawingml/2006/main" id="193" idx="2"/>
          </p:cNvCxnSpPr>
          <p:nvPr/>
        </p:nvCxnSpPr>
        <p:spPr>
          <a:xfrm xmlns:a="http://schemas.openxmlformats.org/drawingml/2006/main" flipV="1">
            <a:off x="2354528" y="980905"/>
            <a:ext cx="6823" cy="27007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95" name="chromatin-loop-1-anchor-5-a">
            <a:extLst xmlns:a="http://schemas.openxmlformats.org/drawingml/2006/main">
              <a:ext uri="{FF2B5EF4-FFF2-40B4-BE49-F238E27FC236}">
                <a16:creationId xmlns:a16="http://schemas.microsoft.com/office/drawing/2014/main" id="{AB8E9600-7ABA-432C-B4D9-FB9B3B9D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327" y="980858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6" name="chromatin-loop-1-anchor-5-b">
            <a:extLst xmlns:a="http://schemas.openxmlformats.org/drawingml/2006/main">
              <a:ext uri="{FF2B5EF4-FFF2-40B4-BE49-F238E27FC236}">
                <a16:creationId xmlns:a16="http://schemas.microsoft.com/office/drawing/2014/main" id="{3FB043BE-7AED-4213-88E6-F244502C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151" y="95807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5" name=""/>
          <p:cNvCxnSpPr>
            <a:stCxn xmlns:a="http://schemas.openxmlformats.org/drawingml/2006/main" id="195" idx="0"/>
            <a:endCxn xmlns:a="http://schemas.openxmlformats.org/drawingml/2006/main" id="196" idx="2"/>
          </p:cNvCxnSpPr>
          <p:nvPr/>
        </p:nvCxnSpPr>
        <p:spPr>
          <a:xfrm xmlns:a="http://schemas.openxmlformats.org/drawingml/2006/main" flipV="1">
            <a:off x="2361351" y="958124"/>
            <a:ext cx="6824" cy="22734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198" name="chromatin-loop-1-anchor-6-a">
            <a:extLst xmlns:a="http://schemas.openxmlformats.org/drawingml/2006/main">
              <a:ext uri="{FF2B5EF4-FFF2-40B4-BE49-F238E27FC236}">
                <a16:creationId xmlns:a16="http://schemas.microsoft.com/office/drawing/2014/main" id="{22D0286A-A1D9-4693-9940-1D9AE9EA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151" y="95807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9" name="chromatin-loop-1-anchor-6-b">
            <a:extLst xmlns:a="http://schemas.openxmlformats.org/drawingml/2006/main">
              <a:ext uri="{FF2B5EF4-FFF2-40B4-BE49-F238E27FC236}">
                <a16:creationId xmlns:a16="http://schemas.microsoft.com/office/drawing/2014/main" id="{F0C805E7-DE6F-44F1-8BA6-019D7C6B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74" y="94410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8" name=""/>
          <p:cNvCxnSpPr>
            <a:stCxn xmlns:a="http://schemas.openxmlformats.org/drawingml/2006/main" id="198" idx="0"/>
            <a:endCxn xmlns:a="http://schemas.openxmlformats.org/drawingml/2006/main" id="199" idx="2"/>
          </p:cNvCxnSpPr>
          <p:nvPr/>
        </p:nvCxnSpPr>
        <p:spPr>
          <a:xfrm xmlns:a="http://schemas.openxmlformats.org/drawingml/2006/main" flipV="1">
            <a:off x="2368175" y="944151"/>
            <a:ext cx="6823" cy="13926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01" name="chromatin-loop-1-anchor-7-a">
            <a:extLst xmlns:a="http://schemas.openxmlformats.org/drawingml/2006/main">
              <a:ext uri="{FF2B5EF4-FFF2-40B4-BE49-F238E27FC236}">
                <a16:creationId xmlns:a16="http://schemas.microsoft.com/office/drawing/2014/main" id="{567E1780-EEE6-41AF-90EB-3BACE910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74" y="94410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2" name="chromatin-loop-1-anchor-7-b">
            <a:extLst xmlns:a="http://schemas.openxmlformats.org/drawingml/2006/main">
              <a:ext uri="{FF2B5EF4-FFF2-40B4-BE49-F238E27FC236}">
                <a16:creationId xmlns:a16="http://schemas.microsoft.com/office/drawing/2014/main" id="{0F921687-5660-4F33-9C8A-0ABFDBFB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797" y="94172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1" name=""/>
          <p:cNvCxnSpPr>
            <a:stCxn xmlns:a="http://schemas.openxmlformats.org/drawingml/2006/main" id="201" idx="3"/>
            <a:endCxn xmlns:a="http://schemas.openxmlformats.org/drawingml/2006/main" id="202" idx="1"/>
          </p:cNvCxnSpPr>
          <p:nvPr/>
        </p:nvCxnSpPr>
        <p:spPr>
          <a:xfrm xmlns:a="http://schemas.openxmlformats.org/drawingml/2006/main" flipV="1">
            <a:off x="2375021" y="941745"/>
            <a:ext cx="6776" cy="2383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04" name="chromatin-loop-1-anchor-8-a">
            <a:extLst xmlns:a="http://schemas.openxmlformats.org/drawingml/2006/main">
              <a:ext uri="{FF2B5EF4-FFF2-40B4-BE49-F238E27FC236}">
                <a16:creationId xmlns:a16="http://schemas.microsoft.com/office/drawing/2014/main" id="{B0325FFF-3451-4C72-823F-D7023374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797" y="94172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5" name="chromatin-loop-1-anchor-8-b">
            <a:extLst xmlns:a="http://schemas.openxmlformats.org/drawingml/2006/main">
              <a:ext uri="{FF2B5EF4-FFF2-40B4-BE49-F238E27FC236}">
                <a16:creationId xmlns:a16="http://schemas.microsoft.com/office/drawing/2014/main" id="{1E826C68-10BA-444B-9C32-240530CD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621" y="95140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4" name=""/>
          <p:cNvCxnSpPr>
            <a:stCxn xmlns:a="http://schemas.openxmlformats.org/drawingml/2006/main" id="204" idx="2"/>
            <a:endCxn xmlns:a="http://schemas.openxmlformats.org/drawingml/2006/main" id="205" idx="0"/>
          </p:cNvCxnSpPr>
          <p:nvPr/>
        </p:nvCxnSpPr>
        <p:spPr>
          <a:xfrm xmlns:a="http://schemas.openxmlformats.org/drawingml/2006/main">
            <a:off x="2381821" y="941768"/>
            <a:ext cx="6824" cy="9636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07" name="chromatin-loop-1-anchor-9-a">
            <a:extLst xmlns:a="http://schemas.openxmlformats.org/drawingml/2006/main">
              <a:ext uri="{FF2B5EF4-FFF2-40B4-BE49-F238E27FC236}">
                <a16:creationId xmlns:a16="http://schemas.microsoft.com/office/drawing/2014/main" id="{F86572F2-ED95-4EE7-B1F7-0BC57D2E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621" y="95140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8" name="chromatin-loop-1-anchor-9-b">
            <a:extLst xmlns:a="http://schemas.openxmlformats.org/drawingml/2006/main">
              <a:ext uri="{FF2B5EF4-FFF2-40B4-BE49-F238E27FC236}">
                <a16:creationId xmlns:a16="http://schemas.microsoft.com/office/drawing/2014/main" id="{F48806F1-65DB-4223-9A7C-565668D9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444" y="97122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7" name=""/>
          <p:cNvCxnSpPr>
            <a:stCxn xmlns:a="http://schemas.openxmlformats.org/drawingml/2006/main" id="207" idx="2"/>
            <a:endCxn xmlns:a="http://schemas.openxmlformats.org/drawingml/2006/main" id="208" idx="0"/>
          </p:cNvCxnSpPr>
          <p:nvPr/>
        </p:nvCxnSpPr>
        <p:spPr>
          <a:xfrm xmlns:a="http://schemas.openxmlformats.org/drawingml/2006/main">
            <a:off x="2388645" y="951451"/>
            <a:ext cx="6823" cy="19773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10" name="chromatin-loop-1-anchor-10-a">
            <a:extLst xmlns:a="http://schemas.openxmlformats.org/drawingml/2006/main">
              <a:ext uri="{FF2B5EF4-FFF2-40B4-BE49-F238E27FC236}">
                <a16:creationId xmlns:a16="http://schemas.microsoft.com/office/drawing/2014/main" id="{2B0FF2E3-6F18-4ED7-93D4-6248EF81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444" y="97122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1" name="chromatin-loop-1-anchor-10-b">
            <a:extLst xmlns:a="http://schemas.openxmlformats.org/drawingml/2006/main">
              <a:ext uri="{FF2B5EF4-FFF2-40B4-BE49-F238E27FC236}">
                <a16:creationId xmlns:a16="http://schemas.microsoft.com/office/drawing/2014/main" id="{001D1B94-9898-4F3B-8D61-C8A18C90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267" y="99723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0" name=""/>
          <p:cNvCxnSpPr>
            <a:stCxn xmlns:a="http://schemas.openxmlformats.org/drawingml/2006/main" id="210" idx="2"/>
            <a:endCxn xmlns:a="http://schemas.openxmlformats.org/drawingml/2006/main" id="211" idx="0"/>
          </p:cNvCxnSpPr>
          <p:nvPr/>
        </p:nvCxnSpPr>
        <p:spPr>
          <a:xfrm xmlns:a="http://schemas.openxmlformats.org/drawingml/2006/main">
            <a:off x="2395468" y="971271"/>
            <a:ext cx="6823" cy="25963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13" name="chromatin-loop-1-anchor-11-a">
            <a:extLst xmlns:a="http://schemas.openxmlformats.org/drawingml/2006/main">
              <a:ext uri="{FF2B5EF4-FFF2-40B4-BE49-F238E27FC236}">
                <a16:creationId xmlns:a16="http://schemas.microsoft.com/office/drawing/2014/main" id="{0DDF5C63-0B34-4305-9132-2826C31F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267" y="99723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4" name="chromatin-loop-1-anchor-11-b">
            <a:extLst xmlns:a="http://schemas.openxmlformats.org/drawingml/2006/main">
              <a:ext uri="{FF2B5EF4-FFF2-40B4-BE49-F238E27FC236}">
                <a16:creationId xmlns:a16="http://schemas.microsoft.com/office/drawing/2014/main" id="{87BCF05D-09D3-4A6D-92D3-383022A6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090" y="102425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3" name=""/>
          <p:cNvCxnSpPr>
            <a:stCxn xmlns:a="http://schemas.openxmlformats.org/drawingml/2006/main" id="213" idx="2"/>
            <a:endCxn xmlns:a="http://schemas.openxmlformats.org/drawingml/2006/main" id="214" idx="0"/>
          </p:cNvCxnSpPr>
          <p:nvPr/>
        </p:nvCxnSpPr>
        <p:spPr>
          <a:xfrm xmlns:a="http://schemas.openxmlformats.org/drawingml/2006/main">
            <a:off x="2402291" y="997281"/>
            <a:ext cx="6823" cy="26976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16" name="chromatin-loop-1-anchor-12-a">
            <a:extLst xmlns:a="http://schemas.openxmlformats.org/drawingml/2006/main">
              <a:ext uri="{FF2B5EF4-FFF2-40B4-BE49-F238E27FC236}">
                <a16:creationId xmlns:a16="http://schemas.microsoft.com/office/drawing/2014/main" id="{2FCF49E5-4408-4DFE-A635-9D737479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090" y="102425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7" name="chromatin-loop-1-anchor-12-b">
            <a:extLst xmlns:a="http://schemas.openxmlformats.org/drawingml/2006/main">
              <a:ext uri="{FF2B5EF4-FFF2-40B4-BE49-F238E27FC236}">
                <a16:creationId xmlns:a16="http://schemas.microsoft.com/office/drawing/2014/main" id="{35B4C099-80E0-4A57-812D-2447E6F3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914" y="10469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6" name=""/>
          <p:cNvCxnSpPr>
            <a:stCxn xmlns:a="http://schemas.openxmlformats.org/drawingml/2006/main" id="216" idx="2"/>
            <a:endCxn xmlns:a="http://schemas.openxmlformats.org/drawingml/2006/main" id="217" idx="0"/>
          </p:cNvCxnSpPr>
          <p:nvPr/>
        </p:nvCxnSpPr>
        <p:spPr>
          <a:xfrm xmlns:a="http://schemas.openxmlformats.org/drawingml/2006/main">
            <a:off x="2409114" y="1024304"/>
            <a:ext cx="6824" cy="22607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19" name="chromatin-loop-1-anchor-13-a">
            <a:extLst xmlns:a="http://schemas.openxmlformats.org/drawingml/2006/main">
              <a:ext uri="{FF2B5EF4-FFF2-40B4-BE49-F238E27FC236}">
                <a16:creationId xmlns:a16="http://schemas.microsoft.com/office/drawing/2014/main" id="{81158DFA-1A79-4F14-B249-BE986BE4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914" y="10469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0" name="chromatin-loop-1-anchor-13-b">
            <a:extLst xmlns:a="http://schemas.openxmlformats.org/drawingml/2006/main">
              <a:ext uri="{FF2B5EF4-FFF2-40B4-BE49-F238E27FC236}">
                <a16:creationId xmlns:a16="http://schemas.microsoft.com/office/drawing/2014/main" id="{6B9C3722-DBD1-4B8E-8073-90A4EF42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737" y="106068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9" name=""/>
          <p:cNvCxnSpPr>
            <a:stCxn xmlns:a="http://schemas.openxmlformats.org/drawingml/2006/main" id="219" idx="2"/>
            <a:endCxn xmlns:a="http://schemas.openxmlformats.org/drawingml/2006/main" id="220" idx="0"/>
          </p:cNvCxnSpPr>
          <p:nvPr/>
        </p:nvCxnSpPr>
        <p:spPr>
          <a:xfrm xmlns:a="http://schemas.openxmlformats.org/drawingml/2006/main">
            <a:off x="2415938" y="1046958"/>
            <a:ext cx="6823" cy="13729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22" name="chromatin-loop-1-anchor-14-a">
            <a:extLst xmlns:a="http://schemas.openxmlformats.org/drawingml/2006/main">
              <a:ext uri="{FF2B5EF4-FFF2-40B4-BE49-F238E27FC236}">
                <a16:creationId xmlns:a16="http://schemas.microsoft.com/office/drawing/2014/main" id="{E501A4FB-5102-4792-B0B9-550F18A0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737" y="106068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3" name="chromatin-loop-1-anchor-14-b">
            <a:extLst xmlns:a="http://schemas.openxmlformats.org/drawingml/2006/main">
              <a:ext uri="{FF2B5EF4-FFF2-40B4-BE49-F238E27FC236}">
                <a16:creationId xmlns:a16="http://schemas.microsoft.com/office/drawing/2014/main" id="{1BEC7B7F-2903-4510-A95D-D366D1BC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560" y="106284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2" name=""/>
          <p:cNvCxnSpPr>
            <a:stCxn xmlns:a="http://schemas.openxmlformats.org/drawingml/2006/main" id="222" idx="3"/>
            <a:endCxn xmlns:a="http://schemas.openxmlformats.org/drawingml/2006/main" id="223" idx="1"/>
          </p:cNvCxnSpPr>
          <p:nvPr/>
        </p:nvCxnSpPr>
        <p:spPr>
          <a:xfrm xmlns:a="http://schemas.openxmlformats.org/drawingml/2006/main">
            <a:off x="2422784" y="1060711"/>
            <a:ext cx="6776" cy="2153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25" name="chromatin-loop-1-anchor-15-a">
            <a:extLst xmlns:a="http://schemas.openxmlformats.org/drawingml/2006/main">
              <a:ext uri="{FF2B5EF4-FFF2-40B4-BE49-F238E27FC236}">
                <a16:creationId xmlns:a16="http://schemas.microsoft.com/office/drawing/2014/main" id="{F40358D0-6C3E-4C25-BDCE-E4D7D4FF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560" y="106284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6" name="chromatin-loop-1-anchor-15-b">
            <a:extLst xmlns:a="http://schemas.openxmlformats.org/drawingml/2006/main">
              <a:ext uri="{FF2B5EF4-FFF2-40B4-BE49-F238E27FC236}">
                <a16:creationId xmlns:a16="http://schemas.microsoft.com/office/drawing/2014/main" id="{2BFFE85A-FC8B-49D0-9267-529D5AD6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384" y="105294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5" name=""/>
          <p:cNvCxnSpPr>
            <a:stCxn xmlns:a="http://schemas.openxmlformats.org/drawingml/2006/main" id="225" idx="0"/>
            <a:endCxn xmlns:a="http://schemas.openxmlformats.org/drawingml/2006/main" id="226" idx="2"/>
          </p:cNvCxnSpPr>
          <p:nvPr/>
        </p:nvCxnSpPr>
        <p:spPr>
          <a:xfrm xmlns:a="http://schemas.openxmlformats.org/drawingml/2006/main" flipV="1">
            <a:off x="2429584" y="1052991"/>
            <a:ext cx="6824" cy="9849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28" name="chromatin-loop-1-anchor-16-a">
            <a:extLst xmlns:a="http://schemas.openxmlformats.org/drawingml/2006/main">
              <a:ext uri="{FF2B5EF4-FFF2-40B4-BE49-F238E27FC236}">
                <a16:creationId xmlns:a16="http://schemas.microsoft.com/office/drawing/2014/main" id="{45905E03-8BA4-431D-AE2F-AA578DEF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384" y="105294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9" name="chromatin-loop-1-anchor-16-b">
            <a:extLst xmlns:a="http://schemas.openxmlformats.org/drawingml/2006/main">
              <a:ext uri="{FF2B5EF4-FFF2-40B4-BE49-F238E27FC236}">
                <a16:creationId xmlns:a16="http://schemas.microsoft.com/office/drawing/2014/main" id="{F0166F51-3360-4563-8C6F-D7139E4B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207" y="103296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8" name=""/>
          <p:cNvCxnSpPr>
            <a:stCxn xmlns:a="http://schemas.openxmlformats.org/drawingml/2006/main" id="228" idx="0"/>
            <a:endCxn xmlns:a="http://schemas.openxmlformats.org/drawingml/2006/main" id="229" idx="2"/>
          </p:cNvCxnSpPr>
          <p:nvPr/>
        </p:nvCxnSpPr>
        <p:spPr>
          <a:xfrm xmlns:a="http://schemas.openxmlformats.org/drawingml/2006/main" flipV="1">
            <a:off x="2436408" y="1033014"/>
            <a:ext cx="6823" cy="19930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31" name="chromatin-loop-1-anchor-17-a">
            <a:extLst xmlns:a="http://schemas.openxmlformats.org/drawingml/2006/main">
              <a:ext uri="{FF2B5EF4-FFF2-40B4-BE49-F238E27FC236}">
                <a16:creationId xmlns:a16="http://schemas.microsoft.com/office/drawing/2014/main" id="{F2A7EC67-E4F1-41DE-A75D-FC130293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207" y="103296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2" name="chromatin-loop-1-anchor-17-b">
            <a:extLst xmlns:a="http://schemas.openxmlformats.org/drawingml/2006/main">
              <a:ext uri="{FF2B5EF4-FFF2-40B4-BE49-F238E27FC236}">
                <a16:creationId xmlns:a16="http://schemas.microsoft.com/office/drawing/2014/main" id="{9786E4C7-D4C6-401A-863F-7D46E030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030" y="100688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1" name=""/>
          <p:cNvCxnSpPr>
            <a:stCxn xmlns:a="http://schemas.openxmlformats.org/drawingml/2006/main" id="231" idx="0"/>
            <a:endCxn xmlns:a="http://schemas.openxmlformats.org/drawingml/2006/main" id="232" idx="2"/>
          </p:cNvCxnSpPr>
          <p:nvPr/>
        </p:nvCxnSpPr>
        <p:spPr>
          <a:xfrm xmlns:a="http://schemas.openxmlformats.org/drawingml/2006/main" flipV="1">
            <a:off x="2443231" y="1006934"/>
            <a:ext cx="6823" cy="26033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34" name="chromatin-loop-1-anchor-18-a">
            <a:extLst xmlns:a="http://schemas.openxmlformats.org/drawingml/2006/main">
              <a:ext uri="{FF2B5EF4-FFF2-40B4-BE49-F238E27FC236}">
                <a16:creationId xmlns:a16="http://schemas.microsoft.com/office/drawing/2014/main" id="{0AE2C2AA-4CDD-4BE9-A8C7-236DA41A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030" y="100688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5" name="chromatin-loop-1-anchor-18-b">
            <a:extLst xmlns:a="http://schemas.openxmlformats.org/drawingml/2006/main">
              <a:ext uri="{FF2B5EF4-FFF2-40B4-BE49-F238E27FC236}">
                <a16:creationId xmlns:a16="http://schemas.microsoft.com/office/drawing/2014/main" id="{5789E18C-27BC-4982-A0B1-B4847026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53" y="979898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4" name=""/>
          <p:cNvCxnSpPr>
            <a:stCxn xmlns:a="http://schemas.openxmlformats.org/drawingml/2006/main" id="234" idx="0"/>
            <a:endCxn xmlns:a="http://schemas.openxmlformats.org/drawingml/2006/main" id="235" idx="2"/>
          </p:cNvCxnSpPr>
          <p:nvPr/>
        </p:nvCxnSpPr>
        <p:spPr>
          <a:xfrm xmlns:a="http://schemas.openxmlformats.org/drawingml/2006/main" flipV="1">
            <a:off x="2450054" y="979945"/>
            <a:ext cx="6823" cy="26942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37" name="chromatin-loop-1-anchor-19-a">
            <a:extLst xmlns:a="http://schemas.openxmlformats.org/drawingml/2006/main">
              <a:ext uri="{FF2B5EF4-FFF2-40B4-BE49-F238E27FC236}">
                <a16:creationId xmlns:a16="http://schemas.microsoft.com/office/drawing/2014/main" id="{52F9F58D-EC57-4BD2-80E0-0628DB5B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53" y="979898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8" name="chromatin-loop-1-anchor-19-b">
            <a:extLst xmlns:a="http://schemas.openxmlformats.org/drawingml/2006/main">
              <a:ext uri="{FF2B5EF4-FFF2-40B4-BE49-F238E27FC236}">
                <a16:creationId xmlns:a16="http://schemas.microsoft.com/office/drawing/2014/main" id="{6B225D7E-108F-4B09-8B05-87D10FE1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677" y="95737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7" name=""/>
          <p:cNvCxnSpPr>
            <a:stCxn xmlns:a="http://schemas.openxmlformats.org/drawingml/2006/main" id="237" idx="0"/>
            <a:endCxn xmlns:a="http://schemas.openxmlformats.org/drawingml/2006/main" id="238" idx="2"/>
          </p:cNvCxnSpPr>
          <p:nvPr/>
        </p:nvCxnSpPr>
        <p:spPr>
          <a:xfrm xmlns:a="http://schemas.openxmlformats.org/drawingml/2006/main" flipV="1">
            <a:off x="2456877" y="957419"/>
            <a:ext cx="6824" cy="22479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40" name="chromatin-loop-1-anchor-20-a">
            <a:extLst xmlns:a="http://schemas.openxmlformats.org/drawingml/2006/main">
              <a:ext uri="{FF2B5EF4-FFF2-40B4-BE49-F238E27FC236}">
                <a16:creationId xmlns:a16="http://schemas.microsoft.com/office/drawing/2014/main" id="{0A729778-E995-4B27-8385-BB62CDD5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677" y="95737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1" name="chromatin-loop-1-anchor-20-b">
            <a:extLst xmlns:a="http://schemas.openxmlformats.org/drawingml/2006/main">
              <a:ext uri="{FF2B5EF4-FFF2-40B4-BE49-F238E27FC236}">
                <a16:creationId xmlns:a16="http://schemas.microsoft.com/office/drawing/2014/main" id="{73A43794-7543-45AA-9B95-C37D667A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500" y="94379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0" name=""/>
          <p:cNvCxnSpPr>
            <a:stCxn xmlns:a="http://schemas.openxmlformats.org/drawingml/2006/main" id="240" idx="0"/>
            <a:endCxn xmlns:a="http://schemas.openxmlformats.org/drawingml/2006/main" id="241" idx="2"/>
          </p:cNvCxnSpPr>
          <p:nvPr/>
        </p:nvCxnSpPr>
        <p:spPr>
          <a:xfrm xmlns:a="http://schemas.openxmlformats.org/drawingml/2006/main" flipV="1">
            <a:off x="2463701" y="943843"/>
            <a:ext cx="6823" cy="13529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43" name="chromatin-loop-1-anchor-21-a">
            <a:extLst xmlns:a="http://schemas.openxmlformats.org/drawingml/2006/main">
              <a:ext uri="{FF2B5EF4-FFF2-40B4-BE49-F238E27FC236}">
                <a16:creationId xmlns:a16="http://schemas.microsoft.com/office/drawing/2014/main" id="{314F1286-9794-4992-A5B0-6BC45D68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500" y="94379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4" name="chromatin-loop-1-anchor-21-b">
            <a:extLst xmlns:a="http://schemas.openxmlformats.org/drawingml/2006/main">
              <a:ext uri="{FF2B5EF4-FFF2-40B4-BE49-F238E27FC236}">
                <a16:creationId xmlns:a16="http://schemas.microsoft.com/office/drawing/2014/main" id="{39C6DB12-E416-4C67-9388-45607219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323" y="94187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3" name=""/>
          <p:cNvCxnSpPr>
            <a:stCxn xmlns:a="http://schemas.openxmlformats.org/drawingml/2006/main" id="243" idx="3"/>
            <a:endCxn xmlns:a="http://schemas.openxmlformats.org/drawingml/2006/main" id="244" idx="1"/>
          </p:cNvCxnSpPr>
          <p:nvPr/>
        </p:nvCxnSpPr>
        <p:spPr>
          <a:xfrm xmlns:a="http://schemas.openxmlformats.org/drawingml/2006/main" flipV="1">
            <a:off x="2470547" y="941895"/>
            <a:ext cx="6776" cy="1925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46" name="chromatin-loop-1-anchor-22-a">
            <a:extLst xmlns:a="http://schemas.openxmlformats.org/drawingml/2006/main">
              <a:ext uri="{FF2B5EF4-FFF2-40B4-BE49-F238E27FC236}">
                <a16:creationId xmlns:a16="http://schemas.microsoft.com/office/drawing/2014/main" id="{256364F1-A687-42A6-9A98-31B0DBDB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323" y="94187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7" name="chromatin-loop-1-anchor-22-b">
            <a:extLst xmlns:a="http://schemas.openxmlformats.org/drawingml/2006/main">
              <a:ext uri="{FF2B5EF4-FFF2-40B4-BE49-F238E27FC236}">
                <a16:creationId xmlns:a16="http://schemas.microsoft.com/office/drawing/2014/main" id="{18B2503A-35E8-420A-849C-3463ED46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147" y="95198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6" name=""/>
          <p:cNvCxnSpPr>
            <a:stCxn xmlns:a="http://schemas.openxmlformats.org/drawingml/2006/main" id="246" idx="2"/>
            <a:endCxn xmlns:a="http://schemas.openxmlformats.org/drawingml/2006/main" id="247" idx="0"/>
          </p:cNvCxnSpPr>
          <p:nvPr/>
        </p:nvCxnSpPr>
        <p:spPr>
          <a:xfrm xmlns:a="http://schemas.openxmlformats.org/drawingml/2006/main">
            <a:off x="2477347" y="941918"/>
            <a:ext cx="6824" cy="10063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49" name="chromatin-loop-1-anchor-23-a">
            <a:extLst xmlns:a="http://schemas.openxmlformats.org/drawingml/2006/main">
              <a:ext uri="{FF2B5EF4-FFF2-40B4-BE49-F238E27FC236}">
                <a16:creationId xmlns:a16="http://schemas.microsoft.com/office/drawing/2014/main" id="{6A4FF657-6611-415B-A851-D9A52EC2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147" y="95198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0" name="chromatin-loop-1-anchor-23-b">
            <a:extLst xmlns:a="http://schemas.openxmlformats.org/drawingml/2006/main">
              <a:ext uri="{FF2B5EF4-FFF2-40B4-BE49-F238E27FC236}">
                <a16:creationId xmlns:a16="http://schemas.microsoft.com/office/drawing/2014/main" id="{D014412E-4006-4B0C-A57C-A93EAA1C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970" y="97211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9" name=""/>
          <p:cNvCxnSpPr>
            <a:stCxn xmlns:a="http://schemas.openxmlformats.org/drawingml/2006/main" id="249" idx="2"/>
            <a:endCxn xmlns:a="http://schemas.openxmlformats.org/drawingml/2006/main" id="250" idx="0"/>
          </p:cNvCxnSpPr>
          <p:nvPr/>
        </p:nvCxnSpPr>
        <p:spPr>
          <a:xfrm xmlns:a="http://schemas.openxmlformats.org/drawingml/2006/main">
            <a:off x="2484171" y="952028"/>
            <a:ext cx="6823" cy="20086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52" name="chromatin-loop-1-anchor-24-a">
            <a:extLst xmlns:a="http://schemas.openxmlformats.org/drawingml/2006/main">
              <a:ext uri="{FF2B5EF4-FFF2-40B4-BE49-F238E27FC236}">
                <a16:creationId xmlns:a16="http://schemas.microsoft.com/office/drawing/2014/main" id="{EA1A6192-DAB9-4B76-8504-531E6FAB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970" y="97211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3" name="chromatin-loop-1-anchor-24-b">
            <a:extLst xmlns:a="http://schemas.openxmlformats.org/drawingml/2006/main">
              <a:ext uri="{FF2B5EF4-FFF2-40B4-BE49-F238E27FC236}">
                <a16:creationId xmlns:a16="http://schemas.microsoft.com/office/drawing/2014/main" id="{BA7A318F-5413-4493-9CCE-77AFCEDA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793" y="99826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2" name=""/>
          <p:cNvCxnSpPr>
            <a:stCxn xmlns:a="http://schemas.openxmlformats.org/drawingml/2006/main" id="252" idx="2"/>
            <a:endCxn xmlns:a="http://schemas.openxmlformats.org/drawingml/2006/main" id="253" idx="0"/>
          </p:cNvCxnSpPr>
          <p:nvPr/>
        </p:nvCxnSpPr>
        <p:spPr>
          <a:xfrm xmlns:a="http://schemas.openxmlformats.org/drawingml/2006/main">
            <a:off x="2490994" y="972161"/>
            <a:ext cx="6823" cy="26099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55" name="chromatin-loop-1-anchor-25-a">
            <a:extLst xmlns:a="http://schemas.openxmlformats.org/drawingml/2006/main">
              <a:ext uri="{FF2B5EF4-FFF2-40B4-BE49-F238E27FC236}">
                <a16:creationId xmlns:a16="http://schemas.microsoft.com/office/drawing/2014/main" id="{2985D0EA-4D98-49D6-977B-1DAE532B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793" y="99826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6" name="chromatin-loop-1-anchor-25-b">
            <a:extLst xmlns:a="http://schemas.openxmlformats.org/drawingml/2006/main">
              <a:ext uri="{FF2B5EF4-FFF2-40B4-BE49-F238E27FC236}">
                <a16:creationId xmlns:a16="http://schemas.microsoft.com/office/drawing/2014/main" id="{692178F6-2525-4F48-8A73-83A03FF8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16" y="102521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5" name=""/>
          <p:cNvCxnSpPr>
            <a:stCxn xmlns:a="http://schemas.openxmlformats.org/drawingml/2006/main" id="255" idx="2"/>
            <a:endCxn xmlns:a="http://schemas.openxmlformats.org/drawingml/2006/main" id="256" idx="0"/>
          </p:cNvCxnSpPr>
          <p:nvPr/>
        </p:nvCxnSpPr>
        <p:spPr>
          <a:xfrm xmlns:a="http://schemas.openxmlformats.org/drawingml/2006/main">
            <a:off x="2497817" y="998307"/>
            <a:ext cx="6823" cy="26907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58" name="chromatin-loop-1-anchor-26-a">
            <a:extLst xmlns:a="http://schemas.openxmlformats.org/drawingml/2006/main">
              <a:ext uri="{FF2B5EF4-FFF2-40B4-BE49-F238E27FC236}">
                <a16:creationId xmlns:a16="http://schemas.microsoft.com/office/drawing/2014/main" id="{D81D695B-5FB6-43A9-9A26-689FFD5E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16" y="102521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9" name="chromatin-loop-1-anchor-26-b">
            <a:extLst xmlns:a="http://schemas.openxmlformats.org/drawingml/2006/main">
              <a:ext uri="{FF2B5EF4-FFF2-40B4-BE49-F238E27FC236}">
                <a16:creationId xmlns:a16="http://schemas.microsoft.com/office/drawing/2014/main" id="{93E7398A-9D04-4E00-B036-2C894C5A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440" y="104760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8" name=""/>
          <p:cNvCxnSpPr>
            <a:stCxn xmlns:a="http://schemas.openxmlformats.org/drawingml/2006/main" id="258" idx="2"/>
            <a:endCxn xmlns:a="http://schemas.openxmlformats.org/drawingml/2006/main" id="259" idx="0"/>
          </p:cNvCxnSpPr>
          <p:nvPr/>
        </p:nvCxnSpPr>
        <p:spPr>
          <a:xfrm xmlns:a="http://schemas.openxmlformats.org/drawingml/2006/main">
            <a:off x="2504640" y="1025261"/>
            <a:ext cx="6824" cy="22348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61" name="chromatin-loop-1-anchor-27-a">
            <a:extLst xmlns:a="http://schemas.openxmlformats.org/drawingml/2006/main">
              <a:ext uri="{FF2B5EF4-FFF2-40B4-BE49-F238E27FC236}">
                <a16:creationId xmlns:a16="http://schemas.microsoft.com/office/drawing/2014/main" id="{3FBD9493-6A33-4AA7-B021-53D91798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440" y="104760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2" name="chromatin-loop-1-anchor-27-b">
            <a:extLst xmlns:a="http://schemas.openxmlformats.org/drawingml/2006/main">
              <a:ext uri="{FF2B5EF4-FFF2-40B4-BE49-F238E27FC236}">
                <a16:creationId xmlns:a16="http://schemas.microsoft.com/office/drawing/2014/main" id="{175E93BA-4359-4C96-B224-3F8F11C2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263" y="106098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1" name=""/>
          <p:cNvCxnSpPr>
            <a:stCxn xmlns:a="http://schemas.openxmlformats.org/drawingml/2006/main" id="261" idx="2"/>
            <a:endCxn xmlns:a="http://schemas.openxmlformats.org/drawingml/2006/main" id="262" idx="0"/>
          </p:cNvCxnSpPr>
          <p:nvPr/>
        </p:nvCxnSpPr>
        <p:spPr>
          <a:xfrm xmlns:a="http://schemas.openxmlformats.org/drawingml/2006/main">
            <a:off x="2511464" y="1047656"/>
            <a:ext cx="6823" cy="13330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64" name="chromatin-loop-2-anchor-1-a">
            <a:extLst xmlns:a="http://schemas.openxmlformats.org/drawingml/2006/main">
              <a:ext uri="{FF2B5EF4-FFF2-40B4-BE49-F238E27FC236}">
                <a16:creationId xmlns:a16="http://schemas.microsoft.com/office/drawing/2014/main" id="{5791A66A-1EB5-455F-822D-4D242E72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034" y="986685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5" name="chromatin-loop-2-anchor-1-b">
            <a:extLst xmlns:a="http://schemas.openxmlformats.org/drawingml/2006/main">
              <a:ext uri="{FF2B5EF4-FFF2-40B4-BE49-F238E27FC236}">
                <a16:creationId xmlns:a16="http://schemas.microsoft.com/office/drawing/2014/main" id="{620EE95C-BC17-4CFC-9EA3-09C77AEB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58" y="96251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4" name=""/>
          <p:cNvCxnSpPr>
            <a:stCxn xmlns:a="http://schemas.openxmlformats.org/drawingml/2006/main" id="264" idx="0"/>
            <a:endCxn xmlns:a="http://schemas.openxmlformats.org/drawingml/2006/main" id="265" idx="2"/>
          </p:cNvCxnSpPr>
          <p:nvPr/>
        </p:nvCxnSpPr>
        <p:spPr>
          <a:xfrm xmlns:a="http://schemas.openxmlformats.org/drawingml/2006/main" flipV="1">
            <a:off x="2334058" y="962563"/>
            <a:ext cx="6824" cy="24122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67" name="chromatin-loop-2-anchor-2-a">
            <a:extLst xmlns:a="http://schemas.openxmlformats.org/drawingml/2006/main">
              <a:ext uri="{FF2B5EF4-FFF2-40B4-BE49-F238E27FC236}">
                <a16:creationId xmlns:a16="http://schemas.microsoft.com/office/drawing/2014/main" id="{C320E419-5071-4D5D-980C-95CEADA8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58" y="96251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8" name="chromatin-loop-2-anchor-2-b">
            <a:extLst xmlns:a="http://schemas.openxmlformats.org/drawingml/2006/main">
              <a:ext uri="{FF2B5EF4-FFF2-40B4-BE49-F238E27FC236}">
                <a16:creationId xmlns:a16="http://schemas.microsoft.com/office/drawing/2014/main" id="{3EF28EE1-0365-4A19-B90A-0CF87D33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681" y="94627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7" name=""/>
          <p:cNvCxnSpPr>
            <a:stCxn xmlns:a="http://schemas.openxmlformats.org/drawingml/2006/main" id="267" idx="0"/>
            <a:endCxn xmlns:a="http://schemas.openxmlformats.org/drawingml/2006/main" id="268" idx="2"/>
          </p:cNvCxnSpPr>
          <p:nvPr/>
        </p:nvCxnSpPr>
        <p:spPr>
          <a:xfrm xmlns:a="http://schemas.openxmlformats.org/drawingml/2006/main" flipV="1">
            <a:off x="2340882" y="946318"/>
            <a:ext cx="6823" cy="16198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70" name="chromatin-loop-2-anchor-3-a">
            <a:extLst xmlns:a="http://schemas.openxmlformats.org/drawingml/2006/main">
              <a:ext uri="{FF2B5EF4-FFF2-40B4-BE49-F238E27FC236}">
                <a16:creationId xmlns:a16="http://schemas.microsoft.com/office/drawing/2014/main" id="{E3466D9D-B04D-4974-A783-F9F078C1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681" y="94627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1" name="chromatin-loop-2-anchor-3-b">
            <a:extLst xmlns:a="http://schemas.openxmlformats.org/drawingml/2006/main">
              <a:ext uri="{FF2B5EF4-FFF2-40B4-BE49-F238E27FC236}">
                <a16:creationId xmlns:a16="http://schemas.microsoft.com/office/drawing/2014/main" id="{0B5D11DB-589B-49BA-933C-C561A539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504" y="94118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0" name=""/>
          <p:cNvCxnSpPr>
            <a:stCxn xmlns:a="http://schemas.openxmlformats.org/drawingml/2006/main" id="270" idx="3"/>
            <a:endCxn xmlns:a="http://schemas.openxmlformats.org/drawingml/2006/main" id="271" idx="1"/>
          </p:cNvCxnSpPr>
          <p:nvPr/>
        </p:nvCxnSpPr>
        <p:spPr>
          <a:xfrm xmlns:a="http://schemas.openxmlformats.org/drawingml/2006/main" flipV="1">
            <a:off x="2347728" y="941210"/>
            <a:ext cx="6776" cy="5085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73" name="chromatin-loop-2-anchor-4-a">
            <a:extLst xmlns:a="http://schemas.openxmlformats.org/drawingml/2006/main">
              <a:ext uri="{FF2B5EF4-FFF2-40B4-BE49-F238E27FC236}">
                <a16:creationId xmlns:a16="http://schemas.microsoft.com/office/drawing/2014/main" id="{CD2A4100-73ED-41C6-AE66-AA8A85DA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504" y="94118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4" name="chromatin-loop-2-anchor-4-b">
            <a:extLst xmlns:a="http://schemas.openxmlformats.org/drawingml/2006/main">
              <a:ext uri="{FF2B5EF4-FFF2-40B4-BE49-F238E27FC236}">
                <a16:creationId xmlns:a16="http://schemas.microsoft.com/office/drawing/2014/main" id="{B6B35D5A-ABD9-495B-9EA3-9D17AF10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327" y="94827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3" name=""/>
          <p:cNvCxnSpPr>
            <a:stCxn xmlns:a="http://schemas.openxmlformats.org/drawingml/2006/main" id="273" idx="2"/>
            <a:endCxn xmlns:a="http://schemas.openxmlformats.org/drawingml/2006/main" id="274" idx="0"/>
          </p:cNvCxnSpPr>
          <p:nvPr/>
        </p:nvCxnSpPr>
        <p:spPr>
          <a:xfrm xmlns:a="http://schemas.openxmlformats.org/drawingml/2006/main">
            <a:off x="2354528" y="941233"/>
            <a:ext cx="6823" cy="7039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76" name="chromatin-loop-2-anchor-5-a">
            <a:extLst xmlns:a="http://schemas.openxmlformats.org/drawingml/2006/main">
              <a:ext uri="{FF2B5EF4-FFF2-40B4-BE49-F238E27FC236}">
                <a16:creationId xmlns:a16="http://schemas.microsoft.com/office/drawing/2014/main" id="{05858745-EE9E-41B1-81F5-40861D53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327" y="94827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7" name="chromatin-loop-2-anchor-5-b">
            <a:extLst xmlns:a="http://schemas.openxmlformats.org/drawingml/2006/main">
              <a:ext uri="{FF2B5EF4-FFF2-40B4-BE49-F238E27FC236}">
                <a16:creationId xmlns:a16="http://schemas.microsoft.com/office/drawing/2014/main" id="{6643AB31-06C8-4E7A-B182-5504AADF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151" y="96611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6" name=""/>
          <p:cNvCxnSpPr>
            <a:stCxn xmlns:a="http://schemas.openxmlformats.org/drawingml/2006/main" id="276" idx="2"/>
            <a:endCxn xmlns:a="http://schemas.openxmlformats.org/drawingml/2006/main" id="277" idx="0"/>
          </p:cNvCxnSpPr>
          <p:nvPr/>
        </p:nvCxnSpPr>
        <p:spPr>
          <a:xfrm xmlns:a="http://schemas.openxmlformats.org/drawingml/2006/main">
            <a:off x="2361351" y="948319"/>
            <a:ext cx="6824" cy="17800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79" name="chromatin-loop-2-anchor-6-a">
            <a:extLst xmlns:a="http://schemas.openxmlformats.org/drawingml/2006/main">
              <a:ext uri="{FF2B5EF4-FFF2-40B4-BE49-F238E27FC236}">
                <a16:creationId xmlns:a16="http://schemas.microsoft.com/office/drawing/2014/main" id="{B27247F1-37C9-44CE-916E-FCA77D03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151" y="96611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0" name="chromatin-loop-2-anchor-6-b">
            <a:extLst xmlns:a="http://schemas.openxmlformats.org/drawingml/2006/main">
              <a:ext uri="{FF2B5EF4-FFF2-40B4-BE49-F238E27FC236}">
                <a16:creationId xmlns:a16="http://schemas.microsoft.com/office/drawing/2014/main" id="{6340C8C2-A5FE-4AAE-AACF-8445C3D3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74" y="99117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9" name=""/>
          <p:cNvCxnSpPr>
            <a:stCxn xmlns:a="http://schemas.openxmlformats.org/drawingml/2006/main" id="279" idx="2"/>
            <a:endCxn xmlns:a="http://schemas.openxmlformats.org/drawingml/2006/main" id="280" idx="0"/>
          </p:cNvCxnSpPr>
          <p:nvPr/>
        </p:nvCxnSpPr>
        <p:spPr>
          <a:xfrm xmlns:a="http://schemas.openxmlformats.org/drawingml/2006/main">
            <a:off x="2368175" y="966166"/>
            <a:ext cx="6823" cy="25007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82" name="chromatin-loop-2-anchor-7-a">
            <a:extLst xmlns:a="http://schemas.openxmlformats.org/drawingml/2006/main">
              <a:ext uri="{FF2B5EF4-FFF2-40B4-BE49-F238E27FC236}">
                <a16:creationId xmlns:a16="http://schemas.microsoft.com/office/drawing/2014/main" id="{8EB79476-015D-4E11-BA51-61114064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74" y="99117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3" name="chromatin-loop-2-anchor-7-b">
            <a:extLst xmlns:a="http://schemas.openxmlformats.org/drawingml/2006/main">
              <a:ext uri="{FF2B5EF4-FFF2-40B4-BE49-F238E27FC236}">
                <a16:creationId xmlns:a16="http://schemas.microsoft.com/office/drawing/2014/main" id="{FF8AD8BF-8B68-4F2F-B816-8B7C6D7B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797" y="101844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2" name=""/>
          <p:cNvCxnSpPr>
            <a:stCxn xmlns:a="http://schemas.openxmlformats.org/drawingml/2006/main" id="282" idx="2"/>
            <a:endCxn xmlns:a="http://schemas.openxmlformats.org/drawingml/2006/main" id="283" idx="0"/>
          </p:cNvCxnSpPr>
          <p:nvPr/>
        </p:nvCxnSpPr>
        <p:spPr>
          <a:xfrm xmlns:a="http://schemas.openxmlformats.org/drawingml/2006/main">
            <a:off x="2374998" y="991220"/>
            <a:ext cx="6823" cy="27226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85" name="chromatin-loop-2-anchor-8-a">
            <a:extLst xmlns:a="http://schemas.openxmlformats.org/drawingml/2006/main">
              <a:ext uri="{FF2B5EF4-FFF2-40B4-BE49-F238E27FC236}">
                <a16:creationId xmlns:a16="http://schemas.microsoft.com/office/drawing/2014/main" id="{715A11E9-02A0-4F92-86A4-6C28DC50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797" y="101844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6" name="chromatin-loop-2-anchor-8-b">
            <a:extLst xmlns:a="http://schemas.openxmlformats.org/drawingml/2006/main">
              <a:ext uri="{FF2B5EF4-FFF2-40B4-BE49-F238E27FC236}">
                <a16:creationId xmlns:a16="http://schemas.microsoft.com/office/drawing/2014/main" id="{70B81622-8047-4D56-B6DC-FE80E621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621" y="1042508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5" name=""/>
          <p:cNvCxnSpPr>
            <a:stCxn xmlns:a="http://schemas.openxmlformats.org/drawingml/2006/main" id="285" idx="2"/>
            <a:endCxn xmlns:a="http://schemas.openxmlformats.org/drawingml/2006/main" id="286" idx="0"/>
          </p:cNvCxnSpPr>
          <p:nvPr/>
        </p:nvCxnSpPr>
        <p:spPr>
          <a:xfrm xmlns:a="http://schemas.openxmlformats.org/drawingml/2006/main">
            <a:off x="2381821" y="1018493"/>
            <a:ext cx="6824" cy="24015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88" name="chromatin-loop-2-anchor-9-a">
            <a:extLst xmlns:a="http://schemas.openxmlformats.org/drawingml/2006/main">
              <a:ext uri="{FF2B5EF4-FFF2-40B4-BE49-F238E27FC236}">
                <a16:creationId xmlns:a16="http://schemas.microsoft.com/office/drawing/2014/main" id="{573016F2-BCB8-4674-83FA-8694DD29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621" y="1042508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9" name="chromatin-loop-2-anchor-9-b">
            <a:extLst xmlns:a="http://schemas.openxmlformats.org/drawingml/2006/main">
              <a:ext uri="{FF2B5EF4-FFF2-40B4-BE49-F238E27FC236}">
                <a16:creationId xmlns:a16="http://schemas.microsoft.com/office/drawing/2014/main" id="{E7CA3302-37B0-4105-A7BB-2E675D07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444" y="105856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8" name=""/>
          <p:cNvCxnSpPr>
            <a:stCxn xmlns:a="http://schemas.openxmlformats.org/drawingml/2006/main" id="288" idx="2"/>
            <a:endCxn xmlns:a="http://schemas.openxmlformats.org/drawingml/2006/main" id="289" idx="0"/>
          </p:cNvCxnSpPr>
          <p:nvPr/>
        </p:nvCxnSpPr>
        <p:spPr>
          <a:xfrm xmlns:a="http://schemas.openxmlformats.org/drawingml/2006/main">
            <a:off x="2388645" y="1042555"/>
            <a:ext cx="6823" cy="16012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91" name="chromatin-loop-2-anchor-10-a">
            <a:extLst xmlns:a="http://schemas.openxmlformats.org/drawingml/2006/main">
              <a:ext uri="{FF2B5EF4-FFF2-40B4-BE49-F238E27FC236}">
                <a16:creationId xmlns:a16="http://schemas.microsoft.com/office/drawing/2014/main" id="{476DD206-23EE-40B5-8D6A-AE5F8164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444" y="105856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2" name="chromatin-loop-2-anchor-10-b">
            <a:extLst xmlns:a="http://schemas.openxmlformats.org/drawingml/2006/main">
              <a:ext uri="{FF2B5EF4-FFF2-40B4-BE49-F238E27FC236}">
                <a16:creationId xmlns:a16="http://schemas.microsoft.com/office/drawing/2014/main" id="{C2D203BA-A320-4F66-8BEE-7A197ECF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267" y="106342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1" name=""/>
          <p:cNvCxnSpPr>
            <a:stCxn xmlns:a="http://schemas.openxmlformats.org/drawingml/2006/main" id="291" idx="3"/>
            <a:endCxn xmlns:a="http://schemas.openxmlformats.org/drawingml/2006/main" id="292" idx="1"/>
          </p:cNvCxnSpPr>
          <p:nvPr/>
        </p:nvCxnSpPr>
        <p:spPr>
          <a:xfrm xmlns:a="http://schemas.openxmlformats.org/drawingml/2006/main">
            <a:off x="2395491" y="1058591"/>
            <a:ext cx="6776" cy="4860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94" name="chromatin-loop-2-anchor-11-a">
            <a:extLst xmlns:a="http://schemas.openxmlformats.org/drawingml/2006/main">
              <a:ext uri="{FF2B5EF4-FFF2-40B4-BE49-F238E27FC236}">
                <a16:creationId xmlns:a16="http://schemas.microsoft.com/office/drawing/2014/main" id="{232B9CE2-4BC2-400E-87EC-487CFEF8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267" y="106342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5" name="chromatin-loop-2-anchor-11-b">
            <a:extLst xmlns:a="http://schemas.openxmlformats.org/drawingml/2006/main">
              <a:ext uri="{FF2B5EF4-FFF2-40B4-BE49-F238E27FC236}">
                <a16:creationId xmlns:a16="http://schemas.microsoft.com/office/drawing/2014/main" id="{82B4272A-18AB-4B23-93F8-1657AA6F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090" y="105611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4" name=""/>
          <p:cNvCxnSpPr>
            <a:stCxn xmlns:a="http://schemas.openxmlformats.org/drawingml/2006/main" id="294" idx="0"/>
            <a:endCxn xmlns:a="http://schemas.openxmlformats.org/drawingml/2006/main" id="295" idx="2"/>
          </p:cNvCxnSpPr>
          <p:nvPr/>
        </p:nvCxnSpPr>
        <p:spPr>
          <a:xfrm xmlns:a="http://schemas.openxmlformats.org/drawingml/2006/main" flipV="1">
            <a:off x="2402291" y="1056166"/>
            <a:ext cx="6823" cy="7261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297" name="chromatin-loop-2-anchor-12-a">
            <a:extLst xmlns:a="http://schemas.openxmlformats.org/drawingml/2006/main">
              <a:ext uri="{FF2B5EF4-FFF2-40B4-BE49-F238E27FC236}">
                <a16:creationId xmlns:a16="http://schemas.microsoft.com/office/drawing/2014/main" id="{AC16ACF6-CBEA-4A6C-84FE-B5F23CEC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090" y="105611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8" name="chromatin-loop-2-anchor-12-b">
            <a:extLst xmlns:a="http://schemas.openxmlformats.org/drawingml/2006/main">
              <a:ext uri="{FF2B5EF4-FFF2-40B4-BE49-F238E27FC236}">
                <a16:creationId xmlns:a16="http://schemas.microsoft.com/office/drawing/2014/main" id="{0B36F866-CDCA-4A8F-99D2-47D21F1A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914" y="103809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7" name=""/>
          <p:cNvCxnSpPr>
            <a:stCxn xmlns:a="http://schemas.openxmlformats.org/drawingml/2006/main" id="297" idx="0"/>
            <a:endCxn xmlns:a="http://schemas.openxmlformats.org/drawingml/2006/main" id="298" idx="2"/>
          </p:cNvCxnSpPr>
          <p:nvPr/>
        </p:nvCxnSpPr>
        <p:spPr>
          <a:xfrm xmlns:a="http://schemas.openxmlformats.org/drawingml/2006/main" flipV="1">
            <a:off x="2409114" y="1038146"/>
            <a:ext cx="6824" cy="17973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300" name="chromatin-loop-2-anchor-13-a">
            <a:extLst xmlns:a="http://schemas.openxmlformats.org/drawingml/2006/main">
              <a:ext uri="{FF2B5EF4-FFF2-40B4-BE49-F238E27FC236}">
                <a16:creationId xmlns:a16="http://schemas.microsoft.com/office/drawing/2014/main" id="{F8AE594C-3D5C-4D7D-A4BE-23B4D3C6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914" y="103809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1" name="chromatin-loop-2-anchor-13-b">
            <a:extLst xmlns:a="http://schemas.openxmlformats.org/drawingml/2006/main">
              <a:ext uri="{FF2B5EF4-FFF2-40B4-BE49-F238E27FC236}">
                <a16:creationId xmlns:a16="http://schemas.microsoft.com/office/drawing/2014/main" id="{04E205DB-C405-4D4C-9A3C-E03802C5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737" y="1012955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0" name=""/>
          <p:cNvCxnSpPr>
            <a:stCxn xmlns:a="http://schemas.openxmlformats.org/drawingml/2006/main" id="300" idx="0"/>
            <a:endCxn xmlns:a="http://schemas.openxmlformats.org/drawingml/2006/main" id="301" idx="2"/>
          </p:cNvCxnSpPr>
          <p:nvPr/>
        </p:nvCxnSpPr>
        <p:spPr>
          <a:xfrm xmlns:a="http://schemas.openxmlformats.org/drawingml/2006/main" flipV="1">
            <a:off x="2415938" y="1013002"/>
            <a:ext cx="6823" cy="25097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303" name="chromatin-loop-2-anchor-14-a">
            <a:extLst xmlns:a="http://schemas.openxmlformats.org/drawingml/2006/main">
              <a:ext uri="{FF2B5EF4-FFF2-40B4-BE49-F238E27FC236}">
                <a16:creationId xmlns:a16="http://schemas.microsoft.com/office/drawing/2014/main" id="{BB1B0AD3-4F9C-4B5C-B0B1-10D1B1A0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737" y="1012955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4" name="chromatin-loop-2-anchor-14-b">
            <a:extLst xmlns:a="http://schemas.openxmlformats.org/drawingml/2006/main">
              <a:ext uri="{FF2B5EF4-FFF2-40B4-BE49-F238E27FC236}">
                <a16:creationId xmlns:a16="http://schemas.microsoft.com/office/drawing/2014/main" id="{4DFED254-15BE-4072-B4B4-B4F0DAD1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560" y="98569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3" name=""/>
          <p:cNvCxnSpPr>
            <a:stCxn xmlns:a="http://schemas.openxmlformats.org/drawingml/2006/main" id="303" idx="0"/>
            <a:endCxn xmlns:a="http://schemas.openxmlformats.org/drawingml/2006/main" id="304" idx="2"/>
          </p:cNvCxnSpPr>
          <p:nvPr/>
        </p:nvCxnSpPr>
        <p:spPr>
          <a:xfrm xmlns:a="http://schemas.openxmlformats.org/drawingml/2006/main" flipV="1">
            <a:off x="2422761" y="985739"/>
            <a:ext cx="6823" cy="27216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306" name="chromatin-loop-2-anchor-15-a">
            <a:extLst xmlns:a="http://schemas.openxmlformats.org/drawingml/2006/main">
              <a:ext uri="{FF2B5EF4-FFF2-40B4-BE49-F238E27FC236}">
                <a16:creationId xmlns:a16="http://schemas.microsoft.com/office/drawing/2014/main" id="{3475D1D0-FE9E-4385-9AE0-C3B8E072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560" y="98569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7" name="chromatin-loop-2-anchor-15-b">
            <a:extLst xmlns:a="http://schemas.openxmlformats.org/drawingml/2006/main">
              <a:ext uri="{FF2B5EF4-FFF2-40B4-BE49-F238E27FC236}">
                <a16:creationId xmlns:a16="http://schemas.microsoft.com/office/drawing/2014/main" id="{68D50AB1-7CA3-41A7-A11E-43F714E1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384" y="96174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6" name=""/>
          <p:cNvCxnSpPr>
            <a:stCxn xmlns:a="http://schemas.openxmlformats.org/drawingml/2006/main" id="306" idx="0"/>
            <a:endCxn xmlns:a="http://schemas.openxmlformats.org/drawingml/2006/main" id="307" idx="2"/>
          </p:cNvCxnSpPr>
          <p:nvPr/>
        </p:nvCxnSpPr>
        <p:spPr>
          <a:xfrm xmlns:a="http://schemas.openxmlformats.org/drawingml/2006/main" flipV="1">
            <a:off x="2429584" y="961787"/>
            <a:ext cx="6824" cy="23905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309" name="chromatin-loop-2-anchor-16-a">
            <a:extLst xmlns:a="http://schemas.openxmlformats.org/drawingml/2006/main">
              <a:ext uri="{FF2B5EF4-FFF2-40B4-BE49-F238E27FC236}">
                <a16:creationId xmlns:a16="http://schemas.microsoft.com/office/drawing/2014/main" id="{CF2D838B-49E5-443A-A4C0-9FDC9FC4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384" y="96174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0" name="chromatin-loop-2-anchor-16-b">
            <a:extLst xmlns:a="http://schemas.openxmlformats.org/drawingml/2006/main">
              <a:ext uri="{FF2B5EF4-FFF2-40B4-BE49-F238E27FC236}">
                <a16:creationId xmlns:a16="http://schemas.microsoft.com/office/drawing/2014/main" id="{A70DBDF8-E1F1-4A4E-B0EC-95A45910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207" y="94586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9" name=""/>
          <p:cNvCxnSpPr>
            <a:stCxn xmlns:a="http://schemas.openxmlformats.org/drawingml/2006/main" id="309" idx="0"/>
            <a:endCxn xmlns:a="http://schemas.openxmlformats.org/drawingml/2006/main" id="310" idx="2"/>
          </p:cNvCxnSpPr>
          <p:nvPr/>
        </p:nvCxnSpPr>
        <p:spPr>
          <a:xfrm xmlns:a="http://schemas.openxmlformats.org/drawingml/2006/main" flipV="1">
            <a:off x="2436408" y="945914"/>
            <a:ext cx="6823" cy="15826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312" name="chromatin-loop-2-anchor-17-a">
            <a:extLst xmlns:a="http://schemas.openxmlformats.org/drawingml/2006/main">
              <a:ext uri="{FF2B5EF4-FFF2-40B4-BE49-F238E27FC236}">
                <a16:creationId xmlns:a16="http://schemas.microsoft.com/office/drawing/2014/main" id="{C6A45B65-F3CB-4049-95FA-2B2084B4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207" y="94586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3" name="chromatin-loop-2-anchor-17-b">
            <a:extLst xmlns:a="http://schemas.openxmlformats.org/drawingml/2006/main">
              <a:ext uri="{FF2B5EF4-FFF2-40B4-BE49-F238E27FC236}">
                <a16:creationId xmlns:a16="http://schemas.microsoft.com/office/drawing/2014/main" id="{8B6C40C0-CBB6-46CC-BAC1-4A12B94F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030" y="94123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2" name=""/>
          <p:cNvCxnSpPr>
            <a:stCxn xmlns:a="http://schemas.openxmlformats.org/drawingml/2006/main" id="312" idx="3"/>
            <a:endCxn xmlns:a="http://schemas.openxmlformats.org/drawingml/2006/main" id="313" idx="1"/>
          </p:cNvCxnSpPr>
          <p:nvPr/>
        </p:nvCxnSpPr>
        <p:spPr>
          <a:xfrm xmlns:a="http://schemas.openxmlformats.org/drawingml/2006/main" flipV="1">
            <a:off x="2443254" y="941257"/>
            <a:ext cx="6776" cy="4634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315" name="chromatin-loop-2-anchor-18-a">
            <a:extLst xmlns:a="http://schemas.openxmlformats.org/drawingml/2006/main">
              <a:ext uri="{FF2B5EF4-FFF2-40B4-BE49-F238E27FC236}">
                <a16:creationId xmlns:a16="http://schemas.microsoft.com/office/drawing/2014/main" id="{E9B319B7-3981-436B-A816-85BFC378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030" y="94123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6" name="chromatin-loop-2-anchor-18-b">
            <a:extLst xmlns:a="http://schemas.openxmlformats.org/drawingml/2006/main">
              <a:ext uri="{FF2B5EF4-FFF2-40B4-BE49-F238E27FC236}">
                <a16:creationId xmlns:a16="http://schemas.microsoft.com/office/drawing/2014/main" id="{46AF418F-A35D-4204-90C0-6411F23A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53" y="94876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5" name=""/>
          <p:cNvCxnSpPr>
            <a:stCxn xmlns:a="http://schemas.openxmlformats.org/drawingml/2006/main" id="315" idx="2"/>
            <a:endCxn xmlns:a="http://schemas.openxmlformats.org/drawingml/2006/main" id="316" idx="0"/>
          </p:cNvCxnSpPr>
          <p:nvPr/>
        </p:nvCxnSpPr>
        <p:spPr>
          <a:xfrm xmlns:a="http://schemas.openxmlformats.org/drawingml/2006/main">
            <a:off x="2450054" y="941280"/>
            <a:ext cx="6823" cy="7482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318" name="chromatin-loop-2-anchor-19-a">
            <a:extLst xmlns:a="http://schemas.openxmlformats.org/drawingml/2006/main">
              <a:ext uri="{FF2B5EF4-FFF2-40B4-BE49-F238E27FC236}">
                <a16:creationId xmlns:a16="http://schemas.microsoft.com/office/drawing/2014/main" id="{3813456B-E2A2-4F3B-815B-8CA0FB59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853" y="94876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9" name="chromatin-loop-2-anchor-19-b">
            <a:extLst xmlns:a="http://schemas.openxmlformats.org/drawingml/2006/main">
              <a:ext uri="{FF2B5EF4-FFF2-40B4-BE49-F238E27FC236}">
                <a16:creationId xmlns:a16="http://schemas.microsoft.com/office/drawing/2014/main" id="{7384DAE6-AF4F-4F8A-A306-78E36300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677" y="96695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8" name=""/>
          <p:cNvCxnSpPr>
            <a:stCxn xmlns:a="http://schemas.openxmlformats.org/drawingml/2006/main" id="318" idx="2"/>
            <a:endCxn xmlns:a="http://schemas.openxmlformats.org/drawingml/2006/main" id="319" idx="0"/>
          </p:cNvCxnSpPr>
          <p:nvPr/>
        </p:nvCxnSpPr>
        <p:spPr>
          <a:xfrm xmlns:a="http://schemas.openxmlformats.org/drawingml/2006/main">
            <a:off x="2456877" y="948809"/>
            <a:ext cx="6824" cy="18145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321" name="chromatin-loop-2-anchor-20-a">
            <a:extLst xmlns:a="http://schemas.openxmlformats.org/drawingml/2006/main">
              <a:ext uri="{FF2B5EF4-FFF2-40B4-BE49-F238E27FC236}">
                <a16:creationId xmlns:a16="http://schemas.microsoft.com/office/drawing/2014/main" id="{2EC3AE44-3185-4D79-919D-48BB624B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677" y="96695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2" name="chromatin-loop-2-anchor-20-b">
            <a:extLst xmlns:a="http://schemas.openxmlformats.org/drawingml/2006/main">
              <a:ext uri="{FF2B5EF4-FFF2-40B4-BE49-F238E27FC236}">
                <a16:creationId xmlns:a16="http://schemas.microsoft.com/office/drawing/2014/main" id="{D91D19CF-3CD1-4E1B-BA5F-DF076B22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500" y="99218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1" name=""/>
          <p:cNvCxnSpPr>
            <a:stCxn xmlns:a="http://schemas.openxmlformats.org/drawingml/2006/main" id="321" idx="2"/>
            <a:endCxn xmlns:a="http://schemas.openxmlformats.org/drawingml/2006/main" id="322" idx="0"/>
          </p:cNvCxnSpPr>
          <p:nvPr/>
        </p:nvCxnSpPr>
        <p:spPr>
          <a:xfrm xmlns:a="http://schemas.openxmlformats.org/drawingml/2006/main">
            <a:off x="2463701" y="967001"/>
            <a:ext cx="6823" cy="25185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324" name="chromatin-loop-2-anchor-21-a">
            <a:extLst xmlns:a="http://schemas.openxmlformats.org/drawingml/2006/main">
              <a:ext uri="{FF2B5EF4-FFF2-40B4-BE49-F238E27FC236}">
                <a16:creationId xmlns:a16="http://schemas.microsoft.com/office/drawing/2014/main" id="{9209ABA0-ADE4-41F8-ABFB-F2BB9640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500" y="99218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5" name="chromatin-loop-2-anchor-21-b">
            <a:extLst xmlns:a="http://schemas.openxmlformats.org/drawingml/2006/main">
              <a:ext uri="{FF2B5EF4-FFF2-40B4-BE49-F238E27FC236}">
                <a16:creationId xmlns:a16="http://schemas.microsoft.com/office/drawing/2014/main" id="{C83E2EE6-DA9C-4FA4-ABA1-8612A58A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323" y="101943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4" name=""/>
          <p:cNvCxnSpPr>
            <a:stCxn xmlns:a="http://schemas.openxmlformats.org/drawingml/2006/main" id="324" idx="2"/>
            <a:endCxn xmlns:a="http://schemas.openxmlformats.org/drawingml/2006/main" id="325" idx="0"/>
          </p:cNvCxnSpPr>
          <p:nvPr/>
        </p:nvCxnSpPr>
        <p:spPr>
          <a:xfrm xmlns:a="http://schemas.openxmlformats.org/drawingml/2006/main">
            <a:off x="2470524" y="992233"/>
            <a:ext cx="6823" cy="27203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327" name="chromatin-loop-2-anchor-22-a">
            <a:extLst xmlns:a="http://schemas.openxmlformats.org/drawingml/2006/main">
              <a:ext uri="{FF2B5EF4-FFF2-40B4-BE49-F238E27FC236}">
                <a16:creationId xmlns:a16="http://schemas.microsoft.com/office/drawing/2014/main" id="{4A63B255-A3EB-4A71-BDF4-D3D65F49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323" y="101943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8" name="chromatin-loop-2-anchor-22-b">
            <a:extLst xmlns:a="http://schemas.openxmlformats.org/drawingml/2006/main">
              <a:ext uri="{FF2B5EF4-FFF2-40B4-BE49-F238E27FC236}">
                <a16:creationId xmlns:a16="http://schemas.microsoft.com/office/drawing/2014/main" id="{31B8345B-D9B4-45A3-8CD3-28DADF9B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147" y="1043278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7" name=""/>
          <p:cNvCxnSpPr>
            <a:stCxn xmlns:a="http://schemas.openxmlformats.org/drawingml/2006/main" id="327" idx="2"/>
            <a:endCxn xmlns:a="http://schemas.openxmlformats.org/drawingml/2006/main" id="328" idx="0"/>
          </p:cNvCxnSpPr>
          <p:nvPr/>
        </p:nvCxnSpPr>
        <p:spPr>
          <a:xfrm xmlns:a="http://schemas.openxmlformats.org/drawingml/2006/main">
            <a:off x="2477347" y="1019483"/>
            <a:ext cx="6824" cy="23795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330" name="chromatin-loop-2-anchor-23-a">
            <a:extLst xmlns:a="http://schemas.openxmlformats.org/drawingml/2006/main">
              <a:ext uri="{FF2B5EF4-FFF2-40B4-BE49-F238E27FC236}">
                <a16:creationId xmlns:a16="http://schemas.microsoft.com/office/drawing/2014/main" id="{039DAE62-1974-4F21-BD8A-BC5978D6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147" y="1043278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1" name="chromatin-loop-2-anchor-23-b">
            <a:extLst xmlns:a="http://schemas.openxmlformats.org/drawingml/2006/main">
              <a:ext uri="{FF2B5EF4-FFF2-40B4-BE49-F238E27FC236}">
                <a16:creationId xmlns:a16="http://schemas.microsoft.com/office/drawing/2014/main" id="{13AE14C0-7317-4D09-A4B8-F5968620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970" y="105896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0" name=""/>
          <p:cNvCxnSpPr>
            <a:stCxn xmlns:a="http://schemas.openxmlformats.org/drawingml/2006/main" id="330" idx="2"/>
            <a:endCxn xmlns:a="http://schemas.openxmlformats.org/drawingml/2006/main" id="331" idx="0"/>
          </p:cNvCxnSpPr>
          <p:nvPr/>
        </p:nvCxnSpPr>
        <p:spPr>
          <a:xfrm xmlns:a="http://schemas.openxmlformats.org/drawingml/2006/main">
            <a:off x="2484171" y="1043325"/>
            <a:ext cx="6823" cy="15638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333" name="chromatin-loop-2-anchor-24-a">
            <a:extLst xmlns:a="http://schemas.openxmlformats.org/drawingml/2006/main">
              <a:ext uri="{FF2B5EF4-FFF2-40B4-BE49-F238E27FC236}">
                <a16:creationId xmlns:a16="http://schemas.microsoft.com/office/drawing/2014/main" id="{5E143C80-869A-4169-9B52-7E6EB4B5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970" y="105896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4" name="chromatin-loop-2-anchor-24-b">
            <a:extLst xmlns:a="http://schemas.openxmlformats.org/drawingml/2006/main">
              <a:ext uri="{FF2B5EF4-FFF2-40B4-BE49-F238E27FC236}">
                <a16:creationId xmlns:a16="http://schemas.microsoft.com/office/drawing/2014/main" id="{61CD4768-CC96-4914-A1DE-7E0FA4FA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793" y="106337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3" name=""/>
          <p:cNvCxnSpPr>
            <a:stCxn xmlns:a="http://schemas.openxmlformats.org/drawingml/2006/main" id="333" idx="3"/>
            <a:endCxn xmlns:a="http://schemas.openxmlformats.org/drawingml/2006/main" id="334" idx="1"/>
          </p:cNvCxnSpPr>
          <p:nvPr/>
        </p:nvCxnSpPr>
        <p:spPr>
          <a:xfrm xmlns:a="http://schemas.openxmlformats.org/drawingml/2006/main">
            <a:off x="2491017" y="1058987"/>
            <a:ext cx="6776" cy="4408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336" name="chromatin-loop-2-anchor-25-a">
            <a:extLst xmlns:a="http://schemas.openxmlformats.org/drawingml/2006/main">
              <a:ext uri="{FF2B5EF4-FFF2-40B4-BE49-F238E27FC236}">
                <a16:creationId xmlns:a16="http://schemas.microsoft.com/office/drawing/2014/main" id="{6EB6B53F-CAE3-4941-9CEF-4E9D15A7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793" y="106337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7" name="chromatin-loop-2-anchor-25-b">
            <a:extLst xmlns:a="http://schemas.openxmlformats.org/drawingml/2006/main">
              <a:ext uri="{FF2B5EF4-FFF2-40B4-BE49-F238E27FC236}">
                <a16:creationId xmlns:a16="http://schemas.microsoft.com/office/drawing/2014/main" id="{6251A7EE-123D-498F-B413-4BA97E07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16" y="105562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6" name=""/>
          <p:cNvCxnSpPr>
            <a:stCxn xmlns:a="http://schemas.openxmlformats.org/drawingml/2006/main" id="336" idx="0"/>
            <a:endCxn xmlns:a="http://schemas.openxmlformats.org/drawingml/2006/main" id="337" idx="2"/>
          </p:cNvCxnSpPr>
          <p:nvPr/>
        </p:nvCxnSpPr>
        <p:spPr>
          <a:xfrm xmlns:a="http://schemas.openxmlformats.org/drawingml/2006/main" flipV="1">
            <a:off x="2497817" y="1055669"/>
            <a:ext cx="6823" cy="7702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339" name="chromatin-loop-2-anchor-26-a">
            <a:extLst xmlns:a="http://schemas.openxmlformats.org/drawingml/2006/main">
              <a:ext uri="{FF2B5EF4-FFF2-40B4-BE49-F238E27FC236}">
                <a16:creationId xmlns:a16="http://schemas.microsoft.com/office/drawing/2014/main" id="{B0072C1F-B389-465B-9A6E-FD1E8AA8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16" y="1055622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0" name="chromatin-loop-2-anchor-26-b">
            <a:extLst xmlns:a="http://schemas.openxmlformats.org/drawingml/2006/main">
              <a:ext uri="{FF2B5EF4-FFF2-40B4-BE49-F238E27FC236}">
                <a16:creationId xmlns:a16="http://schemas.microsoft.com/office/drawing/2014/main" id="{EBF97794-ED70-4411-8865-6FD35439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440" y="103726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9" name=""/>
          <p:cNvCxnSpPr>
            <a:stCxn xmlns:a="http://schemas.openxmlformats.org/drawingml/2006/main" id="339" idx="0"/>
            <a:endCxn xmlns:a="http://schemas.openxmlformats.org/drawingml/2006/main" id="340" idx="2"/>
          </p:cNvCxnSpPr>
          <p:nvPr/>
        </p:nvCxnSpPr>
        <p:spPr>
          <a:xfrm xmlns:a="http://schemas.openxmlformats.org/drawingml/2006/main" flipV="1">
            <a:off x="2504640" y="1037307"/>
            <a:ext cx="6824" cy="18315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342" name="chromatin-loop-2-anchor-27-a">
            <a:extLst xmlns:a="http://schemas.openxmlformats.org/drawingml/2006/main">
              <a:ext uri="{FF2B5EF4-FFF2-40B4-BE49-F238E27FC236}">
                <a16:creationId xmlns:a16="http://schemas.microsoft.com/office/drawing/2014/main" id="{57D14658-0A04-4EB2-B6A9-0C6A7045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440" y="103726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3" name="chromatin-loop-2-anchor-27-b">
            <a:extLst xmlns:a="http://schemas.openxmlformats.org/drawingml/2006/main">
              <a:ext uri="{FF2B5EF4-FFF2-40B4-BE49-F238E27FC236}">
                <a16:creationId xmlns:a16="http://schemas.microsoft.com/office/drawing/2014/main" id="{5CD3A857-13A0-46AD-B0A4-4EF296A3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263" y="101194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2" name=""/>
          <p:cNvCxnSpPr>
            <a:stCxn xmlns:a="http://schemas.openxmlformats.org/drawingml/2006/main" id="342" idx="0"/>
            <a:endCxn xmlns:a="http://schemas.openxmlformats.org/drawingml/2006/main" id="343" idx="2"/>
          </p:cNvCxnSpPr>
          <p:nvPr/>
        </p:nvCxnSpPr>
        <p:spPr>
          <a:xfrm xmlns:a="http://schemas.openxmlformats.org/drawingml/2006/main" flipV="1">
            <a:off x="2511464" y="1011987"/>
            <a:ext cx="6823" cy="25273"/>
          </a:xfrm>
          <a:prstGeom xmlns:a="http://schemas.openxmlformats.org/drawingml/2006/main" prst="straightConnector1">
            <a:avLst/>
          </a:prstGeom>
          <a:ln xmlns:a="http://schemas.openxmlformats.org/drawingml/2006/main" w="6823">
            <a:solidFill>
              <a:srgbClr val="52779C"/>
            </a:solidFill>
            <a:prstDash val="solid"/>
          </a:ln>
        </p:spPr>
      </p:cxnSp>
      <p:sp>
        <p:nvSpPr>
          <p:cNvPr id="345" name="rna-label">
            <a:extLst xmlns:a="http://schemas.openxmlformats.org/drawingml/2006/main">
              <a:ext uri="{FF2B5EF4-FFF2-40B4-BE49-F238E27FC236}">
                <a16:creationId xmlns:a16="http://schemas.microsoft.com/office/drawing/2014/main" id="{BAF429DB-1AED-44A8-B987-6E25CA97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340" y="1585826"/>
            <a:ext cx="442337" cy="108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RNA</a:t>
            </a:r>
          </a:p>
        </p:txBody>
      </p:sp>
      <p:sp>
        <p:nvSpPr>
          <p:cNvPr id="346" name="rna-leader-anchor-1-a">
            <a:extLst xmlns:a="http://schemas.openxmlformats.org/drawingml/2006/main">
              <a:ext uri="{FF2B5EF4-FFF2-40B4-BE49-F238E27FC236}">
                <a16:creationId xmlns:a16="http://schemas.microsoft.com/office/drawing/2014/main" id="{15F45024-088E-4E9B-B7E0-9F4DBAF6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509" y="156229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7" name="rna-leader-anchor-1-b">
            <a:extLst xmlns:a="http://schemas.openxmlformats.org/drawingml/2006/main">
              <a:ext uri="{FF2B5EF4-FFF2-40B4-BE49-F238E27FC236}">
                <a16:creationId xmlns:a16="http://schemas.microsoft.com/office/drawing/2014/main" id="{FDF97348-C78A-41F6-8F21-8F47CC0A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037" y="136465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6" name=""/>
          <p:cNvCxnSpPr>
            <a:stCxn xmlns:a="http://schemas.openxmlformats.org/drawingml/2006/main" id="346" idx="0"/>
            <a:endCxn xmlns:a="http://schemas.openxmlformats.org/drawingml/2006/main" id="347" idx="2"/>
          </p:cNvCxnSpPr>
          <p:nvPr/>
        </p:nvCxnSpPr>
        <p:spPr>
          <a:xfrm xmlns:a="http://schemas.openxmlformats.org/drawingml/2006/main" flipV="1">
            <a:off x="2230533" y="1364704"/>
            <a:ext cx="23528" cy="197593"/>
          </a:xfrm>
          <a:prstGeom xmlns:a="http://schemas.openxmlformats.org/drawingml/2006/main" prst="straightConnector1">
            <a:avLst/>
          </a:prstGeom>
          <a:ln xmlns:a="http://schemas.openxmlformats.org/drawingml/2006/main" w="6117">
            <a:solidFill>
              <a:srgbClr val="56636F"/>
            </a:solidFill>
            <a:prstDash val="solid"/>
          </a:ln>
        </p:spPr>
      </p:cxnSp>
      <p:sp>
        <p:nvSpPr>
          <p:cNvPr id="349" name="chromatin-label">
            <a:extLst xmlns:a="http://schemas.openxmlformats.org/drawingml/2006/main">
              <a:ext uri="{FF2B5EF4-FFF2-40B4-BE49-F238E27FC236}">
                <a16:creationId xmlns:a16="http://schemas.microsoft.com/office/drawing/2014/main" id="{5BCFFDCF-B71F-4DA9-8773-EC1AF516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086" y="1585826"/>
            <a:ext cx="630566" cy="108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Chromatin</a:t>
            </a:r>
          </a:p>
        </p:txBody>
      </p:sp>
      <p:sp>
        <p:nvSpPr>
          <p:cNvPr id="350" name="chromatin-leader-anchor-1-a">
            <a:extLst xmlns:a="http://schemas.openxmlformats.org/drawingml/2006/main">
              <a:ext uri="{FF2B5EF4-FFF2-40B4-BE49-F238E27FC236}">
                <a16:creationId xmlns:a16="http://schemas.microsoft.com/office/drawing/2014/main" id="{441DCC98-B1A1-4B35-A672-E868C13F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663" y="156229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1" name="chromatin-leader-anchor-1-b">
            <a:extLst xmlns:a="http://schemas.openxmlformats.org/drawingml/2006/main">
              <a:ext uri="{FF2B5EF4-FFF2-40B4-BE49-F238E27FC236}">
                <a16:creationId xmlns:a16="http://schemas.microsoft.com/office/drawing/2014/main" id="{3C39E825-12F4-40D4-96DE-187E8123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131" y="146818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0" name=""/>
          <p:cNvCxnSpPr>
            <a:stCxn xmlns:a="http://schemas.openxmlformats.org/drawingml/2006/main" id="350" idx="0"/>
            <a:endCxn xmlns:a="http://schemas.openxmlformats.org/drawingml/2006/main" id="351" idx="2"/>
          </p:cNvCxnSpPr>
          <p:nvPr/>
        </p:nvCxnSpPr>
        <p:spPr>
          <a:xfrm xmlns:a="http://schemas.openxmlformats.org/drawingml/2006/main" flipV="1">
            <a:off x="2851687" y="1468230"/>
            <a:ext cx="56468" cy="94067"/>
          </a:xfrm>
          <a:prstGeom xmlns:a="http://schemas.openxmlformats.org/drawingml/2006/main" prst="straightConnector1">
            <a:avLst/>
          </a:prstGeom>
          <a:ln xmlns:a="http://schemas.openxmlformats.org/drawingml/2006/main" w="6117">
            <a:solidFill>
              <a:srgbClr val="56636F"/>
            </a:solidFill>
            <a:prstDash val="solid"/>
          </a:ln>
        </p:spPr>
      </p:cxnSp>
      <p:sp>
        <p:nvSpPr>
          <p:cNvPr id="353" name="chromatin-leader-anchor-2-a">
            <a:extLst xmlns:a="http://schemas.openxmlformats.org/drawingml/2006/main">
              <a:ext uri="{FF2B5EF4-FFF2-40B4-BE49-F238E27FC236}">
                <a16:creationId xmlns:a16="http://schemas.microsoft.com/office/drawing/2014/main" id="{A202C7A6-9E7B-455A-B0E9-995669FE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131" y="146818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4" name="chromatin-leader-anchor-2-b">
            <a:extLst xmlns:a="http://schemas.openxmlformats.org/drawingml/2006/main">
              <a:ext uri="{FF2B5EF4-FFF2-40B4-BE49-F238E27FC236}">
                <a16:creationId xmlns:a16="http://schemas.microsoft.com/office/drawing/2014/main" id="{88E52B6D-BAF7-4CA6-8634-D88CA726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726" y="11623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3" name=""/>
          <p:cNvCxnSpPr>
            <a:stCxn xmlns:a="http://schemas.openxmlformats.org/drawingml/2006/main" id="353" idx="0"/>
            <a:endCxn xmlns:a="http://schemas.openxmlformats.org/drawingml/2006/main" id="354" idx="2"/>
          </p:cNvCxnSpPr>
          <p:nvPr/>
        </p:nvCxnSpPr>
        <p:spPr>
          <a:xfrm xmlns:a="http://schemas.openxmlformats.org/drawingml/2006/main" flipH="1" flipV="1">
            <a:off x="2738750" y="1162358"/>
            <a:ext cx="169405" cy="305825"/>
          </a:xfrm>
          <a:prstGeom xmlns:a="http://schemas.openxmlformats.org/drawingml/2006/main" prst="straightConnector1">
            <a:avLst/>
          </a:prstGeom>
          <a:ln xmlns:a="http://schemas.openxmlformats.org/drawingml/2006/main" w="6117">
            <a:solidFill>
              <a:srgbClr val="56636F"/>
            </a:solidFill>
            <a:prstDash val="solid"/>
          </a:ln>
        </p:spPr>
      </p:cxnSp>
      <p:sp>
        <p:nvSpPr>
          <p:cNvPr id="356" name="chromatin-leader-anchor-3-a">
            <a:extLst xmlns:a="http://schemas.openxmlformats.org/drawingml/2006/main">
              <a:ext uri="{FF2B5EF4-FFF2-40B4-BE49-F238E27FC236}">
                <a16:creationId xmlns:a16="http://schemas.microsoft.com/office/drawing/2014/main" id="{DD4361F1-E827-41AB-AAD7-26DA4C73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726" y="11623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7" name="chromatin-leader-anchor-3-b">
            <a:extLst xmlns:a="http://schemas.openxmlformats.org/drawingml/2006/main">
              <a:ext uri="{FF2B5EF4-FFF2-40B4-BE49-F238E27FC236}">
                <a16:creationId xmlns:a16="http://schemas.microsoft.com/office/drawing/2014/main" id="{74371B8C-0543-46CE-9766-390BD40D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909" y="105878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6" name=""/>
          <p:cNvCxnSpPr>
            <a:stCxn xmlns:a="http://schemas.openxmlformats.org/drawingml/2006/main" id="356" idx="1"/>
            <a:endCxn xmlns:a="http://schemas.openxmlformats.org/drawingml/2006/main" id="357" idx="3"/>
          </p:cNvCxnSpPr>
          <p:nvPr/>
        </p:nvCxnSpPr>
        <p:spPr>
          <a:xfrm xmlns:a="http://schemas.openxmlformats.org/drawingml/2006/main" flipH="1" flipV="1">
            <a:off x="2559956" y="1058810"/>
            <a:ext cx="178770" cy="103525"/>
          </a:xfrm>
          <a:prstGeom xmlns:a="http://schemas.openxmlformats.org/drawingml/2006/main" prst="straightConnector1">
            <a:avLst/>
          </a:prstGeom>
          <a:ln xmlns:a="http://schemas.openxmlformats.org/drawingml/2006/main" w="6117">
            <a:solidFill>
              <a:srgbClr val="56636F"/>
            </a:solidFill>
            <a:prstDash val="solid"/>
          </a:ln>
        </p:spPr>
      </p:cxnSp>
      <p:sp>
        <p:nvSpPr>
          <p:cNvPr id="359" name="rna-assay-anchor-1-a">
            <a:extLst xmlns:a="http://schemas.openxmlformats.org/drawingml/2006/main">
              <a:ext uri="{FF2B5EF4-FFF2-40B4-BE49-F238E27FC236}">
                <a16:creationId xmlns:a16="http://schemas.microsoft.com/office/drawing/2014/main" id="{33483CFA-EA5B-4501-9DD7-A7BB91C2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600" y="93173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0" name="rna-assay-anchor-1-b">
            <a:extLst xmlns:a="http://schemas.openxmlformats.org/drawingml/2006/main">
              <a:ext uri="{FF2B5EF4-FFF2-40B4-BE49-F238E27FC236}">
                <a16:creationId xmlns:a16="http://schemas.microsoft.com/office/drawing/2014/main" id="{6C65A939-D81F-4AA7-86D2-0340B91A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826" y="93173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9" name=""/>
          <p:cNvCxnSpPr>
            <a:stCxn xmlns:a="http://schemas.openxmlformats.org/drawingml/2006/main" id="359" idx="3"/>
            <a:endCxn xmlns:a="http://schemas.openxmlformats.org/drawingml/2006/main" id="360" idx="1"/>
          </p:cNvCxnSpPr>
          <p:nvPr/>
        </p:nvCxnSpPr>
        <p:spPr>
          <a:xfrm xmlns:a="http://schemas.openxmlformats.org/drawingml/2006/main">
            <a:off x="2964647" y="931755"/>
            <a:ext cx="268179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solid"/>
          </a:ln>
        </p:spPr>
      </p:cxnSp>
      <p:sp>
        <p:nvSpPr>
          <p:cNvPr id="362" name="rna-assay-anchor-2-a">
            <a:extLst xmlns:a="http://schemas.openxmlformats.org/drawingml/2006/main">
              <a:ext uri="{FF2B5EF4-FFF2-40B4-BE49-F238E27FC236}">
                <a16:creationId xmlns:a16="http://schemas.microsoft.com/office/drawing/2014/main" id="{3368E930-2CA5-4261-82BD-889A6861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826" y="93173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3" name="rna-assay-anchor-2-b">
            <a:extLst xmlns:a="http://schemas.openxmlformats.org/drawingml/2006/main">
              <a:ext uri="{FF2B5EF4-FFF2-40B4-BE49-F238E27FC236}">
                <a16:creationId xmlns:a16="http://schemas.microsoft.com/office/drawing/2014/main" id="{27C86D92-F5B9-47A1-B044-51131ECF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826" y="76232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2" name=""/>
          <p:cNvCxnSpPr>
            <a:stCxn xmlns:a="http://schemas.openxmlformats.org/drawingml/2006/main" id="362" idx="0"/>
            <a:endCxn xmlns:a="http://schemas.openxmlformats.org/drawingml/2006/main" id="363" idx="2"/>
          </p:cNvCxnSpPr>
          <p:nvPr/>
        </p:nvCxnSpPr>
        <p:spPr>
          <a:xfrm xmlns:a="http://schemas.openxmlformats.org/drawingml/2006/main" flipV="1">
            <a:off x="3232850" y="762373"/>
            <a:ext cx="0" cy="169358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solid"/>
          </a:ln>
        </p:spPr>
      </p:cxnSp>
      <p:sp>
        <p:nvSpPr>
          <p:cNvPr id="365" name="rna-assay-anchor-3-a">
            <a:extLst xmlns:a="http://schemas.openxmlformats.org/drawingml/2006/main">
              <a:ext uri="{FF2B5EF4-FFF2-40B4-BE49-F238E27FC236}">
                <a16:creationId xmlns:a16="http://schemas.microsoft.com/office/drawing/2014/main" id="{4551BCD2-E41A-495A-84AE-87F11901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826" y="76232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6" name="rna-assay-anchor-3-b">
            <a:extLst xmlns:a="http://schemas.openxmlformats.org/drawingml/2006/main">
              <a:ext uri="{FF2B5EF4-FFF2-40B4-BE49-F238E27FC236}">
                <a16:creationId xmlns:a16="http://schemas.microsoft.com/office/drawing/2014/main" id="{02C3562B-3FCF-4091-B15A-1F044D4C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760" y="76232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5" name=""/>
          <p:cNvCxnSpPr>
            <a:stCxn xmlns:a="http://schemas.openxmlformats.org/drawingml/2006/main" id="365" idx="3"/>
            <a:endCxn xmlns:a="http://schemas.openxmlformats.org/drawingml/2006/main" id="366" idx="1"/>
          </p:cNvCxnSpPr>
          <p:nvPr/>
        </p:nvCxnSpPr>
        <p:spPr>
          <a:xfrm xmlns:a="http://schemas.openxmlformats.org/drawingml/2006/main">
            <a:off x="3232873" y="762350"/>
            <a:ext cx="192887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solid"/>
            <a:tailEnd type="triangle" w="med" len="med"/>
          </a:ln>
        </p:spPr>
      </p:cxnSp>
      <p:sp>
        <p:nvSpPr>
          <p:cNvPr id="368" name="accessibility-assay-anchor-1-a">
            <a:extLst xmlns:a="http://schemas.openxmlformats.org/drawingml/2006/main">
              <a:ext uri="{FF2B5EF4-FFF2-40B4-BE49-F238E27FC236}">
                <a16:creationId xmlns:a16="http://schemas.microsoft.com/office/drawing/2014/main" id="{6EF82023-1F56-45A6-AD16-CEDE3C5D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600" y="112937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9" name="accessibility-assay-anchor-1-b">
            <a:extLst xmlns:a="http://schemas.openxmlformats.org/drawingml/2006/main">
              <a:ext uri="{FF2B5EF4-FFF2-40B4-BE49-F238E27FC236}">
                <a16:creationId xmlns:a16="http://schemas.microsoft.com/office/drawing/2014/main" id="{0A863C6C-F18F-42C2-8B7F-426D4652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240" y="112937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8" name=""/>
          <p:cNvCxnSpPr>
            <a:stCxn xmlns:a="http://schemas.openxmlformats.org/drawingml/2006/main" id="368" idx="3"/>
            <a:endCxn xmlns:a="http://schemas.openxmlformats.org/drawingml/2006/main" id="369" idx="1"/>
          </p:cNvCxnSpPr>
          <p:nvPr/>
        </p:nvCxnSpPr>
        <p:spPr>
          <a:xfrm xmlns:a="http://schemas.openxmlformats.org/drawingml/2006/main">
            <a:off x="2964647" y="1129395"/>
            <a:ext cx="197593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solid"/>
          </a:ln>
        </p:spPr>
      </p:cxnSp>
      <p:sp>
        <p:nvSpPr>
          <p:cNvPr id="371" name="accessibility-assay-anchor-2-a">
            <a:extLst xmlns:a="http://schemas.openxmlformats.org/drawingml/2006/main">
              <a:ext uri="{FF2B5EF4-FFF2-40B4-BE49-F238E27FC236}">
                <a16:creationId xmlns:a16="http://schemas.microsoft.com/office/drawing/2014/main" id="{C63399DC-2998-4B99-98C8-A9F9A8D5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240" y="112937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2" name="accessibility-assay-anchor-2-b">
            <a:extLst xmlns:a="http://schemas.openxmlformats.org/drawingml/2006/main">
              <a:ext uri="{FF2B5EF4-FFF2-40B4-BE49-F238E27FC236}">
                <a16:creationId xmlns:a16="http://schemas.microsoft.com/office/drawing/2014/main" id="{8A8E4464-CCEE-4C23-982F-04CF45C5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240" y="135054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1" name=""/>
          <p:cNvCxnSpPr>
            <a:stCxn xmlns:a="http://schemas.openxmlformats.org/drawingml/2006/main" id="371" idx="2"/>
            <a:endCxn xmlns:a="http://schemas.openxmlformats.org/drawingml/2006/main" id="372" idx="0"/>
          </p:cNvCxnSpPr>
          <p:nvPr/>
        </p:nvCxnSpPr>
        <p:spPr>
          <a:xfrm xmlns:a="http://schemas.openxmlformats.org/drawingml/2006/main">
            <a:off x="3162264" y="1129418"/>
            <a:ext cx="0" cy="221122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solid"/>
          </a:ln>
        </p:spPr>
      </p:cxnSp>
      <p:sp>
        <p:nvSpPr>
          <p:cNvPr id="374" name="accessibility-assay-anchor-3-a">
            <a:extLst xmlns:a="http://schemas.openxmlformats.org/drawingml/2006/main">
              <a:ext uri="{FF2B5EF4-FFF2-40B4-BE49-F238E27FC236}">
                <a16:creationId xmlns:a16="http://schemas.microsoft.com/office/drawing/2014/main" id="{6FEAF718-C354-422E-B535-41450DDF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240" y="135054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5" name="accessibility-assay-anchor-3-b">
            <a:extLst xmlns:a="http://schemas.openxmlformats.org/drawingml/2006/main">
              <a:ext uri="{FF2B5EF4-FFF2-40B4-BE49-F238E27FC236}">
                <a16:creationId xmlns:a16="http://schemas.microsoft.com/office/drawing/2014/main" id="{6A0D7375-DE5C-4DD4-B2A6-3EF27656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760" y="135054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4" name=""/>
          <p:cNvCxnSpPr>
            <a:stCxn xmlns:a="http://schemas.openxmlformats.org/drawingml/2006/main" id="374" idx="3"/>
            <a:endCxn xmlns:a="http://schemas.openxmlformats.org/drawingml/2006/main" id="375" idx="1"/>
          </p:cNvCxnSpPr>
          <p:nvPr/>
        </p:nvCxnSpPr>
        <p:spPr>
          <a:xfrm xmlns:a="http://schemas.openxmlformats.org/drawingml/2006/main">
            <a:off x="3162287" y="1350564"/>
            <a:ext cx="263473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solid"/>
            <a:tailEnd type="triangle" w="med" len="med"/>
          </a:ln>
        </p:spPr>
      </p:cxnSp>
      <p:sp>
        <p:nvSpPr>
          <p:cNvPr id="377" name="rna-matrix-0-0">
            <a:extLst xmlns:a="http://schemas.openxmlformats.org/drawingml/2006/main">
              <a:ext uri="{FF2B5EF4-FFF2-40B4-BE49-F238E27FC236}">
                <a16:creationId xmlns:a16="http://schemas.microsoft.com/office/drawing/2014/main" id="{AD07AC60-756D-46FE-B556-BD74B7E7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757" y="559980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rna-matrix-0-1">
            <a:extLst xmlns:a="http://schemas.openxmlformats.org/drawingml/2006/main">
              <a:ext uri="{FF2B5EF4-FFF2-40B4-BE49-F238E27FC236}">
                <a16:creationId xmlns:a16="http://schemas.microsoft.com/office/drawing/2014/main" id="{C5B16978-6092-43D5-8E15-142124E2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871" y="559980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rna-matrix-0-2">
            <a:extLst xmlns:a="http://schemas.openxmlformats.org/drawingml/2006/main">
              <a:ext uri="{FF2B5EF4-FFF2-40B4-BE49-F238E27FC236}">
                <a16:creationId xmlns:a16="http://schemas.microsoft.com/office/drawing/2014/main" id="{2A538FBF-769C-43B7-BE7E-C64464F2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86" y="559980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rna-matrix-0-3">
            <a:extLst xmlns:a="http://schemas.openxmlformats.org/drawingml/2006/main">
              <a:ext uri="{FF2B5EF4-FFF2-40B4-BE49-F238E27FC236}">
                <a16:creationId xmlns:a16="http://schemas.microsoft.com/office/drawing/2014/main" id="{E63BC4FF-2710-4C1E-BC0E-E24ECF44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100" y="559980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rna-matrix-0-4">
            <a:extLst xmlns:a="http://schemas.openxmlformats.org/drawingml/2006/main">
              <a:ext uri="{FF2B5EF4-FFF2-40B4-BE49-F238E27FC236}">
                <a16:creationId xmlns:a16="http://schemas.microsoft.com/office/drawing/2014/main" id="{1CC25CD8-C672-4D17-9C5F-D92AD5F3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214" y="559980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E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rna-matrix-0-5">
            <a:extLst xmlns:a="http://schemas.openxmlformats.org/drawingml/2006/main">
              <a:ext uri="{FF2B5EF4-FFF2-40B4-BE49-F238E27FC236}">
                <a16:creationId xmlns:a16="http://schemas.microsoft.com/office/drawing/2014/main" id="{F02020FC-55B1-4861-9FD5-8BBBEA68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329" y="559980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rna-matrix-0-6">
            <a:extLst xmlns:a="http://schemas.openxmlformats.org/drawingml/2006/main">
              <a:ext uri="{FF2B5EF4-FFF2-40B4-BE49-F238E27FC236}">
                <a16:creationId xmlns:a16="http://schemas.microsoft.com/office/drawing/2014/main" id="{2DDF7F2C-3BDD-441D-82C9-A974F1BC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443" y="559980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rna-matrix-1-0">
            <a:extLst xmlns:a="http://schemas.openxmlformats.org/drawingml/2006/main">
              <a:ext uri="{FF2B5EF4-FFF2-40B4-BE49-F238E27FC236}">
                <a16:creationId xmlns:a16="http://schemas.microsoft.com/office/drawing/2014/main" id="{2943CD37-474B-447D-A436-98C0B852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757" y="654094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E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rna-matrix-1-1">
            <a:extLst xmlns:a="http://schemas.openxmlformats.org/drawingml/2006/main">
              <a:ext uri="{FF2B5EF4-FFF2-40B4-BE49-F238E27FC236}">
                <a16:creationId xmlns:a16="http://schemas.microsoft.com/office/drawing/2014/main" id="{50FEA3E8-CF9D-4702-BD69-25E217C6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871" y="654094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rna-matrix-1-2">
            <a:extLst xmlns:a="http://schemas.openxmlformats.org/drawingml/2006/main">
              <a:ext uri="{FF2B5EF4-FFF2-40B4-BE49-F238E27FC236}">
                <a16:creationId xmlns:a16="http://schemas.microsoft.com/office/drawing/2014/main" id="{2D89F27B-5382-4D99-A2D6-E4DAA6E5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86" y="654094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" name="rna-matrix-1-3">
            <a:extLst xmlns:a="http://schemas.openxmlformats.org/drawingml/2006/main">
              <a:ext uri="{FF2B5EF4-FFF2-40B4-BE49-F238E27FC236}">
                <a16:creationId xmlns:a16="http://schemas.microsoft.com/office/drawing/2014/main" id="{3586A1D5-1053-4BE0-9A20-AC93AEA4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100" y="654094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rna-matrix-1-4">
            <a:extLst xmlns:a="http://schemas.openxmlformats.org/drawingml/2006/main">
              <a:ext uri="{FF2B5EF4-FFF2-40B4-BE49-F238E27FC236}">
                <a16:creationId xmlns:a16="http://schemas.microsoft.com/office/drawing/2014/main" id="{06FB3C95-5E57-4B8F-A68D-7079A3C0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214" y="654094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rna-matrix-1-5">
            <a:extLst xmlns:a="http://schemas.openxmlformats.org/drawingml/2006/main">
              <a:ext uri="{FF2B5EF4-FFF2-40B4-BE49-F238E27FC236}">
                <a16:creationId xmlns:a16="http://schemas.microsoft.com/office/drawing/2014/main" id="{B5E611C3-A55F-4A0F-BBBF-C765873C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329" y="654094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E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" name="rna-matrix-1-6">
            <a:extLst xmlns:a="http://schemas.openxmlformats.org/drawingml/2006/main">
              <a:ext uri="{FF2B5EF4-FFF2-40B4-BE49-F238E27FC236}">
                <a16:creationId xmlns:a16="http://schemas.microsoft.com/office/drawing/2014/main" id="{5F599B07-A3D4-442F-B02F-7683AF77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443" y="654094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" name="rna-matrix-2-0">
            <a:extLst xmlns:a="http://schemas.openxmlformats.org/drawingml/2006/main">
              <a:ext uri="{FF2B5EF4-FFF2-40B4-BE49-F238E27FC236}">
                <a16:creationId xmlns:a16="http://schemas.microsoft.com/office/drawing/2014/main" id="{8433D20F-669B-45D1-A41C-4FD7FB02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757" y="748209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rna-matrix-2-1">
            <a:extLst xmlns:a="http://schemas.openxmlformats.org/drawingml/2006/main">
              <a:ext uri="{FF2B5EF4-FFF2-40B4-BE49-F238E27FC236}">
                <a16:creationId xmlns:a16="http://schemas.microsoft.com/office/drawing/2014/main" id="{4C4EF7C3-AD85-4DBB-9A11-E7A2B8A1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871" y="748209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" name="rna-matrix-2-2">
            <a:extLst xmlns:a="http://schemas.openxmlformats.org/drawingml/2006/main">
              <a:ext uri="{FF2B5EF4-FFF2-40B4-BE49-F238E27FC236}">
                <a16:creationId xmlns:a16="http://schemas.microsoft.com/office/drawing/2014/main" id="{46BC9A11-B06A-4879-BFD2-F797E448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86" y="748209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rna-matrix-2-3">
            <a:extLst xmlns:a="http://schemas.openxmlformats.org/drawingml/2006/main">
              <a:ext uri="{FF2B5EF4-FFF2-40B4-BE49-F238E27FC236}">
                <a16:creationId xmlns:a16="http://schemas.microsoft.com/office/drawing/2014/main" id="{1DBF3106-3A3F-4C4E-8F89-F0152650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100" y="748209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E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rna-matrix-2-4">
            <a:extLst xmlns:a="http://schemas.openxmlformats.org/drawingml/2006/main">
              <a:ext uri="{FF2B5EF4-FFF2-40B4-BE49-F238E27FC236}">
                <a16:creationId xmlns:a16="http://schemas.microsoft.com/office/drawing/2014/main" id="{BDE72389-A0C8-4EBA-A3BC-03A0F2C7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214" y="748209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rna-matrix-2-5">
            <a:extLst xmlns:a="http://schemas.openxmlformats.org/drawingml/2006/main">
              <a:ext uri="{FF2B5EF4-FFF2-40B4-BE49-F238E27FC236}">
                <a16:creationId xmlns:a16="http://schemas.microsoft.com/office/drawing/2014/main" id="{881F2750-11FC-4FE9-AFA6-E7FC9A9A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329" y="748209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" name="rna-matrix-2-6">
            <a:extLst xmlns:a="http://schemas.openxmlformats.org/drawingml/2006/main">
              <a:ext uri="{FF2B5EF4-FFF2-40B4-BE49-F238E27FC236}">
                <a16:creationId xmlns:a16="http://schemas.microsoft.com/office/drawing/2014/main" id="{EF651E3E-E874-45DE-9A91-0468149E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443" y="748209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" name="rna-matrix-3-0">
            <a:extLst xmlns:a="http://schemas.openxmlformats.org/drawingml/2006/main">
              <a:ext uri="{FF2B5EF4-FFF2-40B4-BE49-F238E27FC236}">
                <a16:creationId xmlns:a16="http://schemas.microsoft.com/office/drawing/2014/main" id="{FA3376A4-812C-44E1-84EB-952DCE2D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757" y="842323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" name="rna-matrix-3-1">
            <a:extLst xmlns:a="http://schemas.openxmlformats.org/drawingml/2006/main">
              <a:ext uri="{FF2B5EF4-FFF2-40B4-BE49-F238E27FC236}">
                <a16:creationId xmlns:a16="http://schemas.microsoft.com/office/drawing/2014/main" id="{BF9A3865-D13C-4558-826A-CF2D665F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871" y="842323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" name="rna-matrix-3-2">
            <a:extLst xmlns:a="http://schemas.openxmlformats.org/drawingml/2006/main">
              <a:ext uri="{FF2B5EF4-FFF2-40B4-BE49-F238E27FC236}">
                <a16:creationId xmlns:a16="http://schemas.microsoft.com/office/drawing/2014/main" id="{96DEA269-6C18-470A-A41E-8AC6CE13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86" y="842323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" name="rna-matrix-3-3">
            <a:extLst xmlns:a="http://schemas.openxmlformats.org/drawingml/2006/main">
              <a:ext uri="{FF2B5EF4-FFF2-40B4-BE49-F238E27FC236}">
                <a16:creationId xmlns:a16="http://schemas.microsoft.com/office/drawing/2014/main" id="{6636A1EA-19DE-4BB5-97DF-CDB37E52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100" y="842323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" name="rna-matrix-3-4">
            <a:extLst xmlns:a="http://schemas.openxmlformats.org/drawingml/2006/main">
              <a:ext uri="{FF2B5EF4-FFF2-40B4-BE49-F238E27FC236}">
                <a16:creationId xmlns:a16="http://schemas.microsoft.com/office/drawing/2014/main" id="{1DE6D796-5852-49CA-B345-ED5C0CF3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214" y="842323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" name="rna-matrix-3-5">
            <a:extLst xmlns:a="http://schemas.openxmlformats.org/drawingml/2006/main">
              <a:ext uri="{FF2B5EF4-FFF2-40B4-BE49-F238E27FC236}">
                <a16:creationId xmlns:a16="http://schemas.microsoft.com/office/drawing/2014/main" id="{B115A2EA-23E4-4B5E-98E9-65183FC1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329" y="842323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rna-matrix-3-6">
            <a:extLst xmlns:a="http://schemas.openxmlformats.org/drawingml/2006/main">
              <a:ext uri="{FF2B5EF4-FFF2-40B4-BE49-F238E27FC236}">
                <a16:creationId xmlns:a16="http://schemas.microsoft.com/office/drawing/2014/main" id="{0FE939D1-A758-4585-ABBF-53F3D37F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443" y="842323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" name="access-matrix-0-0">
            <a:extLst xmlns:a="http://schemas.openxmlformats.org/drawingml/2006/main">
              <a:ext uri="{FF2B5EF4-FFF2-40B4-BE49-F238E27FC236}">
                <a16:creationId xmlns:a16="http://schemas.microsoft.com/office/drawing/2014/main" id="{C7BEEE7F-9349-40F0-A557-DC7FE008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757" y="1223486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access-matrix-0-1">
            <a:extLst xmlns:a="http://schemas.openxmlformats.org/drawingml/2006/main">
              <a:ext uri="{FF2B5EF4-FFF2-40B4-BE49-F238E27FC236}">
                <a16:creationId xmlns:a16="http://schemas.microsoft.com/office/drawing/2014/main" id="{2E7B623D-909D-4CDE-BBE8-77E691BB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871" y="1223486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B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access-matrix-0-2">
            <a:extLst xmlns:a="http://schemas.openxmlformats.org/drawingml/2006/main">
              <a:ext uri="{FF2B5EF4-FFF2-40B4-BE49-F238E27FC236}">
                <a16:creationId xmlns:a16="http://schemas.microsoft.com/office/drawing/2014/main" id="{A4CE7958-14E0-4A83-89B7-BAF22BEA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86" y="1223486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access-matrix-0-3">
            <a:extLst xmlns:a="http://schemas.openxmlformats.org/drawingml/2006/main">
              <a:ext uri="{FF2B5EF4-FFF2-40B4-BE49-F238E27FC236}">
                <a16:creationId xmlns:a16="http://schemas.microsoft.com/office/drawing/2014/main" id="{7C41E9FB-44F7-4EDE-B65D-926BC6E8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100" y="1223486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" name="access-matrix-0-4">
            <a:extLst xmlns:a="http://schemas.openxmlformats.org/drawingml/2006/main">
              <a:ext uri="{FF2B5EF4-FFF2-40B4-BE49-F238E27FC236}">
                <a16:creationId xmlns:a16="http://schemas.microsoft.com/office/drawing/2014/main" id="{91EDE61B-F582-4B65-9722-8D1F463C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214" y="1223486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93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access-matrix-0-5">
            <a:extLst xmlns:a="http://schemas.openxmlformats.org/drawingml/2006/main">
              <a:ext uri="{FF2B5EF4-FFF2-40B4-BE49-F238E27FC236}">
                <a16:creationId xmlns:a16="http://schemas.microsoft.com/office/drawing/2014/main" id="{E99FF4AB-803C-41A2-860D-0AEB98F0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329" y="1223486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access-matrix-0-6">
            <a:extLst xmlns:a="http://schemas.openxmlformats.org/drawingml/2006/main">
              <a:ext uri="{FF2B5EF4-FFF2-40B4-BE49-F238E27FC236}">
                <a16:creationId xmlns:a16="http://schemas.microsoft.com/office/drawing/2014/main" id="{9BEA1B86-991A-45DA-825C-6C7472B5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443" y="1223486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B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access-matrix-1-0">
            <a:extLst xmlns:a="http://schemas.openxmlformats.org/drawingml/2006/main">
              <a:ext uri="{FF2B5EF4-FFF2-40B4-BE49-F238E27FC236}">
                <a16:creationId xmlns:a16="http://schemas.microsoft.com/office/drawing/2014/main" id="{DE740486-F0F6-42A1-AE26-09657B46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757" y="1317600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93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" name="access-matrix-1-1">
            <a:extLst xmlns:a="http://schemas.openxmlformats.org/drawingml/2006/main">
              <a:ext uri="{FF2B5EF4-FFF2-40B4-BE49-F238E27FC236}">
                <a16:creationId xmlns:a16="http://schemas.microsoft.com/office/drawing/2014/main" id="{56FEB5A0-1CF9-46C1-8B0E-185DD488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871" y="1317600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access-matrix-1-2">
            <a:extLst xmlns:a="http://schemas.openxmlformats.org/drawingml/2006/main">
              <a:ext uri="{FF2B5EF4-FFF2-40B4-BE49-F238E27FC236}">
                <a16:creationId xmlns:a16="http://schemas.microsoft.com/office/drawing/2014/main" id="{20E78A6F-8999-44B1-9500-C1D38240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86" y="1317600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access-matrix-1-3">
            <a:extLst xmlns:a="http://schemas.openxmlformats.org/drawingml/2006/main">
              <a:ext uri="{FF2B5EF4-FFF2-40B4-BE49-F238E27FC236}">
                <a16:creationId xmlns:a16="http://schemas.microsoft.com/office/drawing/2014/main" id="{E22837AA-DA35-431C-BF8A-59CA6439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100" y="1317600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B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access-matrix-1-4">
            <a:extLst xmlns:a="http://schemas.openxmlformats.org/drawingml/2006/main">
              <a:ext uri="{FF2B5EF4-FFF2-40B4-BE49-F238E27FC236}">
                <a16:creationId xmlns:a16="http://schemas.microsoft.com/office/drawing/2014/main" id="{E0820F07-679C-48B2-857E-4F05E7AF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214" y="1317600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" name="access-matrix-1-5">
            <a:extLst xmlns:a="http://schemas.openxmlformats.org/drawingml/2006/main">
              <a:ext uri="{FF2B5EF4-FFF2-40B4-BE49-F238E27FC236}">
                <a16:creationId xmlns:a16="http://schemas.microsoft.com/office/drawing/2014/main" id="{4523644B-DD7A-4B73-A671-5BAEE124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329" y="1317600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93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access-matrix-1-6">
            <a:extLst xmlns:a="http://schemas.openxmlformats.org/drawingml/2006/main">
              <a:ext uri="{FF2B5EF4-FFF2-40B4-BE49-F238E27FC236}">
                <a16:creationId xmlns:a16="http://schemas.microsoft.com/office/drawing/2014/main" id="{8ECBD174-E6C0-424A-8EF0-FC24C73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443" y="1317600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access-matrix-2-0">
            <a:extLst xmlns:a="http://schemas.openxmlformats.org/drawingml/2006/main">
              <a:ext uri="{FF2B5EF4-FFF2-40B4-BE49-F238E27FC236}">
                <a16:creationId xmlns:a16="http://schemas.microsoft.com/office/drawing/2014/main" id="{A61E676C-949C-4848-8F3D-CBFA9D9B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757" y="1411714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access-matrix-2-1">
            <a:extLst xmlns:a="http://schemas.openxmlformats.org/drawingml/2006/main">
              <a:ext uri="{FF2B5EF4-FFF2-40B4-BE49-F238E27FC236}">
                <a16:creationId xmlns:a16="http://schemas.microsoft.com/office/drawing/2014/main" id="{5BA103D7-7275-4E5C-993D-F504106F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871" y="1411714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" name="access-matrix-2-2">
            <a:extLst xmlns:a="http://schemas.openxmlformats.org/drawingml/2006/main">
              <a:ext uri="{FF2B5EF4-FFF2-40B4-BE49-F238E27FC236}">
                <a16:creationId xmlns:a16="http://schemas.microsoft.com/office/drawing/2014/main" id="{E45A810B-D46E-4CC8-B013-7A7C0103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86" y="1411714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access-matrix-2-3">
            <a:extLst xmlns:a="http://schemas.openxmlformats.org/drawingml/2006/main">
              <a:ext uri="{FF2B5EF4-FFF2-40B4-BE49-F238E27FC236}">
                <a16:creationId xmlns:a16="http://schemas.microsoft.com/office/drawing/2014/main" id="{0D9FB20F-0A3C-4154-8A9F-5D077ABA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100" y="1411714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93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access-matrix-2-4">
            <a:extLst xmlns:a="http://schemas.openxmlformats.org/drawingml/2006/main">
              <a:ext uri="{FF2B5EF4-FFF2-40B4-BE49-F238E27FC236}">
                <a16:creationId xmlns:a16="http://schemas.microsoft.com/office/drawing/2014/main" id="{11392ED1-B441-4E66-A5EA-219B90A8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214" y="1411714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B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access-matrix-2-5">
            <a:extLst xmlns:a="http://schemas.openxmlformats.org/drawingml/2006/main">
              <a:ext uri="{FF2B5EF4-FFF2-40B4-BE49-F238E27FC236}">
                <a16:creationId xmlns:a16="http://schemas.microsoft.com/office/drawing/2014/main" id="{46FA202E-BEAD-4449-ACD1-0D4C9C03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329" y="1411714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" name="access-matrix-2-6">
            <a:extLst xmlns:a="http://schemas.openxmlformats.org/drawingml/2006/main">
              <a:ext uri="{FF2B5EF4-FFF2-40B4-BE49-F238E27FC236}">
                <a16:creationId xmlns:a16="http://schemas.microsoft.com/office/drawing/2014/main" id="{C9918F18-E25F-4335-BD7D-7B8F0A42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443" y="1411714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access-matrix-3-0">
            <a:extLst xmlns:a="http://schemas.openxmlformats.org/drawingml/2006/main">
              <a:ext uri="{FF2B5EF4-FFF2-40B4-BE49-F238E27FC236}">
                <a16:creationId xmlns:a16="http://schemas.microsoft.com/office/drawing/2014/main" id="{754AB62A-B8A3-4874-B97C-A2BD2C9D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757" y="1505829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access-matrix-3-1">
            <a:extLst xmlns:a="http://schemas.openxmlformats.org/drawingml/2006/main">
              <a:ext uri="{FF2B5EF4-FFF2-40B4-BE49-F238E27FC236}">
                <a16:creationId xmlns:a16="http://schemas.microsoft.com/office/drawing/2014/main" id="{AEFA8AC2-3EBE-4249-AE6C-DDBE24CD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871" y="1505829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access-matrix-3-2">
            <a:extLst xmlns:a="http://schemas.openxmlformats.org/drawingml/2006/main">
              <a:ext uri="{FF2B5EF4-FFF2-40B4-BE49-F238E27FC236}">
                <a16:creationId xmlns:a16="http://schemas.microsoft.com/office/drawing/2014/main" id="{6C114C88-5E73-4A65-B81D-62DFEF58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86" y="1505829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" name="access-matrix-3-3">
            <a:extLst xmlns:a="http://schemas.openxmlformats.org/drawingml/2006/main">
              <a:ext uri="{FF2B5EF4-FFF2-40B4-BE49-F238E27FC236}">
                <a16:creationId xmlns:a16="http://schemas.microsoft.com/office/drawing/2014/main" id="{1A85CFCF-B1FF-4F6B-A31F-627D2B37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100" y="1505829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access-matrix-3-4">
            <a:extLst xmlns:a="http://schemas.openxmlformats.org/drawingml/2006/main">
              <a:ext uri="{FF2B5EF4-FFF2-40B4-BE49-F238E27FC236}">
                <a16:creationId xmlns:a16="http://schemas.microsoft.com/office/drawing/2014/main" id="{D2751A65-5EC3-4D3C-97A9-50E861F9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214" y="1505829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access-matrix-3-5">
            <a:extLst xmlns:a="http://schemas.openxmlformats.org/drawingml/2006/main">
              <a:ext uri="{FF2B5EF4-FFF2-40B4-BE49-F238E27FC236}">
                <a16:creationId xmlns:a16="http://schemas.microsoft.com/office/drawing/2014/main" id="{8AD8FF58-2738-4E8A-A39D-1D3D1CBF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329" y="1505829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access-matrix-3-6">
            <a:extLst xmlns:a="http://schemas.openxmlformats.org/drawingml/2006/main">
              <a:ext uri="{FF2B5EF4-FFF2-40B4-BE49-F238E27FC236}">
                <a16:creationId xmlns:a16="http://schemas.microsoft.com/office/drawing/2014/main" id="{3E0C5531-7DC4-4004-80F1-702E9B6F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443" y="1505829"/>
            <a:ext cx="87056" cy="87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" name="rna-matrix-label">
            <a:extLst xmlns:a="http://schemas.openxmlformats.org/drawingml/2006/main">
              <a:ext uri="{FF2B5EF4-FFF2-40B4-BE49-F238E27FC236}">
                <a16:creationId xmlns:a16="http://schemas.microsoft.com/office/drawing/2014/main" id="{27B3D41D-2B26-4C25-8114-C3F6A904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403" y="959966"/>
            <a:ext cx="583509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RNA</a:t>
            </a:r>
          </a:p>
        </p:txBody>
      </p:sp>
      <p:sp>
        <p:nvSpPr>
          <p:cNvPr id="434" name="access-matrix-label">
            <a:extLst xmlns:a="http://schemas.openxmlformats.org/drawingml/2006/main">
              <a:ext uri="{FF2B5EF4-FFF2-40B4-BE49-F238E27FC236}">
                <a16:creationId xmlns:a16="http://schemas.microsoft.com/office/drawing/2014/main" id="{29BB4A90-BB05-4782-A106-EF75C8F5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937" y="1623471"/>
            <a:ext cx="847029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Accessibility</a:t>
            </a:r>
          </a:p>
        </p:txBody>
      </p:sp>
      <p:sp>
        <p:nvSpPr>
          <p:cNvPr id="435" name="assay-pair-key">
            <a:extLst xmlns:a="http://schemas.openxmlformats.org/drawingml/2006/main">
              <a:ext uri="{FF2B5EF4-FFF2-40B4-BE49-F238E27FC236}">
                <a16:creationId xmlns:a16="http://schemas.microsoft.com/office/drawing/2014/main" id="{B6C0BE94-39A5-4A84-A125-BFEE0C02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054" y="1806994"/>
            <a:ext cx="847029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Same donor ID</a:t>
            </a:r>
          </a:p>
        </p:txBody>
      </p:sp>
      <p:sp>
        <p:nvSpPr>
          <p:cNvPr id="436" name="paired-readout-anchor-1-a">
            <a:extLst xmlns:a="http://schemas.openxmlformats.org/drawingml/2006/main">
              <a:ext uri="{FF2B5EF4-FFF2-40B4-BE49-F238E27FC236}">
                <a16:creationId xmlns:a16="http://schemas.microsoft.com/office/drawing/2014/main" id="{76A664CB-A250-4620-A915-21600AC6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966" y="106819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7" name="paired-readout-anchor-1-b">
            <a:extLst xmlns:a="http://schemas.openxmlformats.org/drawingml/2006/main">
              <a:ext uri="{FF2B5EF4-FFF2-40B4-BE49-F238E27FC236}">
                <a16:creationId xmlns:a16="http://schemas.microsoft.com/office/drawing/2014/main" id="{088E64A1-A6F4-4897-A4B5-B0EEDD52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071" y="106819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6" name=""/>
          <p:cNvCxnSpPr>
            <a:stCxn xmlns:a="http://schemas.openxmlformats.org/drawingml/2006/main" id="436" idx="3"/>
            <a:endCxn xmlns:a="http://schemas.openxmlformats.org/drawingml/2006/main" id="437" idx="1"/>
          </p:cNvCxnSpPr>
          <p:nvPr/>
        </p:nvCxnSpPr>
        <p:spPr>
          <a:xfrm xmlns:a="http://schemas.openxmlformats.org/drawingml/2006/main">
            <a:off x="4254013" y="1068221"/>
            <a:ext cx="334058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solid"/>
            <a:tailEnd type="triangle" w="med" len="med"/>
          </a:ln>
        </p:spPr>
      </p:cxnSp>
      <p:sp>
        <p:nvSpPr>
          <p:cNvPr id="439" name="control-heading">
            <a:extLst xmlns:a="http://schemas.openxmlformats.org/drawingml/2006/main">
              <a:ext uri="{FF2B5EF4-FFF2-40B4-BE49-F238E27FC236}">
                <a16:creationId xmlns:a16="http://schemas.microsoft.com/office/drawing/2014/main" id="{EB543AD0-EB46-48B6-8BB3-80D40B0B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229" y="545863"/>
            <a:ext cx="461160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440" name="stim-heading">
            <a:extLst xmlns:a="http://schemas.openxmlformats.org/drawingml/2006/main">
              <a:ext uri="{FF2B5EF4-FFF2-40B4-BE49-F238E27FC236}">
                <a16:creationId xmlns:a16="http://schemas.microsoft.com/office/drawing/2014/main" id="{C59C5B99-8F80-4220-8380-22249246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029" y="545863"/>
            <a:ext cx="611743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Stimulated</a:t>
            </a:r>
          </a:p>
        </p:txBody>
      </p:sp>
      <p:sp>
        <p:nvSpPr>
          <p:cNvPr id="441" name="donor-0">
            <a:extLst xmlns:a="http://schemas.openxmlformats.org/drawingml/2006/main">
              <a:ext uri="{FF2B5EF4-FFF2-40B4-BE49-F238E27FC236}">
                <a16:creationId xmlns:a16="http://schemas.microsoft.com/office/drawing/2014/main" id="{B000DB2E-EA76-4060-BA23-D49DB246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891" y="776443"/>
            <a:ext cx="348223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D01</a:t>
            </a:r>
          </a:p>
        </p:txBody>
      </p:sp>
      <p:sp>
        <p:nvSpPr>
          <p:cNvPr id="442" name="donor-pair-0-anchor-1-a">
            <a:extLst xmlns:a="http://schemas.openxmlformats.org/drawingml/2006/main">
              <a:ext uri="{FF2B5EF4-FFF2-40B4-BE49-F238E27FC236}">
                <a16:creationId xmlns:a16="http://schemas.microsoft.com/office/drawing/2014/main" id="{9851046A-F309-4612-849C-8F731A6C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514" y="8329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3" name="donor-pair-0-anchor-1-b">
            <a:extLst xmlns:a="http://schemas.openxmlformats.org/drawingml/2006/main">
              <a:ext uri="{FF2B5EF4-FFF2-40B4-BE49-F238E27FC236}">
                <a16:creationId xmlns:a16="http://schemas.microsoft.com/office/drawing/2014/main" id="{95DBB234-E8B7-4AE9-92A7-D70B8C93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371" y="8329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2" name=""/>
          <p:cNvCxnSpPr>
            <a:stCxn xmlns:a="http://schemas.openxmlformats.org/drawingml/2006/main" id="442" idx="3"/>
            <a:endCxn xmlns:a="http://schemas.openxmlformats.org/drawingml/2006/main" id="443" idx="1"/>
          </p:cNvCxnSpPr>
          <p:nvPr/>
        </p:nvCxnSpPr>
        <p:spPr>
          <a:xfrm xmlns:a="http://schemas.openxmlformats.org/drawingml/2006/main">
            <a:off x="5364561" y="832935"/>
            <a:ext cx="705810" cy="0"/>
          </a:xfrm>
          <a:prstGeom xmlns:a="http://schemas.openxmlformats.org/drawingml/2006/main" prst="straightConnector1">
            <a:avLst/>
          </a:prstGeom>
          <a:ln xmlns:a="http://schemas.openxmlformats.org/drawingml/2006/main" w="6117">
            <a:solidFill>
              <a:srgbClr val="A9B2B9"/>
            </a:solidFill>
            <a:prstDash val="solid"/>
          </a:ln>
        </p:spPr>
      </p:cxnSp>
      <p:sp>
        <p:nvSpPr>
          <p:cNvPr id="445" name="control-0">
            <a:extLst xmlns:a="http://schemas.openxmlformats.org/drawingml/2006/main">
              <a:ext uri="{FF2B5EF4-FFF2-40B4-BE49-F238E27FC236}">
                <a16:creationId xmlns:a16="http://schemas.microsoft.com/office/drawing/2014/main" id="{0E303B23-B589-48B6-949F-C3470DEB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163" y="790560"/>
            <a:ext cx="84703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6"/>
          </a:solidFill>
          <a:ln xmlns:a="http://schemas.openxmlformats.org/drawingml/2006/main" w="8470">
            <a:solidFill>
              <a:srgbClr val="52779C"/>
            </a:solidFill>
            <a:prstDash val="solid"/>
          </a:ln>
        </p:spPr>
      </p:sp>
      <p:sp>
        <p:nvSpPr>
          <p:cNvPr id="446" name="stimulated-0">
            <a:extLst xmlns:a="http://schemas.openxmlformats.org/drawingml/2006/main">
              <a:ext uri="{FF2B5EF4-FFF2-40B4-BE49-F238E27FC236}">
                <a16:creationId xmlns:a16="http://schemas.microsoft.com/office/drawing/2014/main" id="{4594F9C5-B5DF-4C90-AA05-5CC82E81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8609" y="781149"/>
            <a:ext cx="103526" cy="103526"/>
          </a:xfrm>
          <a:custGeom xmlns:a="http://schemas.openxmlformats.org/drawingml/2006/main">
            <a:pathLst>
              <a:path w="209550" h="209550">
                <a:moveTo>
                  <a:pt x="104775" y="0"/>
                </a:moveTo>
                <a:lnTo>
                  <a:pt x="209550" y="104775"/>
                </a:lnTo>
                <a:lnTo>
                  <a:pt x="104775" y="209550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E7F2EF"/>
          </a:solidFill>
          <a:ln xmlns:a="http://schemas.openxmlformats.org/drawingml/2006/main" w="8000">
            <a:solidFill>
              <a:srgbClr val="4C8B82"/>
            </a:solidFill>
            <a:prstDash val="solid"/>
          </a:ln>
        </p:spPr>
      </p:sp>
      <p:sp>
        <p:nvSpPr>
          <p:cNvPr id="447" name="donor-1">
            <a:extLst xmlns:a="http://schemas.openxmlformats.org/drawingml/2006/main">
              <a:ext uri="{FF2B5EF4-FFF2-40B4-BE49-F238E27FC236}">
                <a16:creationId xmlns:a16="http://schemas.microsoft.com/office/drawing/2014/main" id="{7049884A-FEE9-416A-8254-7BFA785A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891" y="1007023"/>
            <a:ext cx="348223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D02</a:t>
            </a:r>
          </a:p>
        </p:txBody>
      </p:sp>
      <p:sp>
        <p:nvSpPr>
          <p:cNvPr id="448" name="donor-pair-1-anchor-1-a">
            <a:extLst xmlns:a="http://schemas.openxmlformats.org/drawingml/2006/main">
              <a:ext uri="{FF2B5EF4-FFF2-40B4-BE49-F238E27FC236}">
                <a16:creationId xmlns:a16="http://schemas.microsoft.com/office/drawing/2014/main" id="{3F17A405-BF99-4948-8A58-B9F9645C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514" y="106349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9" name="donor-pair-1-anchor-1-b">
            <a:extLst xmlns:a="http://schemas.openxmlformats.org/drawingml/2006/main">
              <a:ext uri="{FF2B5EF4-FFF2-40B4-BE49-F238E27FC236}">
                <a16:creationId xmlns:a16="http://schemas.microsoft.com/office/drawing/2014/main" id="{54A97B19-1693-40CF-A05B-85654AF5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371" y="106349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8" name=""/>
          <p:cNvCxnSpPr>
            <a:stCxn xmlns:a="http://schemas.openxmlformats.org/drawingml/2006/main" id="448" idx="3"/>
            <a:endCxn xmlns:a="http://schemas.openxmlformats.org/drawingml/2006/main" id="449" idx="1"/>
          </p:cNvCxnSpPr>
          <p:nvPr/>
        </p:nvCxnSpPr>
        <p:spPr>
          <a:xfrm xmlns:a="http://schemas.openxmlformats.org/drawingml/2006/main">
            <a:off x="5364561" y="1063515"/>
            <a:ext cx="705810" cy="0"/>
          </a:xfrm>
          <a:prstGeom xmlns:a="http://schemas.openxmlformats.org/drawingml/2006/main" prst="straightConnector1">
            <a:avLst/>
          </a:prstGeom>
          <a:ln xmlns:a="http://schemas.openxmlformats.org/drawingml/2006/main" w="6117">
            <a:solidFill>
              <a:srgbClr val="A9B2B9"/>
            </a:solidFill>
            <a:prstDash val="solid"/>
          </a:ln>
        </p:spPr>
      </p:cxnSp>
      <p:sp>
        <p:nvSpPr>
          <p:cNvPr id="451" name="control-1">
            <a:extLst xmlns:a="http://schemas.openxmlformats.org/drawingml/2006/main">
              <a:ext uri="{FF2B5EF4-FFF2-40B4-BE49-F238E27FC236}">
                <a16:creationId xmlns:a16="http://schemas.microsoft.com/office/drawing/2014/main" id="{FEAE050F-C953-41C5-B86E-4FC04F2D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163" y="1021140"/>
            <a:ext cx="84703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6"/>
          </a:solidFill>
          <a:ln xmlns:a="http://schemas.openxmlformats.org/drawingml/2006/main" w="8470">
            <a:solidFill>
              <a:srgbClr val="52779C"/>
            </a:solidFill>
            <a:prstDash val="solid"/>
          </a:ln>
        </p:spPr>
      </p:sp>
      <p:sp>
        <p:nvSpPr>
          <p:cNvPr id="452" name="stimulated-1">
            <a:extLst xmlns:a="http://schemas.openxmlformats.org/drawingml/2006/main">
              <a:ext uri="{FF2B5EF4-FFF2-40B4-BE49-F238E27FC236}">
                <a16:creationId xmlns:a16="http://schemas.microsoft.com/office/drawing/2014/main" id="{6E0F86F7-49EC-419E-84B9-2B419F19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8609" y="1011729"/>
            <a:ext cx="103526" cy="103526"/>
          </a:xfrm>
          <a:custGeom xmlns:a="http://schemas.openxmlformats.org/drawingml/2006/main">
            <a:pathLst>
              <a:path w="209550" h="209550">
                <a:moveTo>
                  <a:pt x="104775" y="0"/>
                </a:moveTo>
                <a:lnTo>
                  <a:pt x="209550" y="104775"/>
                </a:lnTo>
                <a:lnTo>
                  <a:pt x="104775" y="209550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E7F2EF"/>
          </a:solidFill>
          <a:ln xmlns:a="http://schemas.openxmlformats.org/drawingml/2006/main" w="8000">
            <a:solidFill>
              <a:srgbClr val="4C8B82"/>
            </a:solidFill>
            <a:prstDash val="solid"/>
          </a:ln>
        </p:spPr>
      </p:sp>
      <p:sp>
        <p:nvSpPr>
          <p:cNvPr id="453" name="donor-2">
            <a:extLst xmlns:a="http://schemas.openxmlformats.org/drawingml/2006/main">
              <a:ext uri="{FF2B5EF4-FFF2-40B4-BE49-F238E27FC236}">
                <a16:creationId xmlns:a16="http://schemas.microsoft.com/office/drawing/2014/main" id="{53BA8EAD-7D15-489B-BC5D-AC04D685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891" y="1237603"/>
            <a:ext cx="348223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D03</a:t>
            </a:r>
          </a:p>
        </p:txBody>
      </p:sp>
      <p:sp>
        <p:nvSpPr>
          <p:cNvPr id="454" name="donor-pair-2-anchor-1-a">
            <a:extLst xmlns:a="http://schemas.openxmlformats.org/drawingml/2006/main">
              <a:ext uri="{FF2B5EF4-FFF2-40B4-BE49-F238E27FC236}">
                <a16:creationId xmlns:a16="http://schemas.microsoft.com/office/drawing/2014/main" id="{0E0F3290-8F25-47FC-9AB4-810444F4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514" y="129407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5" name="donor-pair-2-anchor-1-b">
            <a:extLst xmlns:a="http://schemas.openxmlformats.org/drawingml/2006/main">
              <a:ext uri="{FF2B5EF4-FFF2-40B4-BE49-F238E27FC236}">
                <a16:creationId xmlns:a16="http://schemas.microsoft.com/office/drawing/2014/main" id="{F90E8D9C-498B-4614-8F5E-0632994D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371" y="129407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4" name=""/>
          <p:cNvCxnSpPr>
            <a:stCxn xmlns:a="http://schemas.openxmlformats.org/drawingml/2006/main" id="454" idx="3"/>
            <a:endCxn xmlns:a="http://schemas.openxmlformats.org/drawingml/2006/main" id="455" idx="1"/>
          </p:cNvCxnSpPr>
          <p:nvPr/>
        </p:nvCxnSpPr>
        <p:spPr>
          <a:xfrm xmlns:a="http://schemas.openxmlformats.org/drawingml/2006/main">
            <a:off x="5364561" y="1294095"/>
            <a:ext cx="705810" cy="0"/>
          </a:xfrm>
          <a:prstGeom xmlns:a="http://schemas.openxmlformats.org/drawingml/2006/main" prst="straightConnector1">
            <a:avLst/>
          </a:prstGeom>
          <a:ln xmlns:a="http://schemas.openxmlformats.org/drawingml/2006/main" w="6117">
            <a:solidFill>
              <a:srgbClr val="A9B2B9"/>
            </a:solidFill>
            <a:prstDash val="solid"/>
          </a:ln>
        </p:spPr>
      </p:cxnSp>
      <p:sp>
        <p:nvSpPr>
          <p:cNvPr id="457" name="control-2">
            <a:extLst xmlns:a="http://schemas.openxmlformats.org/drawingml/2006/main">
              <a:ext uri="{FF2B5EF4-FFF2-40B4-BE49-F238E27FC236}">
                <a16:creationId xmlns:a16="http://schemas.microsoft.com/office/drawing/2014/main" id="{09982F87-E8C1-483A-AFD0-8BD4003C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163" y="1251720"/>
            <a:ext cx="84703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6"/>
          </a:solidFill>
          <a:ln xmlns:a="http://schemas.openxmlformats.org/drawingml/2006/main" w="8470">
            <a:solidFill>
              <a:srgbClr val="52779C"/>
            </a:solidFill>
            <a:prstDash val="solid"/>
          </a:ln>
        </p:spPr>
      </p:sp>
      <p:sp>
        <p:nvSpPr>
          <p:cNvPr id="458" name="stimulated-2">
            <a:extLst xmlns:a="http://schemas.openxmlformats.org/drawingml/2006/main">
              <a:ext uri="{FF2B5EF4-FFF2-40B4-BE49-F238E27FC236}">
                <a16:creationId xmlns:a16="http://schemas.microsoft.com/office/drawing/2014/main" id="{50C9EC1A-A3D4-494C-8206-825A9755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8609" y="1242309"/>
            <a:ext cx="103526" cy="103526"/>
          </a:xfrm>
          <a:custGeom xmlns:a="http://schemas.openxmlformats.org/drawingml/2006/main">
            <a:pathLst>
              <a:path w="209550" h="209550">
                <a:moveTo>
                  <a:pt x="104775" y="0"/>
                </a:moveTo>
                <a:lnTo>
                  <a:pt x="209550" y="104775"/>
                </a:lnTo>
                <a:lnTo>
                  <a:pt x="104775" y="209550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E7F2EF"/>
          </a:solidFill>
          <a:ln xmlns:a="http://schemas.openxmlformats.org/drawingml/2006/main" w="8000">
            <a:solidFill>
              <a:srgbClr val="4C8B82"/>
            </a:solidFill>
            <a:prstDash val="solid"/>
          </a:ln>
        </p:spPr>
      </p:sp>
      <p:sp>
        <p:nvSpPr>
          <p:cNvPr id="459" name="donor-3">
            <a:extLst xmlns:a="http://schemas.openxmlformats.org/drawingml/2006/main">
              <a:ext uri="{FF2B5EF4-FFF2-40B4-BE49-F238E27FC236}">
                <a16:creationId xmlns:a16="http://schemas.microsoft.com/office/drawing/2014/main" id="{909CD469-9B3E-4638-9FA7-F5F42149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891" y="1468183"/>
            <a:ext cx="348223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D04</a:t>
            </a:r>
          </a:p>
        </p:txBody>
      </p:sp>
      <p:sp>
        <p:nvSpPr>
          <p:cNvPr id="460" name="donor-pair-3-anchor-1-a">
            <a:extLst xmlns:a="http://schemas.openxmlformats.org/drawingml/2006/main">
              <a:ext uri="{FF2B5EF4-FFF2-40B4-BE49-F238E27FC236}">
                <a16:creationId xmlns:a16="http://schemas.microsoft.com/office/drawing/2014/main" id="{0E82896C-6796-48CF-A544-7643D0BD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514" y="152465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1" name="donor-pair-3-anchor-1-b">
            <a:extLst xmlns:a="http://schemas.openxmlformats.org/drawingml/2006/main">
              <a:ext uri="{FF2B5EF4-FFF2-40B4-BE49-F238E27FC236}">
                <a16:creationId xmlns:a16="http://schemas.microsoft.com/office/drawing/2014/main" id="{8F435A3B-EB2D-4FD4-A130-3DEED799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371" y="152465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0" name=""/>
          <p:cNvCxnSpPr>
            <a:stCxn xmlns:a="http://schemas.openxmlformats.org/drawingml/2006/main" id="460" idx="3"/>
            <a:endCxn xmlns:a="http://schemas.openxmlformats.org/drawingml/2006/main" id="461" idx="1"/>
          </p:cNvCxnSpPr>
          <p:nvPr/>
        </p:nvCxnSpPr>
        <p:spPr>
          <a:xfrm xmlns:a="http://schemas.openxmlformats.org/drawingml/2006/main">
            <a:off x="5364561" y="1524675"/>
            <a:ext cx="705810" cy="0"/>
          </a:xfrm>
          <a:prstGeom xmlns:a="http://schemas.openxmlformats.org/drawingml/2006/main" prst="straightConnector1">
            <a:avLst/>
          </a:prstGeom>
          <a:ln xmlns:a="http://schemas.openxmlformats.org/drawingml/2006/main" w="6117">
            <a:solidFill>
              <a:srgbClr val="A9B2B9"/>
            </a:solidFill>
            <a:prstDash val="solid"/>
          </a:ln>
        </p:spPr>
      </p:cxnSp>
      <p:sp>
        <p:nvSpPr>
          <p:cNvPr id="463" name="control-3">
            <a:extLst xmlns:a="http://schemas.openxmlformats.org/drawingml/2006/main">
              <a:ext uri="{FF2B5EF4-FFF2-40B4-BE49-F238E27FC236}">
                <a16:creationId xmlns:a16="http://schemas.microsoft.com/office/drawing/2014/main" id="{39FB53F3-0E1C-4CB2-A8F0-C49BA466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163" y="1482300"/>
            <a:ext cx="84703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6"/>
          </a:solidFill>
          <a:ln xmlns:a="http://schemas.openxmlformats.org/drawingml/2006/main" w="8470">
            <a:solidFill>
              <a:srgbClr val="52779C"/>
            </a:solidFill>
            <a:prstDash val="solid"/>
          </a:ln>
        </p:spPr>
      </p:sp>
      <p:sp>
        <p:nvSpPr>
          <p:cNvPr id="464" name="stimulated-3">
            <a:extLst xmlns:a="http://schemas.openxmlformats.org/drawingml/2006/main">
              <a:ext uri="{FF2B5EF4-FFF2-40B4-BE49-F238E27FC236}">
                <a16:creationId xmlns:a16="http://schemas.microsoft.com/office/drawing/2014/main" id="{FD776C8B-DC10-4504-8976-18E569E6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8609" y="1472889"/>
            <a:ext cx="103526" cy="103526"/>
          </a:xfrm>
          <a:custGeom xmlns:a="http://schemas.openxmlformats.org/drawingml/2006/main">
            <a:pathLst>
              <a:path w="209550" h="209550">
                <a:moveTo>
                  <a:pt x="104775" y="0"/>
                </a:moveTo>
                <a:lnTo>
                  <a:pt x="209550" y="104775"/>
                </a:lnTo>
                <a:lnTo>
                  <a:pt x="104775" y="209550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E7F2EF"/>
          </a:solidFill>
          <a:ln xmlns:a="http://schemas.openxmlformats.org/drawingml/2006/main" w="8000">
            <a:solidFill>
              <a:srgbClr val="4C8B82"/>
            </a:solidFill>
            <a:prstDash val="solid"/>
          </a:ln>
        </p:spPr>
      </p:sp>
      <p:sp>
        <p:nvSpPr>
          <p:cNvPr id="465" name="donor-pair-caption">
            <a:extLst xmlns:a="http://schemas.openxmlformats.org/drawingml/2006/main">
              <a:ext uri="{FF2B5EF4-FFF2-40B4-BE49-F238E27FC236}">
                <a16:creationId xmlns:a16="http://schemas.microsoft.com/office/drawing/2014/main" id="{673ACC2C-54BC-4B7E-8BBD-713E077B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829" y="1806994"/>
            <a:ext cx="1632883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Match before summarizing</a:t>
            </a:r>
          </a:p>
        </p:txBody>
      </p:sp>
      <p:sp>
        <p:nvSpPr>
          <p:cNvPr id="466" name="compartment-key-0">
            <a:extLst xmlns:a="http://schemas.openxmlformats.org/drawingml/2006/main">
              <a:ext uri="{FF2B5EF4-FFF2-40B4-BE49-F238E27FC236}">
                <a16:creationId xmlns:a16="http://schemas.microsoft.com/office/drawing/2014/main" id="{9A315BAE-292C-46BE-B4E9-1493D7E6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74" y="1783466"/>
            <a:ext cx="56469" cy="56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7529">
            <a:solidFill>
              <a:srgbClr val="4C8B82"/>
            </a:solidFill>
            <a:prstDash val="solid"/>
          </a:ln>
        </p:spPr>
      </p:sp>
      <p:sp>
        <p:nvSpPr>
          <p:cNvPr id="467" name="compartment-label-0">
            <a:extLst xmlns:a="http://schemas.openxmlformats.org/drawingml/2006/main">
              <a:ext uri="{FF2B5EF4-FFF2-40B4-BE49-F238E27FC236}">
                <a16:creationId xmlns:a16="http://schemas.microsoft.com/office/drawing/2014/main" id="{9653A1B3-4653-426C-A03C-BECFBE4A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83" y="1745820"/>
            <a:ext cx="390574" cy="122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93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593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Region A</a:t>
            </a:r>
          </a:p>
        </p:txBody>
      </p:sp>
      <p:sp>
        <p:nvSpPr>
          <p:cNvPr id="468" name="compartment-key-1">
            <a:extLst xmlns:a="http://schemas.openxmlformats.org/drawingml/2006/main">
              <a:ext uri="{FF2B5EF4-FFF2-40B4-BE49-F238E27FC236}">
                <a16:creationId xmlns:a16="http://schemas.microsoft.com/office/drawing/2014/main" id="{8B3BF732-A341-497E-B0EA-452325AD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80" y="1783466"/>
            <a:ext cx="56469" cy="56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6"/>
          </a:solidFill>
          <a:ln xmlns:a="http://schemas.openxmlformats.org/drawingml/2006/main" w="7529">
            <a:solidFill>
              <a:srgbClr val="52779C"/>
            </a:solidFill>
            <a:prstDash val="solid"/>
          </a:ln>
        </p:spPr>
      </p:sp>
      <p:sp>
        <p:nvSpPr>
          <p:cNvPr id="469" name="compartment-label-1">
            <a:extLst xmlns:a="http://schemas.openxmlformats.org/drawingml/2006/main">
              <a:ext uri="{FF2B5EF4-FFF2-40B4-BE49-F238E27FC236}">
                <a16:creationId xmlns:a16="http://schemas.microsoft.com/office/drawing/2014/main" id="{E89A805C-A7FA-4E28-A90F-15AAD047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89" y="1745820"/>
            <a:ext cx="390574" cy="122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93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593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Region B</a:t>
            </a:r>
          </a:p>
        </p:txBody>
      </p:sp>
      <p:sp>
        <p:nvSpPr>
          <p:cNvPr id="470" name="compartment-key-2">
            <a:extLst xmlns:a="http://schemas.openxmlformats.org/drawingml/2006/main">
              <a:ext uri="{FF2B5EF4-FFF2-40B4-BE49-F238E27FC236}">
                <a16:creationId xmlns:a16="http://schemas.microsoft.com/office/drawing/2014/main" id="{DE0F3A71-6BC7-4757-8BE3-AFA0D406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486" y="1783466"/>
            <a:ext cx="56469" cy="56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5"/>
          </a:solidFill>
          <a:ln xmlns:a="http://schemas.openxmlformats.org/drawingml/2006/main" w="7529">
            <a:solidFill>
              <a:srgbClr val="8D79AC"/>
            </a:solidFill>
            <a:prstDash val="solid"/>
          </a:ln>
        </p:spPr>
      </p:sp>
      <p:sp>
        <p:nvSpPr>
          <p:cNvPr id="471" name="compartment-label-2">
            <a:extLst xmlns:a="http://schemas.openxmlformats.org/drawingml/2006/main">
              <a:ext uri="{FF2B5EF4-FFF2-40B4-BE49-F238E27FC236}">
                <a16:creationId xmlns:a16="http://schemas.microsoft.com/office/drawing/2014/main" id="{ADF343CD-34F0-4FC0-9610-666512B7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894" y="1745820"/>
            <a:ext cx="390574" cy="122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93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593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Region C</a:t>
            </a:r>
          </a:p>
        </p:txBody>
      </p:sp>
      <p:sp>
        <p:nvSpPr>
          <p:cNvPr id="472" name="row-divider-anchor-1-a">
            <a:extLst xmlns:a="http://schemas.openxmlformats.org/drawingml/2006/main">
              <a:ext uri="{FF2B5EF4-FFF2-40B4-BE49-F238E27FC236}">
                <a16:creationId xmlns:a16="http://schemas.microsoft.com/office/drawing/2014/main" id="{F04186E8-9B53-41CF-B119-B71D668F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97" y="206580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3" name="row-divider-anchor-1-b">
            <a:extLst xmlns:a="http://schemas.openxmlformats.org/drawingml/2006/main">
              <a:ext uri="{FF2B5EF4-FFF2-40B4-BE49-F238E27FC236}">
                <a16:creationId xmlns:a16="http://schemas.microsoft.com/office/drawing/2014/main" id="{78871F01-CC26-43E1-89A5-2733BDBE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3297" y="206580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2" name=""/>
          <p:cNvCxnSpPr>
            <a:stCxn xmlns:a="http://schemas.openxmlformats.org/drawingml/2006/main" id="472" idx="3"/>
            <a:endCxn xmlns:a="http://schemas.openxmlformats.org/drawingml/2006/main" id="473" idx="1"/>
          </p:cNvCxnSpPr>
          <p:nvPr/>
        </p:nvCxnSpPr>
        <p:spPr>
          <a:xfrm xmlns:a="http://schemas.openxmlformats.org/drawingml/2006/main">
            <a:off x="80044" y="2065833"/>
            <a:ext cx="6423253" cy="0"/>
          </a:xfrm>
          <a:prstGeom xmlns:a="http://schemas.openxmlformats.org/drawingml/2006/main" prst="straightConnector1">
            <a:avLst/>
          </a:prstGeom>
          <a:ln xmlns:a="http://schemas.openxmlformats.org/drawingml/2006/main" w="5647">
            <a:solidFill>
              <a:srgbClr val="D7DEE3"/>
            </a:solidFill>
            <a:prstDash val="solid"/>
          </a:ln>
        </p:spPr>
      </p:cxnSp>
      <p:sp>
        <p:nvSpPr>
          <p:cNvPr id="475" name="lower-divider-anchor-1-a">
            <a:extLst xmlns:a="http://schemas.openxmlformats.org/drawingml/2006/main">
              <a:ext uri="{FF2B5EF4-FFF2-40B4-BE49-F238E27FC236}">
                <a16:creationId xmlns:a16="http://schemas.microsoft.com/office/drawing/2014/main" id="{6F5888B6-5D4F-4394-BAD3-7AA6CD58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900" y="217404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6" name="lower-divider-anchor-1-b">
            <a:extLst xmlns:a="http://schemas.openxmlformats.org/drawingml/2006/main">
              <a:ext uri="{FF2B5EF4-FFF2-40B4-BE49-F238E27FC236}">
                <a16:creationId xmlns:a16="http://schemas.microsoft.com/office/drawing/2014/main" id="{0308462A-99B3-4A2F-997F-C0FC6154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900" y="3844569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5" name=""/>
          <p:cNvCxnSpPr>
            <a:stCxn xmlns:a="http://schemas.openxmlformats.org/drawingml/2006/main" id="475" idx="2"/>
            <a:endCxn xmlns:a="http://schemas.openxmlformats.org/drawingml/2006/main" id="476" idx="0"/>
          </p:cNvCxnSpPr>
          <p:nvPr/>
        </p:nvCxnSpPr>
        <p:spPr>
          <a:xfrm xmlns:a="http://schemas.openxmlformats.org/drawingml/2006/main">
            <a:off x="4446924" y="2174087"/>
            <a:ext cx="0" cy="1670482"/>
          </a:xfrm>
          <a:prstGeom xmlns:a="http://schemas.openxmlformats.org/drawingml/2006/main" prst="straightConnector1">
            <a:avLst/>
          </a:prstGeom>
          <a:ln xmlns:a="http://schemas.openxmlformats.org/drawingml/2006/main" w="5647">
            <a:solidFill>
              <a:srgbClr val="D7DEE3"/>
            </a:solidFill>
            <a:prstDash val="solid"/>
          </a:ln>
        </p:spPr>
      </p:cxnSp>
      <p:sp>
        <p:nvSpPr>
          <p:cNvPr id="478" name="panel-b">
            <a:extLst xmlns:a="http://schemas.openxmlformats.org/drawingml/2006/main">
              <a:ext uri="{FF2B5EF4-FFF2-40B4-BE49-F238E27FC236}">
                <a16:creationId xmlns:a16="http://schemas.microsoft.com/office/drawing/2014/main" id="{154FE007-8322-463D-BA6E-EA161468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91" y="2150511"/>
            <a:ext cx="122349" cy="141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79" name="panel-b-title">
            <a:extLst xmlns:a="http://schemas.openxmlformats.org/drawingml/2006/main">
              <a:ext uri="{FF2B5EF4-FFF2-40B4-BE49-F238E27FC236}">
                <a16:creationId xmlns:a16="http://schemas.microsoft.com/office/drawing/2014/main" id="{DC59BC1E-C6ED-4C1A-9408-6ECAA0AF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03" y="2150511"/>
            <a:ext cx="4131617" cy="141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85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85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Conditioned response model</a:t>
            </a:r>
          </a:p>
        </p:txBody>
      </p:sp>
      <p:sp>
        <p:nvSpPr>
          <p:cNvPr id="480" name="model-input-label">
            <a:extLst xmlns:a="http://schemas.openxmlformats.org/drawingml/2006/main">
              <a:ext uri="{FF2B5EF4-FFF2-40B4-BE49-F238E27FC236}">
                <a16:creationId xmlns:a16="http://schemas.microsoft.com/office/drawing/2014/main" id="{6F9F59FF-D278-437C-8502-1A98507B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77" y="2621083"/>
            <a:ext cx="588214" cy="13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7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67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Cell profile</a:t>
            </a:r>
          </a:p>
        </p:txBody>
      </p:sp>
      <p:sp>
        <p:nvSpPr>
          <p:cNvPr id="481" name="model-input-0-0">
            <a:extLst xmlns:a="http://schemas.openxmlformats.org/drawingml/2006/main">
              <a:ext uri="{FF2B5EF4-FFF2-40B4-BE49-F238E27FC236}">
                <a16:creationId xmlns:a16="http://schemas.microsoft.com/office/drawing/2014/main" id="{9D105D40-06A4-4A96-A5AE-F2FFEB79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80" y="2851663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" name="model-input-0-1">
            <a:extLst xmlns:a="http://schemas.openxmlformats.org/drawingml/2006/main">
              <a:ext uri="{FF2B5EF4-FFF2-40B4-BE49-F238E27FC236}">
                <a16:creationId xmlns:a16="http://schemas.microsoft.com/office/drawing/2014/main" id="{C78F3DAA-3E6A-401A-B4DD-A1F0DF4B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77" y="2851663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" name="model-input-0-2">
            <a:extLst xmlns:a="http://schemas.openxmlformats.org/drawingml/2006/main">
              <a:ext uri="{FF2B5EF4-FFF2-40B4-BE49-F238E27FC236}">
                <a16:creationId xmlns:a16="http://schemas.microsoft.com/office/drawing/2014/main" id="{0D2AE7BF-96BB-4F0D-BE56-76226761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74" y="2851663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" name="model-input-0-3">
            <a:extLst xmlns:a="http://schemas.openxmlformats.org/drawingml/2006/main">
              <a:ext uri="{FF2B5EF4-FFF2-40B4-BE49-F238E27FC236}">
                <a16:creationId xmlns:a16="http://schemas.microsoft.com/office/drawing/2014/main" id="{880CF005-78E5-45CB-AE4F-16E1CE19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71" y="2851663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" name="model-input-0-4">
            <a:extLst xmlns:a="http://schemas.openxmlformats.org/drawingml/2006/main">
              <a:ext uri="{FF2B5EF4-FFF2-40B4-BE49-F238E27FC236}">
                <a16:creationId xmlns:a16="http://schemas.microsoft.com/office/drawing/2014/main" id="{A42BD8CF-52D4-4621-A339-D9BF5C0A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69" y="2851663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E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" name="model-input-1-0">
            <a:extLst xmlns:a="http://schemas.openxmlformats.org/drawingml/2006/main">
              <a:ext uri="{FF2B5EF4-FFF2-40B4-BE49-F238E27FC236}">
                <a16:creationId xmlns:a16="http://schemas.microsoft.com/office/drawing/2014/main" id="{D785D6D3-2BCE-4E43-96A6-B8D94274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80" y="2931660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E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" name="model-input-1-1">
            <a:extLst xmlns:a="http://schemas.openxmlformats.org/drawingml/2006/main">
              <a:ext uri="{FF2B5EF4-FFF2-40B4-BE49-F238E27FC236}">
                <a16:creationId xmlns:a16="http://schemas.microsoft.com/office/drawing/2014/main" id="{B251AF75-0175-4E30-84BA-0C0CDAB1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77" y="2931660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" name="model-input-1-2">
            <a:extLst xmlns:a="http://schemas.openxmlformats.org/drawingml/2006/main">
              <a:ext uri="{FF2B5EF4-FFF2-40B4-BE49-F238E27FC236}">
                <a16:creationId xmlns:a16="http://schemas.microsoft.com/office/drawing/2014/main" id="{3DBACE20-A8E0-438A-BB55-B00D69BF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74" y="2931660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" name="model-input-1-3">
            <a:extLst xmlns:a="http://schemas.openxmlformats.org/drawingml/2006/main">
              <a:ext uri="{FF2B5EF4-FFF2-40B4-BE49-F238E27FC236}">
                <a16:creationId xmlns:a16="http://schemas.microsoft.com/office/drawing/2014/main" id="{FAF29B2F-3C3E-4D8B-AC20-17037687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71" y="2931660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" name="model-input-1-4">
            <a:extLst xmlns:a="http://schemas.openxmlformats.org/drawingml/2006/main">
              <a:ext uri="{FF2B5EF4-FFF2-40B4-BE49-F238E27FC236}">
                <a16:creationId xmlns:a16="http://schemas.microsoft.com/office/drawing/2014/main" id="{6F430D3C-F102-4F52-A880-15154759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69" y="2931660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" name="model-input-2-0">
            <a:extLst xmlns:a="http://schemas.openxmlformats.org/drawingml/2006/main">
              <a:ext uri="{FF2B5EF4-FFF2-40B4-BE49-F238E27FC236}">
                <a16:creationId xmlns:a16="http://schemas.microsoft.com/office/drawing/2014/main" id="{F7B1752A-6F1A-45C8-B007-4ED3FB32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80" y="3011657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" name="model-input-2-1">
            <a:extLst xmlns:a="http://schemas.openxmlformats.org/drawingml/2006/main">
              <a:ext uri="{FF2B5EF4-FFF2-40B4-BE49-F238E27FC236}">
                <a16:creationId xmlns:a16="http://schemas.microsoft.com/office/drawing/2014/main" id="{14D6CF48-F8F0-4BAF-B342-0A6085F1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77" y="3011657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" name="model-input-2-2">
            <a:extLst xmlns:a="http://schemas.openxmlformats.org/drawingml/2006/main">
              <a:ext uri="{FF2B5EF4-FFF2-40B4-BE49-F238E27FC236}">
                <a16:creationId xmlns:a16="http://schemas.microsoft.com/office/drawing/2014/main" id="{869F507A-6A40-4FA0-9589-1AB7EA25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74" y="3011657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" name="model-input-2-3">
            <a:extLst xmlns:a="http://schemas.openxmlformats.org/drawingml/2006/main">
              <a:ext uri="{FF2B5EF4-FFF2-40B4-BE49-F238E27FC236}">
                <a16:creationId xmlns:a16="http://schemas.microsoft.com/office/drawing/2014/main" id="{23956570-9F23-40B9-ACFB-02AA32E5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71" y="3011657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E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" name="model-input-2-4">
            <a:extLst xmlns:a="http://schemas.openxmlformats.org/drawingml/2006/main">
              <a:ext uri="{FF2B5EF4-FFF2-40B4-BE49-F238E27FC236}">
                <a16:creationId xmlns:a16="http://schemas.microsoft.com/office/drawing/2014/main" id="{C83A6058-2DA9-47F3-BA87-3FB8C6A9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69" y="3011657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" name="model-input-3-0">
            <a:extLst xmlns:a="http://schemas.openxmlformats.org/drawingml/2006/main">
              <a:ext uri="{FF2B5EF4-FFF2-40B4-BE49-F238E27FC236}">
                <a16:creationId xmlns:a16="http://schemas.microsoft.com/office/drawing/2014/main" id="{73D0D64A-810F-443D-95E6-36BD80B0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80" y="3091654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" name="model-input-3-1">
            <a:extLst xmlns:a="http://schemas.openxmlformats.org/drawingml/2006/main">
              <a:ext uri="{FF2B5EF4-FFF2-40B4-BE49-F238E27FC236}">
                <a16:creationId xmlns:a16="http://schemas.microsoft.com/office/drawing/2014/main" id="{81BC699F-FDFE-4168-A6BA-43D30AD9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77" y="3091654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" name="model-input-3-2">
            <a:extLst xmlns:a="http://schemas.openxmlformats.org/drawingml/2006/main">
              <a:ext uri="{FF2B5EF4-FFF2-40B4-BE49-F238E27FC236}">
                <a16:creationId xmlns:a16="http://schemas.microsoft.com/office/drawing/2014/main" id="{51171BAE-6D6C-4688-ADCD-CE71FD9D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74" y="3091654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" name="model-input-3-3">
            <a:extLst xmlns:a="http://schemas.openxmlformats.org/drawingml/2006/main">
              <a:ext uri="{FF2B5EF4-FFF2-40B4-BE49-F238E27FC236}">
                <a16:creationId xmlns:a16="http://schemas.microsoft.com/office/drawing/2014/main" id="{23833B26-38F8-49A9-A166-60F7C29E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71" y="3091654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" name="model-input-3-4">
            <a:extLst xmlns:a="http://schemas.openxmlformats.org/drawingml/2006/main">
              <a:ext uri="{FF2B5EF4-FFF2-40B4-BE49-F238E27FC236}">
                <a16:creationId xmlns:a16="http://schemas.microsoft.com/office/drawing/2014/main" id="{817EDB71-FC8C-45AF-B071-18197AFD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69" y="3091654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7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" name="model-input-caption">
            <a:extLst xmlns:a="http://schemas.openxmlformats.org/drawingml/2006/main">
              <a:ext uri="{FF2B5EF4-FFF2-40B4-BE49-F238E27FC236}">
                <a16:creationId xmlns:a16="http://schemas.microsoft.com/office/drawing/2014/main" id="{C1D5F137-9528-4414-876E-85ECF24F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43" y="3312823"/>
            <a:ext cx="654094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22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22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Baseline state</a:t>
            </a:r>
          </a:p>
        </p:txBody>
      </p:sp>
      <p:sp>
        <p:nvSpPr>
          <p:cNvPr id="502" name="encoder-body">
            <a:extLst xmlns:a="http://schemas.openxmlformats.org/drawingml/2006/main">
              <a:ext uri="{FF2B5EF4-FFF2-40B4-BE49-F238E27FC236}">
                <a16:creationId xmlns:a16="http://schemas.microsoft.com/office/drawing/2014/main" id="{70ECB0F8-C0AB-42DF-B121-0DD7F5F9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40" y="2748137"/>
            <a:ext cx="465866" cy="574097"/>
          </a:xfrm>
          <a:custGeom xmlns:a="http://schemas.openxmlformats.org/drawingml/2006/main">
            <a:pathLst>
              <a:path w="942975" h="1162050">
                <a:moveTo>
                  <a:pt x="0" y="0"/>
                </a:moveTo>
                <a:lnTo>
                  <a:pt x="942975" y="197549"/>
                </a:lnTo>
                <a:lnTo>
                  <a:pt x="942975" y="964501"/>
                </a:lnTo>
                <a:lnTo>
                  <a:pt x="0" y="1162050"/>
                </a:lnTo>
                <a:close/>
              </a:path>
            </a:pathLst>
          </a:custGeom>
          <a:solidFill xmlns:a="http://schemas.openxmlformats.org/drawingml/2006/main">
            <a:srgbClr val="E9F0F6"/>
          </a:solidFill>
          <a:ln xmlns:a="http://schemas.openxmlformats.org/drawingml/2006/main" w="8470">
            <a:solidFill>
              <a:srgbClr val="52779C"/>
            </a:solidFill>
            <a:prstDash val="solid"/>
          </a:ln>
        </p:spPr>
      </p:sp>
      <p:sp>
        <p:nvSpPr>
          <p:cNvPr id="503" name="encoder-label">
            <a:extLst xmlns:a="http://schemas.openxmlformats.org/drawingml/2006/main">
              <a:ext uri="{FF2B5EF4-FFF2-40B4-BE49-F238E27FC236}">
                <a16:creationId xmlns:a16="http://schemas.microsoft.com/office/drawing/2014/main" id="{35732020-AAF5-4DCD-A0B5-FF92C3DA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963" y="2880179"/>
            <a:ext cx="428220" cy="13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7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67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Encode</a:t>
            </a:r>
          </a:p>
        </p:txBody>
      </p:sp>
      <p:sp>
        <p:nvSpPr>
          <p:cNvPr id="504" name="encoder-lane-0">
            <a:extLst xmlns:a="http://schemas.openxmlformats.org/drawingml/2006/main">
              <a:ext uri="{FF2B5EF4-FFF2-40B4-BE49-F238E27FC236}">
                <a16:creationId xmlns:a16="http://schemas.microsoft.com/office/drawing/2014/main" id="{8668FF1A-2315-4B1D-A9DD-093C4FA0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313" y="3115559"/>
            <a:ext cx="46587" cy="470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" name="encoder-lane-1">
            <a:extLst xmlns:a="http://schemas.openxmlformats.org/drawingml/2006/main">
              <a:ext uri="{FF2B5EF4-FFF2-40B4-BE49-F238E27FC236}">
                <a16:creationId xmlns:a16="http://schemas.microsoft.com/office/drawing/2014/main" id="{D1855D34-CBBB-4E9E-BEE0-CF86EA4D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486" y="3115559"/>
            <a:ext cx="46587" cy="470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" name="encoder-lane-2">
            <a:extLst xmlns:a="http://schemas.openxmlformats.org/drawingml/2006/main">
              <a:ext uri="{FF2B5EF4-FFF2-40B4-BE49-F238E27FC236}">
                <a16:creationId xmlns:a16="http://schemas.microsoft.com/office/drawing/2014/main" id="{8F0ED486-84BA-4E6D-A9C5-848E0A93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659" y="3115559"/>
            <a:ext cx="46587" cy="470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E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" name="encoder-caption">
            <a:extLst xmlns:a="http://schemas.openxmlformats.org/drawingml/2006/main">
              <a:ext uri="{FF2B5EF4-FFF2-40B4-BE49-F238E27FC236}">
                <a16:creationId xmlns:a16="http://schemas.microsoft.com/office/drawing/2014/main" id="{85EB4686-7980-4C4A-91C0-90505484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437" y="3388114"/>
            <a:ext cx="635271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22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22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State tokens</a:t>
            </a:r>
          </a:p>
        </p:txBody>
      </p:sp>
      <p:sp>
        <p:nvSpPr>
          <p:cNvPr id="508" name="conditioned-state-field">
            <a:extLst xmlns:a="http://schemas.openxmlformats.org/drawingml/2006/main">
              <a:ext uri="{FF2B5EF4-FFF2-40B4-BE49-F238E27FC236}">
                <a16:creationId xmlns:a16="http://schemas.microsoft.com/office/drawing/2014/main" id="{36F33CD0-CC6C-4BA9-BC2D-0BDF1350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525" y="2792338"/>
            <a:ext cx="688596" cy="437631"/>
          </a:xfrm>
          <a:custGeom xmlns:a="http://schemas.openxmlformats.org/drawingml/2006/main">
            <a:pathLst>
              <a:path w="1393811" h="885825">
                <a:moveTo>
                  <a:pt x="1387128" y="453457"/>
                </a:moveTo>
                <a:lnTo>
                  <a:pt x="1393811" y="494532"/>
                </a:lnTo>
                <a:lnTo>
                  <a:pt x="1389702" y="535770"/>
                </a:lnTo>
                <a:lnTo>
                  <a:pt x="1374722" y="575935"/>
                </a:lnTo>
                <a:lnTo>
                  <a:pt x="1349828" y="613942"/>
                </a:lnTo>
                <a:lnTo>
                  <a:pt x="1316777" y="649058"/>
                </a:lnTo>
                <a:lnTo>
                  <a:pt x="1277746" y="681005"/>
                </a:lnTo>
                <a:lnTo>
                  <a:pt x="1234894" y="709942"/>
                </a:lnTo>
                <a:lnTo>
                  <a:pt x="1189975" y="736343"/>
                </a:lnTo>
                <a:lnTo>
                  <a:pt x="1144096" y="760795"/>
                </a:lnTo>
                <a:lnTo>
                  <a:pt x="1097645" y="783782"/>
                </a:lnTo>
                <a:lnTo>
                  <a:pt x="1050418" y="805508"/>
                </a:lnTo>
                <a:lnTo>
                  <a:pt x="1001865" y="825814"/>
                </a:lnTo>
                <a:lnTo>
                  <a:pt x="951396" y="844206"/>
                </a:lnTo>
                <a:lnTo>
                  <a:pt x="898653" y="859974"/>
                </a:lnTo>
                <a:lnTo>
                  <a:pt x="843665" y="872394"/>
                </a:lnTo>
                <a:lnTo>
                  <a:pt x="786869" y="880919"/>
                </a:lnTo>
                <a:lnTo>
                  <a:pt x="728982" y="885336"/>
                </a:lnTo>
                <a:lnTo>
                  <a:pt x="670794" y="885825"/>
                </a:lnTo>
                <a:lnTo>
                  <a:pt x="612933" y="882908"/>
                </a:lnTo>
                <a:lnTo>
                  <a:pt x="555703" y="877297"/>
                </a:lnTo>
                <a:lnTo>
                  <a:pt x="499038" y="869693"/>
                </a:lnTo>
                <a:lnTo>
                  <a:pt x="442602" y="860568"/>
                </a:lnTo>
                <a:lnTo>
                  <a:pt x="386012" y="850026"/>
                </a:lnTo>
                <a:lnTo>
                  <a:pt x="329118" y="837742"/>
                </a:lnTo>
                <a:lnTo>
                  <a:pt x="272262" y="823042"/>
                </a:lnTo>
                <a:lnTo>
                  <a:pt x="216431" y="805073"/>
                </a:lnTo>
                <a:lnTo>
                  <a:pt x="163244" y="783035"/>
                </a:lnTo>
                <a:lnTo>
                  <a:pt x="114758" y="756424"/>
                </a:lnTo>
                <a:lnTo>
                  <a:pt x="73130" y="725203"/>
                </a:lnTo>
                <a:lnTo>
                  <a:pt x="40198" y="689869"/>
                </a:lnTo>
                <a:lnTo>
                  <a:pt x="17096" y="651394"/>
                </a:lnTo>
                <a:lnTo>
                  <a:pt x="3988" y="611052"/>
                </a:lnTo>
                <a:lnTo>
                  <a:pt x="0" y="570170"/>
                </a:lnTo>
                <a:lnTo>
                  <a:pt x="3375" y="529875"/>
                </a:lnTo>
                <a:lnTo>
                  <a:pt x="11817" y="490894"/>
                </a:lnTo>
                <a:lnTo>
                  <a:pt x="22958" y="453457"/>
                </a:lnTo>
                <a:lnTo>
                  <a:pt x="34832" y="417327"/>
                </a:lnTo>
                <a:lnTo>
                  <a:pt x="46257" y="381948"/>
                </a:lnTo>
                <a:lnTo>
                  <a:pt x="57035" y="346667"/>
                </a:lnTo>
                <a:lnTo>
                  <a:pt x="67927" y="310972"/>
                </a:lnTo>
                <a:lnTo>
                  <a:pt x="80419" y="274692"/>
                </a:lnTo>
                <a:lnTo>
                  <a:pt x="96340" y="238092"/>
                </a:lnTo>
                <a:lnTo>
                  <a:pt x="117431" y="201853"/>
                </a:lnTo>
                <a:lnTo>
                  <a:pt x="144960" y="166945"/>
                </a:lnTo>
                <a:lnTo>
                  <a:pt x="179481" y="134422"/>
                </a:lnTo>
                <a:lnTo>
                  <a:pt x="220773" y="105200"/>
                </a:lnTo>
                <a:lnTo>
                  <a:pt x="267962" y="79882"/>
                </a:lnTo>
                <a:lnTo>
                  <a:pt x="319779" y="58667"/>
                </a:lnTo>
                <a:lnTo>
                  <a:pt x="374873" y="41376"/>
                </a:lnTo>
                <a:lnTo>
                  <a:pt x="432079" y="27571"/>
                </a:lnTo>
                <a:lnTo>
                  <a:pt x="490592" y="16753"/>
                </a:lnTo>
                <a:lnTo>
                  <a:pt x="549983" y="8552"/>
                </a:lnTo>
                <a:lnTo>
                  <a:pt x="610087" y="2882"/>
                </a:lnTo>
                <a:lnTo>
                  <a:pt x="670794" y="0"/>
                </a:lnTo>
                <a:lnTo>
                  <a:pt x="731828" y="453"/>
                </a:lnTo>
                <a:lnTo>
                  <a:pt x="792589" y="4930"/>
                </a:lnTo>
                <a:lnTo>
                  <a:pt x="852111" y="14051"/>
                </a:lnTo>
                <a:lnTo>
                  <a:pt x="909176" y="28165"/>
                </a:lnTo>
                <a:lnTo>
                  <a:pt x="962536" y="47195"/>
                </a:lnTo>
                <a:lnTo>
                  <a:pt x="1011204" y="70595"/>
                </a:lnTo>
                <a:lnTo>
                  <a:pt x="1054718" y="97417"/>
                </a:lnTo>
                <a:lnTo>
                  <a:pt x="1093303" y="126491"/>
                </a:lnTo>
                <a:lnTo>
                  <a:pt x="1127858" y="156662"/>
                </a:lnTo>
                <a:lnTo>
                  <a:pt x="1159773" y="187027"/>
                </a:lnTo>
                <a:lnTo>
                  <a:pt x="1190593" y="217114"/>
                </a:lnTo>
                <a:lnTo>
                  <a:pt x="1221604" y="246956"/>
                </a:lnTo>
                <a:lnTo>
                  <a:pt x="1253454" y="277029"/>
                </a:lnTo>
                <a:lnTo>
                  <a:pt x="1285889" y="308082"/>
                </a:lnTo>
                <a:lnTo>
                  <a:pt x="1317688" y="340902"/>
                </a:lnTo>
                <a:lnTo>
                  <a:pt x="1346821" y="376053"/>
                </a:lnTo>
                <a:lnTo>
                  <a:pt x="1370797" y="413689"/>
                </a:lnTo>
                <a:close/>
              </a:path>
            </a:pathLst>
          </a:custGeom>
          <a:solidFill xmlns:a="http://schemas.openxmlformats.org/drawingml/2006/main">
            <a:srgbClr val="E7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" name="conditioned-state-edge-0-1-anchor-1-a">
            <a:extLst xmlns:a="http://schemas.openxmlformats.org/drawingml/2006/main">
              <a:ext uri="{FF2B5EF4-FFF2-40B4-BE49-F238E27FC236}">
                <a16:creationId xmlns:a16="http://schemas.microsoft.com/office/drawing/2014/main" id="{D974C8EB-5B07-48DE-AA25-1151504A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991" y="303283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0" name="conditioned-state-edge-0-1-anchor-1-b">
            <a:extLst xmlns:a="http://schemas.openxmlformats.org/drawingml/2006/main">
              <a:ext uri="{FF2B5EF4-FFF2-40B4-BE49-F238E27FC236}">
                <a16:creationId xmlns:a16="http://schemas.microsoft.com/office/drawing/2014/main" id="{EB1C1FD9-73E3-4384-B24F-8CC756AE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574" y="2894485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9" name=""/>
          <p:cNvCxnSpPr>
            <a:stCxn xmlns:a="http://schemas.openxmlformats.org/drawingml/2006/main" id="509" idx="0"/>
            <a:endCxn xmlns:a="http://schemas.openxmlformats.org/drawingml/2006/main" id="510" idx="2"/>
          </p:cNvCxnSpPr>
          <p:nvPr/>
        </p:nvCxnSpPr>
        <p:spPr>
          <a:xfrm xmlns:a="http://schemas.openxmlformats.org/drawingml/2006/main" flipV="1">
            <a:off x="1903015" y="2894532"/>
            <a:ext cx="134583" cy="138301"/>
          </a:xfrm>
          <a:prstGeom xmlns:a="http://schemas.openxmlformats.org/drawingml/2006/main" prst="straightConnector1">
            <a:avLst/>
          </a:prstGeom>
          <a:ln xmlns:a="http://schemas.openxmlformats.org/drawingml/2006/main" w="7529">
            <a:solidFill>
              <a:srgbClr val="4C8B82"/>
            </a:solidFill>
            <a:prstDash val="solid"/>
          </a:ln>
        </p:spPr>
      </p:cxnSp>
      <p:sp>
        <p:nvSpPr>
          <p:cNvPr id="512" name="conditioned-state-edge-0-2-anchor-1-a">
            <a:extLst xmlns:a="http://schemas.openxmlformats.org/drawingml/2006/main">
              <a:ext uri="{FF2B5EF4-FFF2-40B4-BE49-F238E27FC236}">
                <a16:creationId xmlns:a16="http://schemas.microsoft.com/office/drawing/2014/main" id="{BA474C4F-44B6-432E-A0AF-A2A6983A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991" y="303283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3" name="conditioned-state-edge-0-2-anchor-1-b">
            <a:extLst xmlns:a="http://schemas.openxmlformats.org/drawingml/2006/main">
              <a:ext uri="{FF2B5EF4-FFF2-40B4-BE49-F238E27FC236}">
                <a16:creationId xmlns:a16="http://schemas.microsoft.com/office/drawing/2014/main" id="{0B169BDE-2408-48B0-A66F-7CCFDDA0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631" y="310200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2" name=""/>
          <p:cNvCxnSpPr>
            <a:stCxn xmlns:a="http://schemas.openxmlformats.org/drawingml/2006/main" id="512" idx="3"/>
            <a:endCxn xmlns:a="http://schemas.openxmlformats.org/drawingml/2006/main" id="513" idx="1"/>
          </p:cNvCxnSpPr>
          <p:nvPr/>
        </p:nvCxnSpPr>
        <p:spPr>
          <a:xfrm xmlns:a="http://schemas.openxmlformats.org/drawingml/2006/main">
            <a:off x="1903038" y="3032857"/>
            <a:ext cx="189593" cy="69174"/>
          </a:xfrm>
          <a:prstGeom xmlns:a="http://schemas.openxmlformats.org/drawingml/2006/main" prst="straightConnector1">
            <a:avLst/>
          </a:prstGeom>
          <a:ln xmlns:a="http://schemas.openxmlformats.org/drawingml/2006/main" w="7529">
            <a:solidFill>
              <a:srgbClr val="4C8B82"/>
            </a:solidFill>
            <a:prstDash val="solid"/>
          </a:ln>
        </p:spPr>
      </p:cxnSp>
      <p:sp>
        <p:nvSpPr>
          <p:cNvPr id="515" name="conditioned-state-edge-1-3-anchor-1-a">
            <a:extLst xmlns:a="http://schemas.openxmlformats.org/drawingml/2006/main">
              <a:ext uri="{FF2B5EF4-FFF2-40B4-BE49-F238E27FC236}">
                <a16:creationId xmlns:a16="http://schemas.microsoft.com/office/drawing/2014/main" id="{24856254-2342-496A-AD29-17604D1A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574" y="2894485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6" name="conditioned-state-edge-1-3-anchor-1-b">
            <a:extLst xmlns:a="http://schemas.openxmlformats.org/drawingml/2006/main">
              <a:ext uri="{FF2B5EF4-FFF2-40B4-BE49-F238E27FC236}">
                <a16:creationId xmlns:a16="http://schemas.microsoft.com/office/drawing/2014/main" id="{E7F83497-1EAA-4360-BF6C-ADB6FC71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745" y="29900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5" name=""/>
          <p:cNvCxnSpPr>
            <a:stCxn xmlns:a="http://schemas.openxmlformats.org/drawingml/2006/main" id="515" idx="3"/>
            <a:endCxn xmlns:a="http://schemas.openxmlformats.org/drawingml/2006/main" id="516" idx="1"/>
          </p:cNvCxnSpPr>
          <p:nvPr/>
        </p:nvCxnSpPr>
        <p:spPr>
          <a:xfrm xmlns:a="http://schemas.openxmlformats.org/drawingml/2006/main">
            <a:off x="2037621" y="2894509"/>
            <a:ext cx="165124" cy="95526"/>
          </a:xfrm>
          <a:prstGeom xmlns:a="http://schemas.openxmlformats.org/drawingml/2006/main" prst="straightConnector1">
            <a:avLst/>
          </a:prstGeom>
          <a:ln xmlns:a="http://schemas.openxmlformats.org/drawingml/2006/main" w="7529">
            <a:solidFill>
              <a:srgbClr val="4C8B82"/>
            </a:solidFill>
            <a:prstDash val="solid"/>
          </a:ln>
        </p:spPr>
      </p:cxnSp>
      <p:sp>
        <p:nvSpPr>
          <p:cNvPr id="518" name="conditioned-state-edge-2-3-anchor-1-a">
            <a:extLst xmlns:a="http://schemas.openxmlformats.org/drawingml/2006/main">
              <a:ext uri="{FF2B5EF4-FFF2-40B4-BE49-F238E27FC236}">
                <a16:creationId xmlns:a16="http://schemas.microsoft.com/office/drawing/2014/main" id="{29FF8589-7C3D-4780-844D-31DD19FC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631" y="3102007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9" name="conditioned-state-edge-2-3-anchor-1-b">
            <a:extLst xmlns:a="http://schemas.openxmlformats.org/drawingml/2006/main">
              <a:ext uri="{FF2B5EF4-FFF2-40B4-BE49-F238E27FC236}">
                <a16:creationId xmlns:a16="http://schemas.microsoft.com/office/drawing/2014/main" id="{740D5F31-BCDD-4386-9199-5835129D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745" y="29900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8" name=""/>
          <p:cNvCxnSpPr>
            <a:stCxn xmlns:a="http://schemas.openxmlformats.org/drawingml/2006/main" id="518" idx="0"/>
            <a:endCxn xmlns:a="http://schemas.openxmlformats.org/drawingml/2006/main" id="519" idx="2"/>
          </p:cNvCxnSpPr>
          <p:nvPr/>
        </p:nvCxnSpPr>
        <p:spPr>
          <a:xfrm xmlns:a="http://schemas.openxmlformats.org/drawingml/2006/main" flipV="1">
            <a:off x="2092655" y="2990058"/>
            <a:ext cx="110114" cy="111949"/>
          </a:xfrm>
          <a:prstGeom xmlns:a="http://schemas.openxmlformats.org/drawingml/2006/main" prst="straightConnector1">
            <a:avLst/>
          </a:prstGeom>
          <a:ln xmlns:a="http://schemas.openxmlformats.org/drawingml/2006/main" w="7529">
            <a:solidFill>
              <a:srgbClr val="4C8B82"/>
            </a:solidFill>
            <a:prstDash val="solid"/>
          </a:ln>
        </p:spPr>
      </p:cxnSp>
      <p:sp>
        <p:nvSpPr>
          <p:cNvPr id="521" name="conditioned-state-edge-3-4-anchor-1-a">
            <a:extLst xmlns:a="http://schemas.openxmlformats.org/drawingml/2006/main">
              <a:ext uri="{FF2B5EF4-FFF2-40B4-BE49-F238E27FC236}">
                <a16:creationId xmlns:a16="http://schemas.microsoft.com/office/drawing/2014/main" id="{AF1CC121-AFEF-4031-A3C8-1E69B127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745" y="29900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2" name="conditioned-state-edge-3-4-anchor-1-b">
            <a:extLst xmlns:a="http://schemas.openxmlformats.org/drawingml/2006/main">
              <a:ext uri="{FF2B5EF4-FFF2-40B4-BE49-F238E27FC236}">
                <a16:creationId xmlns:a16="http://schemas.microsoft.com/office/drawing/2014/main" id="{F8FFF621-A9DB-45CE-9B40-5BB73D44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976" y="290107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1" name=""/>
          <p:cNvCxnSpPr>
            <a:stCxn xmlns:a="http://schemas.openxmlformats.org/drawingml/2006/main" id="521" idx="3"/>
            <a:endCxn xmlns:a="http://schemas.openxmlformats.org/drawingml/2006/main" id="522" idx="1"/>
          </p:cNvCxnSpPr>
          <p:nvPr/>
        </p:nvCxnSpPr>
        <p:spPr>
          <a:xfrm xmlns:a="http://schemas.openxmlformats.org/drawingml/2006/main" flipV="1">
            <a:off x="2202792" y="2901097"/>
            <a:ext cx="116184" cy="88938"/>
          </a:xfrm>
          <a:prstGeom xmlns:a="http://schemas.openxmlformats.org/drawingml/2006/main" prst="straightConnector1">
            <a:avLst/>
          </a:prstGeom>
          <a:ln xmlns:a="http://schemas.openxmlformats.org/drawingml/2006/main" w="7529">
            <a:solidFill>
              <a:srgbClr val="4C8B82"/>
            </a:solidFill>
            <a:prstDash val="solid"/>
          </a:ln>
        </p:spPr>
      </p:cxnSp>
      <p:sp>
        <p:nvSpPr>
          <p:cNvPr id="524" name="conditioned-state-edge-3-5-anchor-1-a">
            <a:extLst xmlns:a="http://schemas.openxmlformats.org/drawingml/2006/main">
              <a:ext uri="{FF2B5EF4-FFF2-40B4-BE49-F238E27FC236}">
                <a16:creationId xmlns:a16="http://schemas.microsoft.com/office/drawing/2014/main" id="{739563EE-99F3-432D-908F-0A5216E1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745" y="299001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5" name="conditioned-state-edge-3-5-anchor-1-b">
            <a:extLst xmlns:a="http://schemas.openxmlformats.org/drawingml/2006/main">
              <a:ext uri="{FF2B5EF4-FFF2-40B4-BE49-F238E27FC236}">
                <a16:creationId xmlns:a16="http://schemas.microsoft.com/office/drawing/2014/main" id="{D3E5EE73-BC09-4F4C-992D-FB64664B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972" y="307236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4" name=""/>
          <p:cNvCxnSpPr>
            <a:stCxn xmlns:a="http://schemas.openxmlformats.org/drawingml/2006/main" id="524" idx="3"/>
            <a:endCxn xmlns:a="http://schemas.openxmlformats.org/drawingml/2006/main" id="525" idx="1"/>
          </p:cNvCxnSpPr>
          <p:nvPr/>
        </p:nvCxnSpPr>
        <p:spPr>
          <a:xfrm xmlns:a="http://schemas.openxmlformats.org/drawingml/2006/main">
            <a:off x="2202792" y="2990035"/>
            <a:ext cx="220180" cy="82350"/>
          </a:xfrm>
          <a:prstGeom xmlns:a="http://schemas.openxmlformats.org/drawingml/2006/main" prst="straightConnector1">
            <a:avLst/>
          </a:prstGeom>
          <a:ln xmlns:a="http://schemas.openxmlformats.org/drawingml/2006/main" w="7529">
            <a:solidFill>
              <a:srgbClr val="4C8B82"/>
            </a:solidFill>
            <a:prstDash val="solid"/>
          </a:ln>
        </p:spPr>
      </p:cxnSp>
      <p:sp>
        <p:nvSpPr>
          <p:cNvPr id="527" name="conditioned-state-edge-4-5-anchor-1-a">
            <a:extLst xmlns:a="http://schemas.openxmlformats.org/drawingml/2006/main">
              <a:ext uri="{FF2B5EF4-FFF2-40B4-BE49-F238E27FC236}">
                <a16:creationId xmlns:a16="http://schemas.microsoft.com/office/drawing/2014/main" id="{A3FB3ED7-03CC-406A-B243-FED86447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976" y="290107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8" name="conditioned-state-edge-4-5-anchor-1-b">
            <a:extLst xmlns:a="http://schemas.openxmlformats.org/drawingml/2006/main">
              <a:ext uri="{FF2B5EF4-FFF2-40B4-BE49-F238E27FC236}">
                <a16:creationId xmlns:a16="http://schemas.microsoft.com/office/drawing/2014/main" id="{25A3C830-5750-4ACB-B6F6-EAB97331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972" y="3072361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7" name=""/>
          <p:cNvCxnSpPr>
            <a:stCxn xmlns:a="http://schemas.openxmlformats.org/drawingml/2006/main" id="527" idx="2"/>
            <a:endCxn xmlns:a="http://schemas.openxmlformats.org/drawingml/2006/main" id="528" idx="0"/>
          </p:cNvCxnSpPr>
          <p:nvPr/>
        </p:nvCxnSpPr>
        <p:spPr>
          <a:xfrm xmlns:a="http://schemas.openxmlformats.org/drawingml/2006/main">
            <a:off x="2319000" y="2901120"/>
            <a:ext cx="103996" cy="171241"/>
          </a:xfrm>
          <a:prstGeom xmlns:a="http://schemas.openxmlformats.org/drawingml/2006/main" prst="straightConnector1">
            <a:avLst/>
          </a:prstGeom>
          <a:ln xmlns:a="http://schemas.openxmlformats.org/drawingml/2006/main" w="7529">
            <a:solidFill>
              <a:srgbClr val="4C8B82"/>
            </a:solidFill>
            <a:prstDash val="solid"/>
          </a:ln>
        </p:spPr>
      </p:cxnSp>
      <p:sp>
        <p:nvSpPr>
          <p:cNvPr id="530" name="conditioned-state-edge-1-4-anchor-1-a">
            <a:extLst xmlns:a="http://schemas.openxmlformats.org/drawingml/2006/main">
              <a:ext uri="{FF2B5EF4-FFF2-40B4-BE49-F238E27FC236}">
                <a16:creationId xmlns:a16="http://schemas.microsoft.com/office/drawing/2014/main" id="{5080101E-7431-4DA2-9F83-21AE3A46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574" y="2894485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1" name="conditioned-state-edge-1-4-anchor-1-b">
            <a:extLst xmlns:a="http://schemas.openxmlformats.org/drawingml/2006/main">
              <a:ext uri="{FF2B5EF4-FFF2-40B4-BE49-F238E27FC236}">
                <a16:creationId xmlns:a16="http://schemas.microsoft.com/office/drawing/2014/main" id="{E515D34A-09EE-4146-9223-EC9E1284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976" y="290107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0" name=""/>
          <p:cNvCxnSpPr>
            <a:stCxn xmlns:a="http://schemas.openxmlformats.org/drawingml/2006/main" id="530" idx="3"/>
            <a:endCxn xmlns:a="http://schemas.openxmlformats.org/drawingml/2006/main" id="531" idx="1"/>
          </p:cNvCxnSpPr>
          <p:nvPr/>
        </p:nvCxnSpPr>
        <p:spPr>
          <a:xfrm xmlns:a="http://schemas.openxmlformats.org/drawingml/2006/main">
            <a:off x="2037621" y="2894509"/>
            <a:ext cx="281355" cy="6588"/>
          </a:xfrm>
          <a:prstGeom xmlns:a="http://schemas.openxmlformats.org/drawingml/2006/main" prst="straightConnector1">
            <a:avLst/>
          </a:prstGeom>
          <a:ln xmlns:a="http://schemas.openxmlformats.org/drawingml/2006/main" w="7529">
            <a:solidFill>
              <a:srgbClr val="4C8B82"/>
            </a:solidFill>
            <a:prstDash val="solid"/>
          </a:ln>
        </p:spPr>
      </p:cxnSp>
      <p:sp>
        <p:nvSpPr>
          <p:cNvPr id="533" name="conditioned-state-node-0">
            <a:extLst xmlns:a="http://schemas.openxmlformats.org/drawingml/2006/main">
              <a:ext uri="{FF2B5EF4-FFF2-40B4-BE49-F238E27FC236}">
                <a16:creationId xmlns:a16="http://schemas.microsoft.com/office/drawing/2014/main" id="{33193E9F-6739-40CE-A942-E3CC8D80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639" y="2990481"/>
            <a:ext cx="84703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2"/>
          </a:solidFill>
          <a:ln xmlns:a="http://schemas.openxmlformats.org/drawingml/2006/main" w="7529">
            <a:solidFill>
              <a:srgbClr val="4C8B82"/>
            </a:solidFill>
            <a:prstDash val="solid"/>
          </a:ln>
        </p:spPr>
      </p:sp>
      <p:sp>
        <p:nvSpPr>
          <p:cNvPr id="534" name="conditioned-state-node-1">
            <a:extLst xmlns:a="http://schemas.openxmlformats.org/drawingml/2006/main">
              <a:ext uri="{FF2B5EF4-FFF2-40B4-BE49-F238E27FC236}">
                <a16:creationId xmlns:a16="http://schemas.microsoft.com/office/drawing/2014/main" id="{065F210E-692F-4753-953E-69134AFE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223" y="2852133"/>
            <a:ext cx="84703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E6DE"/>
          </a:solidFill>
          <a:ln xmlns:a="http://schemas.openxmlformats.org/drawingml/2006/main" w="7529">
            <a:solidFill>
              <a:srgbClr val="4C8B82"/>
            </a:solidFill>
            <a:prstDash val="solid"/>
          </a:ln>
        </p:spPr>
      </p:sp>
      <p:sp>
        <p:nvSpPr>
          <p:cNvPr id="535" name="conditioned-state-node-2">
            <a:extLst xmlns:a="http://schemas.openxmlformats.org/drawingml/2006/main">
              <a:ext uri="{FF2B5EF4-FFF2-40B4-BE49-F238E27FC236}">
                <a16:creationId xmlns:a16="http://schemas.microsoft.com/office/drawing/2014/main" id="{D628C3D5-17F6-4A1A-BCAA-7D14DCB0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280" y="3059655"/>
            <a:ext cx="84703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CABD"/>
          </a:solidFill>
          <a:ln xmlns:a="http://schemas.openxmlformats.org/drawingml/2006/main" w="7529">
            <a:solidFill>
              <a:srgbClr val="4C8B82"/>
            </a:solidFill>
            <a:prstDash val="solid"/>
          </a:ln>
        </p:spPr>
      </p:sp>
      <p:sp>
        <p:nvSpPr>
          <p:cNvPr id="536" name="conditioned-state-node-3">
            <a:extLst xmlns:a="http://schemas.openxmlformats.org/drawingml/2006/main">
              <a:ext uri="{FF2B5EF4-FFF2-40B4-BE49-F238E27FC236}">
                <a16:creationId xmlns:a16="http://schemas.microsoft.com/office/drawing/2014/main" id="{34249046-1F5B-43D3-AAB5-CF0E45E1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393" y="2947659"/>
            <a:ext cx="84703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D9E"/>
          </a:solidFill>
          <a:ln xmlns:a="http://schemas.openxmlformats.org/drawingml/2006/main" w="7529">
            <a:solidFill>
              <a:srgbClr val="4C8B82"/>
            </a:solidFill>
            <a:prstDash val="solid"/>
          </a:ln>
        </p:spPr>
      </p:sp>
      <p:sp>
        <p:nvSpPr>
          <p:cNvPr id="537" name="conditioned-state-node-4">
            <a:extLst xmlns:a="http://schemas.openxmlformats.org/drawingml/2006/main">
              <a:ext uri="{FF2B5EF4-FFF2-40B4-BE49-F238E27FC236}">
                <a16:creationId xmlns:a16="http://schemas.microsoft.com/office/drawing/2014/main" id="{813B24FE-6787-4CDE-B1AC-F3C1D96A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625" y="2858721"/>
            <a:ext cx="84703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B82"/>
          </a:solidFill>
          <a:ln xmlns:a="http://schemas.openxmlformats.org/drawingml/2006/main" w="7529">
            <a:solidFill>
              <a:srgbClr val="4C8B82"/>
            </a:solidFill>
            <a:prstDash val="solid"/>
          </a:ln>
        </p:spPr>
      </p:sp>
      <p:sp>
        <p:nvSpPr>
          <p:cNvPr id="538" name="conditioned-state-node-5">
            <a:extLst xmlns:a="http://schemas.openxmlformats.org/drawingml/2006/main">
              <a:ext uri="{FF2B5EF4-FFF2-40B4-BE49-F238E27FC236}">
                <a16:creationId xmlns:a16="http://schemas.microsoft.com/office/drawing/2014/main" id="{FBF27DB0-AA80-49D5-8482-09E7C7A8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621" y="3030009"/>
            <a:ext cx="84703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2"/>
          </a:solidFill>
          <a:ln xmlns:a="http://schemas.openxmlformats.org/drawingml/2006/main" w="7529">
            <a:solidFill>
              <a:srgbClr val="4C8B82"/>
            </a:solidFill>
            <a:prstDash val="solid"/>
          </a:ln>
        </p:spPr>
      </p:sp>
      <p:sp>
        <p:nvSpPr>
          <p:cNvPr id="539" name="fusion-title">
            <a:extLst xmlns:a="http://schemas.openxmlformats.org/drawingml/2006/main">
              <a:ext uri="{FF2B5EF4-FFF2-40B4-BE49-F238E27FC236}">
                <a16:creationId xmlns:a16="http://schemas.microsoft.com/office/drawing/2014/main" id="{4F3E7222-CCA4-454F-BB92-4847ABD6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469" y="2611671"/>
            <a:ext cx="912909" cy="13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7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67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Conditioned state</a:t>
            </a:r>
          </a:p>
        </p:txBody>
      </p:sp>
      <p:sp>
        <p:nvSpPr>
          <p:cNvPr id="540" name="fusion-caption">
            <a:extLst xmlns:a="http://schemas.openxmlformats.org/drawingml/2006/main">
              <a:ext uri="{FF2B5EF4-FFF2-40B4-BE49-F238E27FC236}">
                <a16:creationId xmlns:a16="http://schemas.microsoft.com/office/drawing/2014/main" id="{DF7DC24F-5223-4B5A-AC6F-DD32FA7A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529" y="3388114"/>
            <a:ext cx="988200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22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22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Joint representation</a:t>
            </a:r>
          </a:p>
        </p:txBody>
      </p:sp>
      <p:sp>
        <p:nvSpPr>
          <p:cNvPr id="541" name="decoder-body">
            <a:extLst xmlns:a="http://schemas.openxmlformats.org/drawingml/2006/main">
              <a:ext uri="{FF2B5EF4-FFF2-40B4-BE49-F238E27FC236}">
                <a16:creationId xmlns:a16="http://schemas.microsoft.com/office/drawing/2014/main" id="{425BA751-C10B-492C-B61F-22C8C97D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546" y="2748137"/>
            <a:ext cx="465866" cy="574097"/>
          </a:xfrm>
          <a:custGeom xmlns:a="http://schemas.openxmlformats.org/drawingml/2006/main">
            <a:pathLst>
              <a:path w="942975" h="1162050">
                <a:moveTo>
                  <a:pt x="0" y="197549"/>
                </a:moveTo>
                <a:lnTo>
                  <a:pt x="942975" y="0"/>
                </a:lnTo>
                <a:lnTo>
                  <a:pt x="942975" y="1162050"/>
                </a:lnTo>
                <a:lnTo>
                  <a:pt x="0" y="964501"/>
                </a:lnTo>
                <a:close/>
              </a:path>
            </a:pathLst>
          </a:custGeom>
          <a:solidFill xmlns:a="http://schemas.openxmlformats.org/drawingml/2006/main">
            <a:srgbClr val="E7F2EF"/>
          </a:solidFill>
          <a:ln xmlns:a="http://schemas.openxmlformats.org/drawingml/2006/main" w="8470">
            <a:solidFill>
              <a:srgbClr val="4C8B82"/>
            </a:solidFill>
            <a:prstDash val="solid"/>
          </a:ln>
        </p:spPr>
      </p:sp>
      <p:sp>
        <p:nvSpPr>
          <p:cNvPr id="542" name="decoder-label">
            <a:extLst xmlns:a="http://schemas.openxmlformats.org/drawingml/2006/main">
              <a:ext uri="{FF2B5EF4-FFF2-40B4-BE49-F238E27FC236}">
                <a16:creationId xmlns:a16="http://schemas.microsoft.com/office/drawing/2014/main" id="{24A7D010-202F-44CC-BA75-676275DD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6369" y="2880179"/>
            <a:ext cx="428220" cy="13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7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67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Decode</a:t>
            </a:r>
          </a:p>
        </p:txBody>
      </p:sp>
      <p:sp>
        <p:nvSpPr>
          <p:cNvPr id="543" name="decoder-lane-0">
            <a:extLst xmlns:a="http://schemas.openxmlformats.org/drawingml/2006/main">
              <a:ext uri="{FF2B5EF4-FFF2-40B4-BE49-F238E27FC236}">
                <a16:creationId xmlns:a16="http://schemas.microsoft.com/office/drawing/2014/main" id="{31C1EEC5-4D69-475F-8162-C6BB9EDD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719" y="3115559"/>
            <a:ext cx="46587" cy="470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decoder-lane-1">
            <a:extLst xmlns:a="http://schemas.openxmlformats.org/drawingml/2006/main">
              <a:ext uri="{FF2B5EF4-FFF2-40B4-BE49-F238E27FC236}">
                <a16:creationId xmlns:a16="http://schemas.microsoft.com/office/drawing/2014/main" id="{A8055B93-B084-4B18-B890-F75E348D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892" y="3115559"/>
            <a:ext cx="46587" cy="470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A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decoder-lane-2">
            <a:extLst xmlns:a="http://schemas.openxmlformats.org/drawingml/2006/main">
              <a:ext uri="{FF2B5EF4-FFF2-40B4-BE49-F238E27FC236}">
                <a16:creationId xmlns:a16="http://schemas.microsoft.com/office/drawing/2014/main" id="{C5F01EA7-FC41-49F6-988D-BF196BC3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65" y="3115559"/>
            <a:ext cx="46587" cy="470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D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decoder-caption">
            <a:extLst xmlns:a="http://schemas.openxmlformats.org/drawingml/2006/main">
              <a:ext uri="{FF2B5EF4-FFF2-40B4-BE49-F238E27FC236}">
                <a16:creationId xmlns:a16="http://schemas.microsoft.com/office/drawing/2014/main" id="{E33572CA-80D2-41FB-A01A-CEEBF2DB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374" y="3388114"/>
            <a:ext cx="748209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22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22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Response mapping</a:t>
            </a:r>
          </a:p>
        </p:txBody>
      </p:sp>
      <p:sp>
        <p:nvSpPr>
          <p:cNvPr id="547" name="predicted-profile-0-0">
            <a:extLst xmlns:a="http://schemas.openxmlformats.org/drawingml/2006/main">
              <a:ext uri="{FF2B5EF4-FFF2-40B4-BE49-F238E27FC236}">
                <a16:creationId xmlns:a16="http://schemas.microsoft.com/office/drawing/2014/main" id="{36BF66E5-CD26-4ACF-892E-53192DE7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337" y="2851663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predicted-profile-0-1">
            <a:extLst xmlns:a="http://schemas.openxmlformats.org/drawingml/2006/main">
              <a:ext uri="{FF2B5EF4-FFF2-40B4-BE49-F238E27FC236}">
                <a16:creationId xmlns:a16="http://schemas.microsoft.com/office/drawing/2014/main" id="{CA1180D0-0C0D-46D1-86C2-3917C95D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334" y="2851663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A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predicted-profile-0-2">
            <a:extLst xmlns:a="http://schemas.openxmlformats.org/drawingml/2006/main">
              <a:ext uri="{FF2B5EF4-FFF2-40B4-BE49-F238E27FC236}">
                <a16:creationId xmlns:a16="http://schemas.microsoft.com/office/drawing/2014/main" id="{72F1152A-6D57-4A36-9C6A-BAA6F229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331" y="2851663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predicted-profile-0-3">
            <a:extLst xmlns:a="http://schemas.openxmlformats.org/drawingml/2006/main">
              <a:ext uri="{FF2B5EF4-FFF2-40B4-BE49-F238E27FC236}">
                <a16:creationId xmlns:a16="http://schemas.microsoft.com/office/drawing/2014/main" id="{6DBBC377-7509-4217-880D-06599B50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329" y="2851663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predicted-profile-0-4">
            <a:extLst xmlns:a="http://schemas.openxmlformats.org/drawingml/2006/main">
              <a:ext uri="{FF2B5EF4-FFF2-40B4-BE49-F238E27FC236}">
                <a16:creationId xmlns:a16="http://schemas.microsoft.com/office/drawing/2014/main" id="{D9A8EDCB-7A6D-4E21-90BE-A3FCD35A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326" y="2851663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D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predicted-profile-1-0">
            <a:extLst xmlns:a="http://schemas.openxmlformats.org/drawingml/2006/main">
              <a:ext uri="{FF2B5EF4-FFF2-40B4-BE49-F238E27FC236}">
                <a16:creationId xmlns:a16="http://schemas.microsoft.com/office/drawing/2014/main" id="{FE2BA8EA-8351-4C66-90B2-173FC2AA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337" y="2931660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D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predicted-profile-1-1">
            <a:extLst xmlns:a="http://schemas.openxmlformats.org/drawingml/2006/main">
              <a:ext uri="{FF2B5EF4-FFF2-40B4-BE49-F238E27FC236}">
                <a16:creationId xmlns:a16="http://schemas.microsoft.com/office/drawing/2014/main" id="{C754BE88-2096-477A-AC80-A42D5273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334" y="2931660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predicted-profile-1-2">
            <a:extLst xmlns:a="http://schemas.openxmlformats.org/drawingml/2006/main">
              <a:ext uri="{FF2B5EF4-FFF2-40B4-BE49-F238E27FC236}">
                <a16:creationId xmlns:a16="http://schemas.microsoft.com/office/drawing/2014/main" id="{5F7A1C73-2D3A-44DE-8A3A-B56E4B7F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331" y="2931660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predicted-profile-1-3">
            <a:extLst xmlns:a="http://schemas.openxmlformats.org/drawingml/2006/main">
              <a:ext uri="{FF2B5EF4-FFF2-40B4-BE49-F238E27FC236}">
                <a16:creationId xmlns:a16="http://schemas.microsoft.com/office/drawing/2014/main" id="{A516EB3F-6F9F-4DFE-9F64-B509BD1B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329" y="2931660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A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predicted-profile-1-4">
            <a:extLst xmlns:a="http://schemas.openxmlformats.org/drawingml/2006/main">
              <a:ext uri="{FF2B5EF4-FFF2-40B4-BE49-F238E27FC236}">
                <a16:creationId xmlns:a16="http://schemas.microsoft.com/office/drawing/2014/main" id="{EE8D76F3-D444-49A5-93E0-96A02151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326" y="2931660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predicted-profile-2-0">
            <a:extLst xmlns:a="http://schemas.openxmlformats.org/drawingml/2006/main">
              <a:ext uri="{FF2B5EF4-FFF2-40B4-BE49-F238E27FC236}">
                <a16:creationId xmlns:a16="http://schemas.microsoft.com/office/drawing/2014/main" id="{5B0C7F36-A785-4B56-9A41-8A85D27E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337" y="3011657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predicted-profile-2-1">
            <a:extLst xmlns:a="http://schemas.openxmlformats.org/drawingml/2006/main">
              <a:ext uri="{FF2B5EF4-FFF2-40B4-BE49-F238E27FC236}">
                <a16:creationId xmlns:a16="http://schemas.microsoft.com/office/drawing/2014/main" id="{D3C9B390-9E47-4B38-B0B0-541D84F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334" y="3011657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predicted-profile-2-2">
            <a:extLst xmlns:a="http://schemas.openxmlformats.org/drawingml/2006/main">
              <a:ext uri="{FF2B5EF4-FFF2-40B4-BE49-F238E27FC236}">
                <a16:creationId xmlns:a16="http://schemas.microsoft.com/office/drawing/2014/main" id="{F89B5A1D-D93C-4799-B2B1-869EB6B8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331" y="3011657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predicted-profile-2-3">
            <a:extLst xmlns:a="http://schemas.openxmlformats.org/drawingml/2006/main">
              <a:ext uri="{FF2B5EF4-FFF2-40B4-BE49-F238E27FC236}">
                <a16:creationId xmlns:a16="http://schemas.microsoft.com/office/drawing/2014/main" id="{00D7923F-787E-42C3-8834-7386D201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329" y="3011657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D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predicted-profile-2-4">
            <a:extLst xmlns:a="http://schemas.openxmlformats.org/drawingml/2006/main">
              <a:ext uri="{FF2B5EF4-FFF2-40B4-BE49-F238E27FC236}">
                <a16:creationId xmlns:a16="http://schemas.microsoft.com/office/drawing/2014/main" id="{F23F5A5D-43D1-4CC7-9FB2-7EC83FE8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326" y="3011657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A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predicted-profile-3-0">
            <a:extLst xmlns:a="http://schemas.openxmlformats.org/drawingml/2006/main">
              <a:ext uri="{FF2B5EF4-FFF2-40B4-BE49-F238E27FC236}">
                <a16:creationId xmlns:a16="http://schemas.microsoft.com/office/drawing/2014/main" id="{B221B930-4A04-40A0-8F40-F09AFD06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337" y="3091654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predicted-profile-3-1">
            <a:extLst xmlns:a="http://schemas.openxmlformats.org/drawingml/2006/main">
              <a:ext uri="{FF2B5EF4-FFF2-40B4-BE49-F238E27FC236}">
                <a16:creationId xmlns:a16="http://schemas.microsoft.com/office/drawing/2014/main" id="{85EC942A-2C9A-4348-BE9F-509C2157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334" y="3091654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predicted-profile-3-2">
            <a:extLst xmlns:a="http://schemas.openxmlformats.org/drawingml/2006/main">
              <a:ext uri="{FF2B5EF4-FFF2-40B4-BE49-F238E27FC236}">
                <a16:creationId xmlns:a16="http://schemas.microsoft.com/office/drawing/2014/main" id="{284638AD-F3CE-44EC-B0B1-89AB0C96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331" y="3091654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predicted-profile-3-3">
            <a:extLst xmlns:a="http://schemas.openxmlformats.org/drawingml/2006/main">
              <a:ext uri="{FF2B5EF4-FFF2-40B4-BE49-F238E27FC236}">
                <a16:creationId xmlns:a16="http://schemas.microsoft.com/office/drawing/2014/main" id="{32F5A39A-4DB7-4276-B0B8-D02C75DB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329" y="3091654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predicted-profile-3-4">
            <a:extLst xmlns:a="http://schemas.openxmlformats.org/drawingml/2006/main">
              <a:ext uri="{FF2B5EF4-FFF2-40B4-BE49-F238E27FC236}">
                <a16:creationId xmlns:a16="http://schemas.microsoft.com/office/drawing/2014/main" id="{D8E8952E-5134-4391-B0EE-1CDF3B16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326" y="3091654"/>
            <a:ext cx="72939" cy="72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prediction-title">
            <a:extLst xmlns:a="http://schemas.openxmlformats.org/drawingml/2006/main">
              <a:ext uri="{FF2B5EF4-FFF2-40B4-BE49-F238E27FC236}">
                <a16:creationId xmlns:a16="http://schemas.microsoft.com/office/drawing/2014/main" id="{DD14BEA5-4210-45DF-9A70-EE2C8F1B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20" y="2611671"/>
            <a:ext cx="762326" cy="13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7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67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Predicted profile</a:t>
            </a:r>
          </a:p>
        </p:txBody>
      </p:sp>
      <p:sp>
        <p:nvSpPr>
          <p:cNvPr id="568" name="prediction-caption">
            <a:extLst xmlns:a="http://schemas.openxmlformats.org/drawingml/2006/main">
              <a:ext uri="{FF2B5EF4-FFF2-40B4-BE49-F238E27FC236}">
                <a16:creationId xmlns:a16="http://schemas.microsoft.com/office/drawing/2014/main" id="{964E6A07-2BA4-4C36-896A-72E41917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697" y="3312823"/>
            <a:ext cx="818794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22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22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Not observed data</a:t>
            </a:r>
          </a:p>
        </p:txBody>
      </p:sp>
      <p:sp>
        <p:nvSpPr>
          <p:cNvPr id="569" name="baseline-encode-anchor-1-a">
            <a:extLst xmlns:a="http://schemas.openxmlformats.org/drawingml/2006/main">
              <a:ext uri="{FF2B5EF4-FFF2-40B4-BE49-F238E27FC236}">
                <a16:creationId xmlns:a16="http://schemas.microsoft.com/office/drawing/2014/main" id="{B7647D3A-E3A6-4602-A988-EF24B6DA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94" y="302577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0" name="baseline-encode-anchor-1-b">
            <a:extLst xmlns:a="http://schemas.openxmlformats.org/drawingml/2006/main">
              <a:ext uri="{FF2B5EF4-FFF2-40B4-BE49-F238E27FC236}">
                <a16:creationId xmlns:a16="http://schemas.microsoft.com/office/drawing/2014/main" id="{179B036F-6741-4276-90BC-D92A03EA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966" y="302577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9" name=""/>
          <p:cNvCxnSpPr>
            <a:stCxn xmlns:a="http://schemas.openxmlformats.org/drawingml/2006/main" id="569" idx="3"/>
            <a:endCxn xmlns:a="http://schemas.openxmlformats.org/drawingml/2006/main" id="570" idx="1"/>
          </p:cNvCxnSpPr>
          <p:nvPr/>
        </p:nvCxnSpPr>
        <p:spPr>
          <a:xfrm xmlns:a="http://schemas.openxmlformats.org/drawingml/2006/main">
            <a:off x="654141" y="3025798"/>
            <a:ext cx="305825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solid"/>
            <a:tailEnd type="triangle" w="med" len="med"/>
          </a:ln>
        </p:spPr>
      </p:cxnSp>
      <p:sp>
        <p:nvSpPr>
          <p:cNvPr id="572" name="encode-condition-anchor-1-a">
            <a:extLst xmlns:a="http://schemas.openxmlformats.org/drawingml/2006/main">
              <a:ext uri="{FF2B5EF4-FFF2-40B4-BE49-F238E27FC236}">
                <a16:creationId xmlns:a16="http://schemas.microsoft.com/office/drawing/2014/main" id="{E6636992-315A-4C38-8843-5A6AF452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474" y="302577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3" name="encode-condition-anchor-1-b">
            <a:extLst xmlns:a="http://schemas.openxmlformats.org/drawingml/2006/main">
              <a:ext uri="{FF2B5EF4-FFF2-40B4-BE49-F238E27FC236}">
                <a16:creationId xmlns:a16="http://schemas.microsoft.com/office/drawing/2014/main" id="{EDB3842C-3A43-46E8-A337-357C99B4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054" y="302577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2" name=""/>
          <p:cNvCxnSpPr>
            <a:stCxn xmlns:a="http://schemas.openxmlformats.org/drawingml/2006/main" id="572" idx="3"/>
            <a:endCxn xmlns:a="http://schemas.openxmlformats.org/drawingml/2006/main" id="573" idx="1"/>
          </p:cNvCxnSpPr>
          <p:nvPr/>
        </p:nvCxnSpPr>
        <p:spPr>
          <a:xfrm xmlns:a="http://schemas.openxmlformats.org/drawingml/2006/main">
            <a:off x="1543521" y="3025798"/>
            <a:ext cx="230533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solid"/>
            <a:tailEnd type="triangle" w="med" len="med"/>
          </a:ln>
        </p:spPr>
      </p:cxnSp>
      <p:sp>
        <p:nvSpPr>
          <p:cNvPr id="575" name="state-decode-anchor-1-a">
            <a:extLst xmlns:a="http://schemas.openxmlformats.org/drawingml/2006/main">
              <a:ext uri="{FF2B5EF4-FFF2-40B4-BE49-F238E27FC236}">
                <a16:creationId xmlns:a16="http://schemas.microsoft.com/office/drawing/2014/main" id="{9D3C5703-5A30-4203-9243-6D367ABF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1674" y="302577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6" name="state-decode-anchor-1-b">
            <a:extLst xmlns:a="http://schemas.openxmlformats.org/drawingml/2006/main">
              <a:ext uri="{FF2B5EF4-FFF2-40B4-BE49-F238E27FC236}">
                <a16:creationId xmlns:a16="http://schemas.microsoft.com/office/drawing/2014/main" id="{A06F62C8-C59B-4547-B7E2-1631B0BA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371" y="302577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5" name=""/>
          <p:cNvCxnSpPr>
            <a:stCxn xmlns:a="http://schemas.openxmlformats.org/drawingml/2006/main" id="575" idx="3"/>
            <a:endCxn xmlns:a="http://schemas.openxmlformats.org/drawingml/2006/main" id="576" idx="1"/>
          </p:cNvCxnSpPr>
          <p:nvPr/>
        </p:nvCxnSpPr>
        <p:spPr>
          <a:xfrm xmlns:a="http://schemas.openxmlformats.org/drawingml/2006/main">
            <a:off x="2531721" y="3025798"/>
            <a:ext cx="244650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solid"/>
            <a:tailEnd type="triangle" w="med" len="med"/>
          </a:ln>
        </p:spPr>
      </p:cxnSp>
      <p:sp>
        <p:nvSpPr>
          <p:cNvPr id="578" name="decode-predict-anchor-1-a">
            <a:extLst xmlns:a="http://schemas.openxmlformats.org/drawingml/2006/main">
              <a:ext uri="{FF2B5EF4-FFF2-40B4-BE49-F238E27FC236}">
                <a16:creationId xmlns:a16="http://schemas.microsoft.com/office/drawing/2014/main" id="{4F807A3C-5472-448D-BCE7-BA47D66A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880" y="302577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9" name="decode-predict-anchor-1-b">
            <a:extLst xmlns:a="http://schemas.openxmlformats.org/drawingml/2006/main">
              <a:ext uri="{FF2B5EF4-FFF2-40B4-BE49-F238E27FC236}">
                <a16:creationId xmlns:a16="http://schemas.microsoft.com/office/drawing/2014/main" id="{556DB5AD-2DCA-4BC6-8D5E-59966805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163" y="3025774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8" name=""/>
          <p:cNvCxnSpPr>
            <a:stCxn xmlns:a="http://schemas.openxmlformats.org/drawingml/2006/main" id="578" idx="3"/>
            <a:endCxn xmlns:a="http://schemas.openxmlformats.org/drawingml/2006/main" id="579" idx="1"/>
          </p:cNvCxnSpPr>
          <p:nvPr/>
        </p:nvCxnSpPr>
        <p:spPr>
          <a:xfrm xmlns:a="http://schemas.openxmlformats.org/drawingml/2006/main">
            <a:off x="3359927" y="3025798"/>
            <a:ext cx="315236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253746"/>
            </a:solidFill>
            <a:prstDash val="dash"/>
            <a:tailEnd type="triangle" w="med" len="med"/>
          </a:ln>
        </p:spPr>
      </p:cxnSp>
      <p:sp>
        <p:nvSpPr>
          <p:cNvPr id="581" name="perturbation-input">
            <a:extLst xmlns:a="http://schemas.openxmlformats.org/drawingml/2006/main">
              <a:ext uri="{FF2B5EF4-FFF2-40B4-BE49-F238E27FC236}">
                <a16:creationId xmlns:a16="http://schemas.microsoft.com/office/drawing/2014/main" id="{586B29E7-5F88-41EC-AC47-EA621BB1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251" y="2376386"/>
            <a:ext cx="757620" cy="1364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0"/>
          </a:solidFill>
          <a:ln xmlns:a="http://schemas.openxmlformats.org/drawingml/2006/main" w="6117">
            <a:solidFill>
              <a:srgbClr val="B99654"/>
            </a:solidFill>
            <a:prstDash val="solid"/>
          </a:ln>
        </p:spPr>
      </p:sp>
      <p:sp>
        <p:nvSpPr>
          <p:cNvPr id="582" name="perturbation-text">
            <a:extLst xmlns:a="http://schemas.openxmlformats.org/drawingml/2006/main">
              <a:ext uri="{FF2B5EF4-FFF2-40B4-BE49-F238E27FC236}">
                <a16:creationId xmlns:a16="http://schemas.microsoft.com/office/drawing/2014/main" id="{0CA5FA62-C9CB-43E0-B456-EA35012B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074" y="2376386"/>
            <a:ext cx="719974" cy="136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Perturbation</a:t>
            </a:r>
          </a:p>
        </p:txBody>
      </p:sp>
      <p:sp>
        <p:nvSpPr>
          <p:cNvPr id="583" name="context-input">
            <a:extLst xmlns:a="http://schemas.openxmlformats.org/drawingml/2006/main">
              <a:ext uri="{FF2B5EF4-FFF2-40B4-BE49-F238E27FC236}">
                <a16:creationId xmlns:a16="http://schemas.microsoft.com/office/drawing/2014/main" id="{7134A9A9-8DB3-4433-AC3F-396465AB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977" y="2376386"/>
            <a:ext cx="635271" cy="1364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5"/>
          </a:solidFill>
          <a:ln xmlns:a="http://schemas.openxmlformats.org/drawingml/2006/main" w="6117">
            <a:solidFill>
              <a:srgbClr val="8D79AC"/>
            </a:solidFill>
            <a:prstDash val="solid"/>
          </a:ln>
        </p:spPr>
      </p:sp>
      <p:sp>
        <p:nvSpPr>
          <p:cNvPr id="584" name="context-text">
            <a:extLst xmlns:a="http://schemas.openxmlformats.org/drawingml/2006/main">
              <a:ext uri="{FF2B5EF4-FFF2-40B4-BE49-F238E27FC236}">
                <a16:creationId xmlns:a16="http://schemas.microsoft.com/office/drawing/2014/main" id="{70138AE1-ACEC-4646-87E6-9D0BFFD6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800" y="2376386"/>
            <a:ext cx="597626" cy="136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585" name="perturbation-condition-anchor-1-a">
            <a:extLst xmlns:a="http://schemas.openxmlformats.org/drawingml/2006/main">
              <a:ext uri="{FF2B5EF4-FFF2-40B4-BE49-F238E27FC236}">
                <a16:creationId xmlns:a16="http://schemas.microsoft.com/office/drawing/2014/main" id="{82AE001D-F38C-4A7D-BDD7-E3EE3A18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414" y="253638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6" name="perturbation-condition-anchor-1-b">
            <a:extLst xmlns:a="http://schemas.openxmlformats.org/drawingml/2006/main">
              <a:ext uri="{FF2B5EF4-FFF2-40B4-BE49-F238E27FC236}">
                <a16:creationId xmlns:a16="http://schemas.microsoft.com/office/drawing/2014/main" id="{CE1B1B58-B7AC-406A-9C8B-E40F95E3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414" y="278578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5" name=""/>
          <p:cNvCxnSpPr>
            <a:stCxn xmlns:a="http://schemas.openxmlformats.org/drawingml/2006/main" id="585" idx="2"/>
            <a:endCxn xmlns:a="http://schemas.openxmlformats.org/drawingml/2006/main" id="586" idx="0"/>
          </p:cNvCxnSpPr>
          <p:nvPr/>
        </p:nvCxnSpPr>
        <p:spPr>
          <a:xfrm xmlns:a="http://schemas.openxmlformats.org/drawingml/2006/main">
            <a:off x="1576438" y="2536427"/>
            <a:ext cx="0" cy="249356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B99654"/>
            </a:solidFill>
            <a:prstDash val="dash"/>
          </a:ln>
        </p:spPr>
      </p:cxnSp>
      <p:sp>
        <p:nvSpPr>
          <p:cNvPr id="588" name="perturbation-condition-anchor-2-a">
            <a:extLst xmlns:a="http://schemas.openxmlformats.org/drawingml/2006/main">
              <a:ext uri="{FF2B5EF4-FFF2-40B4-BE49-F238E27FC236}">
                <a16:creationId xmlns:a16="http://schemas.microsoft.com/office/drawing/2014/main" id="{FFAEE9BE-BF30-4DF0-8EF3-214850B3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414" y="278578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9" name="perturbation-condition-anchor-2-b">
            <a:extLst xmlns:a="http://schemas.openxmlformats.org/drawingml/2006/main">
              <a:ext uri="{FF2B5EF4-FFF2-40B4-BE49-F238E27FC236}">
                <a16:creationId xmlns:a16="http://schemas.microsoft.com/office/drawing/2014/main" id="{31ED5839-228C-4E04-BC2E-A840F0C8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00" y="278578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8" name=""/>
          <p:cNvCxnSpPr>
            <a:stCxn xmlns:a="http://schemas.openxmlformats.org/drawingml/2006/main" id="588" idx="3"/>
            <a:endCxn xmlns:a="http://schemas.openxmlformats.org/drawingml/2006/main" id="589" idx="1"/>
          </p:cNvCxnSpPr>
          <p:nvPr/>
        </p:nvCxnSpPr>
        <p:spPr>
          <a:xfrm xmlns:a="http://schemas.openxmlformats.org/drawingml/2006/main">
            <a:off x="1576461" y="2785807"/>
            <a:ext cx="399939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B99654"/>
            </a:solidFill>
            <a:prstDash val="dash"/>
          </a:ln>
        </p:spPr>
      </p:cxnSp>
      <p:sp>
        <p:nvSpPr>
          <p:cNvPr id="591" name="perturbation-condition-anchor-3-a">
            <a:extLst xmlns:a="http://schemas.openxmlformats.org/drawingml/2006/main">
              <a:ext uri="{FF2B5EF4-FFF2-40B4-BE49-F238E27FC236}">
                <a16:creationId xmlns:a16="http://schemas.microsoft.com/office/drawing/2014/main" id="{A4BEE3DD-F54E-4993-A69B-F9FF2F3C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00" y="278578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2" name="perturbation-condition-anchor-3-b">
            <a:extLst xmlns:a="http://schemas.openxmlformats.org/drawingml/2006/main">
              <a:ext uri="{FF2B5EF4-FFF2-40B4-BE49-F238E27FC236}">
                <a16:creationId xmlns:a16="http://schemas.microsoft.com/office/drawing/2014/main" id="{945F168E-54F2-4F85-8707-863778CF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00" y="285166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1" name=""/>
          <p:cNvCxnSpPr>
            <a:stCxn xmlns:a="http://schemas.openxmlformats.org/drawingml/2006/main" id="591" idx="2"/>
            <a:endCxn xmlns:a="http://schemas.openxmlformats.org/drawingml/2006/main" id="592" idx="0"/>
          </p:cNvCxnSpPr>
          <p:nvPr/>
        </p:nvCxnSpPr>
        <p:spPr>
          <a:xfrm xmlns:a="http://schemas.openxmlformats.org/drawingml/2006/main">
            <a:off x="1976424" y="2785830"/>
            <a:ext cx="0" cy="65833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B99654"/>
            </a:solidFill>
            <a:prstDash val="dash"/>
            <a:tailEnd type="triangle" w="med" len="med"/>
          </a:ln>
        </p:spPr>
      </p:cxnSp>
      <p:sp>
        <p:nvSpPr>
          <p:cNvPr id="594" name="context-condition-anchor-1-a">
            <a:extLst xmlns:a="http://schemas.openxmlformats.org/drawingml/2006/main">
              <a:ext uri="{FF2B5EF4-FFF2-40B4-BE49-F238E27FC236}">
                <a16:creationId xmlns:a16="http://schemas.microsoft.com/office/drawing/2014/main" id="{547E16B0-23D1-40D3-BEE2-16ECCADA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966" y="253638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5" name="context-condition-anchor-1-b">
            <a:extLst xmlns:a="http://schemas.openxmlformats.org/drawingml/2006/main">
              <a:ext uri="{FF2B5EF4-FFF2-40B4-BE49-F238E27FC236}">
                <a16:creationId xmlns:a16="http://schemas.microsoft.com/office/drawing/2014/main" id="{D248BFCB-4C21-49EF-A61C-ACAC2F53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966" y="278578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4" name=""/>
          <p:cNvCxnSpPr>
            <a:stCxn xmlns:a="http://schemas.openxmlformats.org/drawingml/2006/main" id="594" idx="2"/>
            <a:endCxn xmlns:a="http://schemas.openxmlformats.org/drawingml/2006/main" id="595" idx="0"/>
          </p:cNvCxnSpPr>
          <p:nvPr/>
        </p:nvCxnSpPr>
        <p:spPr>
          <a:xfrm xmlns:a="http://schemas.openxmlformats.org/drawingml/2006/main">
            <a:off x="2606990" y="2536427"/>
            <a:ext cx="0" cy="249356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8D79AC"/>
            </a:solidFill>
            <a:prstDash val="dash"/>
          </a:ln>
        </p:spPr>
      </p:cxnSp>
      <p:sp>
        <p:nvSpPr>
          <p:cNvPr id="597" name="context-condition-anchor-2-a">
            <a:extLst xmlns:a="http://schemas.openxmlformats.org/drawingml/2006/main">
              <a:ext uri="{FF2B5EF4-FFF2-40B4-BE49-F238E27FC236}">
                <a16:creationId xmlns:a16="http://schemas.microsoft.com/office/drawing/2014/main" id="{49E33B71-C3F5-4DAA-BFFE-5B44F27D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966" y="278578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8" name="context-condition-anchor-2-b">
            <a:extLst xmlns:a="http://schemas.openxmlformats.org/drawingml/2006/main">
              <a:ext uri="{FF2B5EF4-FFF2-40B4-BE49-F238E27FC236}">
                <a16:creationId xmlns:a16="http://schemas.microsoft.com/office/drawing/2014/main" id="{C3698792-F87B-481F-A08B-3A05F230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974" y="278578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7" name=""/>
          <p:cNvCxnSpPr>
            <a:stCxn xmlns:a="http://schemas.openxmlformats.org/drawingml/2006/main" id="597" idx="1"/>
            <a:endCxn xmlns:a="http://schemas.openxmlformats.org/drawingml/2006/main" id="598" idx="3"/>
          </p:cNvCxnSpPr>
          <p:nvPr/>
        </p:nvCxnSpPr>
        <p:spPr>
          <a:xfrm xmlns:a="http://schemas.openxmlformats.org/drawingml/2006/main" flipH="1">
            <a:off x="2367021" y="2785807"/>
            <a:ext cx="239945" cy="0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8D79AC"/>
            </a:solidFill>
            <a:prstDash val="dash"/>
          </a:ln>
        </p:spPr>
      </p:cxnSp>
      <p:sp>
        <p:nvSpPr>
          <p:cNvPr id="600" name="context-condition-anchor-3-a">
            <a:extLst xmlns:a="http://schemas.openxmlformats.org/drawingml/2006/main">
              <a:ext uri="{FF2B5EF4-FFF2-40B4-BE49-F238E27FC236}">
                <a16:creationId xmlns:a16="http://schemas.microsoft.com/office/drawing/2014/main" id="{75E08122-55AE-4A38-860B-D313C550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974" y="278578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1" name="context-condition-anchor-3-b">
            <a:extLst xmlns:a="http://schemas.openxmlformats.org/drawingml/2006/main">
              <a:ext uri="{FF2B5EF4-FFF2-40B4-BE49-F238E27FC236}">
                <a16:creationId xmlns:a16="http://schemas.microsoft.com/office/drawing/2014/main" id="{A7C6EDB2-8F44-4CF0-8C01-6CCCB949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974" y="2851663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0" name=""/>
          <p:cNvCxnSpPr>
            <a:stCxn xmlns:a="http://schemas.openxmlformats.org/drawingml/2006/main" id="600" idx="2"/>
            <a:endCxn xmlns:a="http://schemas.openxmlformats.org/drawingml/2006/main" id="601" idx="0"/>
          </p:cNvCxnSpPr>
          <p:nvPr/>
        </p:nvCxnSpPr>
        <p:spPr>
          <a:xfrm xmlns:a="http://schemas.openxmlformats.org/drawingml/2006/main">
            <a:off x="2366998" y="2785830"/>
            <a:ext cx="0" cy="65833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8D79AC"/>
            </a:solidFill>
            <a:prstDash val="dash"/>
            <a:tailEnd type="triangle" w="med" len="med"/>
          </a:ln>
        </p:spPr>
      </p:cxnSp>
      <p:sp>
        <p:nvSpPr>
          <p:cNvPr id="603" name="legend-solid-anchor-1-a">
            <a:extLst xmlns:a="http://schemas.openxmlformats.org/drawingml/2006/main">
              <a:ext uri="{FF2B5EF4-FFF2-40B4-BE49-F238E27FC236}">
                <a16:creationId xmlns:a16="http://schemas.microsoft.com/office/drawing/2014/main" id="{20F62831-68AC-4F26-B70B-DB4F1E7C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54" y="369398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4" name="legend-solid-anchor-1-b">
            <a:extLst xmlns:a="http://schemas.openxmlformats.org/drawingml/2006/main">
              <a:ext uri="{FF2B5EF4-FFF2-40B4-BE49-F238E27FC236}">
                <a16:creationId xmlns:a16="http://schemas.microsoft.com/office/drawing/2014/main" id="{28287C04-DF12-4EBF-AFA1-9FFA592C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17" y="369398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3" name=""/>
          <p:cNvCxnSpPr>
            <a:stCxn xmlns:a="http://schemas.openxmlformats.org/drawingml/2006/main" id="603" idx="3"/>
            <a:endCxn xmlns:a="http://schemas.openxmlformats.org/drawingml/2006/main" id="604" idx="1"/>
          </p:cNvCxnSpPr>
          <p:nvPr/>
        </p:nvCxnSpPr>
        <p:spPr>
          <a:xfrm xmlns:a="http://schemas.openxmlformats.org/drawingml/2006/main">
            <a:off x="291801" y="3694010"/>
            <a:ext cx="216416" cy="0"/>
          </a:xfrm>
          <a:prstGeom xmlns:a="http://schemas.openxmlformats.org/drawingml/2006/main" prst="straightConnector1">
            <a:avLst/>
          </a:prstGeom>
          <a:ln xmlns:a="http://schemas.openxmlformats.org/drawingml/2006/main" w="7529">
            <a:solidFill>
              <a:srgbClr val="253746"/>
            </a:solidFill>
            <a:prstDash val="solid"/>
            <a:tailEnd type="triangle" w="med" len="med"/>
          </a:ln>
        </p:spPr>
      </p:cxnSp>
      <p:sp>
        <p:nvSpPr>
          <p:cNvPr id="606" name="legend-solid-label">
            <a:extLst xmlns:a="http://schemas.openxmlformats.org/drawingml/2006/main">
              <a:ext uri="{FF2B5EF4-FFF2-40B4-BE49-F238E27FC236}">
                <a16:creationId xmlns:a16="http://schemas.microsoft.com/office/drawing/2014/main" id="{FC711911-C228-426E-A341-5D335D2C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69" y="3632811"/>
            <a:ext cx="719974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1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11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Computation</a:t>
            </a:r>
          </a:p>
        </p:txBody>
      </p:sp>
      <p:sp>
        <p:nvSpPr>
          <p:cNvPr id="607" name="legend-dashed-anchor-1-a">
            <a:extLst xmlns:a="http://schemas.openxmlformats.org/drawingml/2006/main">
              <a:ext uri="{FF2B5EF4-FFF2-40B4-BE49-F238E27FC236}">
                <a16:creationId xmlns:a16="http://schemas.microsoft.com/office/drawing/2014/main" id="{24C9AC55-2B15-44CD-A499-E6047921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54" y="369398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8" name="legend-dashed-anchor-1-b">
            <a:extLst xmlns:a="http://schemas.openxmlformats.org/drawingml/2006/main">
              <a:ext uri="{FF2B5EF4-FFF2-40B4-BE49-F238E27FC236}">
                <a16:creationId xmlns:a16="http://schemas.microsoft.com/office/drawing/2014/main" id="{6CFAEBFF-156E-418E-A439-CDD6B0C5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817" y="369398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7" name=""/>
          <p:cNvCxnSpPr>
            <a:stCxn xmlns:a="http://schemas.openxmlformats.org/drawingml/2006/main" id="607" idx="3"/>
            <a:endCxn xmlns:a="http://schemas.openxmlformats.org/drawingml/2006/main" id="608" idx="1"/>
          </p:cNvCxnSpPr>
          <p:nvPr/>
        </p:nvCxnSpPr>
        <p:spPr>
          <a:xfrm xmlns:a="http://schemas.openxmlformats.org/drawingml/2006/main">
            <a:off x="1609401" y="3694010"/>
            <a:ext cx="216416" cy="0"/>
          </a:xfrm>
          <a:prstGeom xmlns:a="http://schemas.openxmlformats.org/drawingml/2006/main" prst="straightConnector1">
            <a:avLst/>
          </a:prstGeom>
          <a:ln xmlns:a="http://schemas.openxmlformats.org/drawingml/2006/main" w="7529">
            <a:solidFill>
              <a:srgbClr val="253746"/>
            </a:solidFill>
            <a:prstDash val="dash"/>
            <a:tailEnd type="triangle" w="med" len="med"/>
          </a:ln>
        </p:spPr>
      </p:cxnSp>
      <p:sp>
        <p:nvSpPr>
          <p:cNvPr id="610" name="legend-dashed-label">
            <a:extLst xmlns:a="http://schemas.openxmlformats.org/drawingml/2006/main">
              <a:ext uri="{FF2B5EF4-FFF2-40B4-BE49-F238E27FC236}">
                <a16:creationId xmlns:a16="http://schemas.microsoft.com/office/drawing/2014/main" id="{CABEB0B8-D10D-47EE-A4F6-AC625917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169" y="3632811"/>
            <a:ext cx="1162311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1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11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Conditioning / prediction</a:t>
            </a:r>
          </a:p>
        </p:txBody>
      </p:sp>
      <p:sp>
        <p:nvSpPr>
          <p:cNvPr id="611" name="panel-c">
            <a:extLst xmlns:a="http://schemas.openxmlformats.org/drawingml/2006/main">
              <a:ext uri="{FF2B5EF4-FFF2-40B4-BE49-F238E27FC236}">
                <a16:creationId xmlns:a16="http://schemas.microsoft.com/office/drawing/2014/main" id="{D0ABEA4B-8C20-4F7F-9227-B5F937F4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366" y="2150511"/>
            <a:ext cx="122349" cy="141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12" name="panel-c-title">
            <a:extLst xmlns:a="http://schemas.openxmlformats.org/drawingml/2006/main">
              <a:ext uri="{FF2B5EF4-FFF2-40B4-BE49-F238E27FC236}">
                <a16:creationId xmlns:a16="http://schemas.microsoft.com/office/drawing/2014/main" id="{A8146DE6-4CBC-482D-A8F0-4ED0EB01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477" y="2150511"/>
            <a:ext cx="1755231" cy="141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85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85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Independent comparison unit</a:t>
            </a:r>
          </a:p>
        </p:txBody>
      </p:sp>
      <p:sp>
        <p:nvSpPr>
          <p:cNvPr id="613" name="donor-level-title">
            <a:extLst xmlns:a="http://schemas.openxmlformats.org/drawingml/2006/main">
              <a:ext uri="{FF2B5EF4-FFF2-40B4-BE49-F238E27FC236}">
                <a16:creationId xmlns:a16="http://schemas.microsoft.com/office/drawing/2014/main" id="{4A271459-9DA2-48A9-A320-87056F5E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011" y="2423443"/>
            <a:ext cx="1830523" cy="122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Cells nested within donor</a:t>
            </a:r>
          </a:p>
        </p:txBody>
      </p:sp>
      <p:sp>
        <p:nvSpPr>
          <p:cNvPr id="614" name="donor-group-0">
            <a:extLst xmlns:a="http://schemas.openxmlformats.org/drawingml/2006/main">
              <a:ext uri="{FF2B5EF4-FFF2-40B4-BE49-F238E27FC236}">
                <a16:creationId xmlns:a16="http://schemas.microsoft.com/office/drawing/2014/main" id="{594E8636-0DBD-4F29-B64F-36386E7C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243" y="2625789"/>
            <a:ext cx="512923" cy="555274"/>
          </a:xfrm>
          <a:prstGeom xmlns:a="http://schemas.openxmlformats.org/drawingml/2006/main" prst="roundRect">
            <a:avLst>
              <a:gd name="adj" fmla="val 14856"/>
            </a:avLst>
          </a:prstGeom>
          <a:noFill xmlns:a="http://schemas.openxmlformats.org/drawingml/2006/main"/>
          <a:ln xmlns:a="http://schemas.openxmlformats.org/drawingml/2006/main" w="6117">
            <a:solidFill>
              <a:srgbClr val="D7DEE3"/>
            </a:solidFill>
            <a:prstDash val="solid"/>
          </a:ln>
        </p:spPr>
      </p:sp>
      <p:sp>
        <p:nvSpPr>
          <p:cNvPr id="615" name="donor-group-label-0">
            <a:extLst xmlns:a="http://schemas.openxmlformats.org/drawingml/2006/main">
              <a:ext uri="{FF2B5EF4-FFF2-40B4-BE49-F238E27FC236}">
                <a16:creationId xmlns:a16="http://schemas.microsoft.com/office/drawing/2014/main" id="{28479C64-6092-43BB-ABA3-9D57DAED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243" y="3049303"/>
            <a:ext cx="512923" cy="108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D01</a:t>
            </a:r>
          </a:p>
        </p:txBody>
      </p:sp>
      <p:sp>
        <p:nvSpPr>
          <p:cNvPr id="616" name="nested-cell-0-0">
            <a:extLst xmlns:a="http://schemas.openxmlformats.org/drawingml/2006/main">
              <a:ext uri="{FF2B5EF4-FFF2-40B4-BE49-F238E27FC236}">
                <a16:creationId xmlns:a16="http://schemas.microsoft.com/office/drawing/2014/main" id="{C573D8CD-17F0-4B55-928D-A3004D6E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651" y="2705786"/>
            <a:ext cx="70586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6"/>
          </a:solidFill>
          <a:ln xmlns:a="http://schemas.openxmlformats.org/drawingml/2006/main" w="5647">
            <a:solidFill>
              <a:srgbClr val="52779C"/>
            </a:solidFill>
            <a:prstDash val="solid"/>
          </a:ln>
        </p:spPr>
      </p:sp>
      <p:sp>
        <p:nvSpPr>
          <p:cNvPr id="617" name="nested-cell-0-1">
            <a:extLst xmlns:a="http://schemas.openxmlformats.org/drawingml/2006/main">
              <a:ext uri="{FF2B5EF4-FFF2-40B4-BE49-F238E27FC236}">
                <a16:creationId xmlns:a16="http://schemas.microsoft.com/office/drawing/2014/main" id="{DF319E7D-B63D-48BD-BB0B-618D7444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411" y="2705786"/>
            <a:ext cx="70586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6"/>
          </a:solidFill>
          <a:ln xmlns:a="http://schemas.openxmlformats.org/drawingml/2006/main" w="5647">
            <a:solidFill>
              <a:srgbClr val="52779C"/>
            </a:solidFill>
            <a:prstDash val="solid"/>
          </a:ln>
        </p:spPr>
      </p:sp>
      <p:sp>
        <p:nvSpPr>
          <p:cNvPr id="618" name="nested-cell-0-2">
            <a:extLst xmlns:a="http://schemas.openxmlformats.org/drawingml/2006/main">
              <a:ext uri="{FF2B5EF4-FFF2-40B4-BE49-F238E27FC236}">
                <a16:creationId xmlns:a16="http://schemas.microsoft.com/office/drawing/2014/main" id="{2F8DBC1A-6969-49A3-9A0F-ECE790AF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171" y="2705786"/>
            <a:ext cx="70586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6"/>
          </a:solidFill>
          <a:ln xmlns:a="http://schemas.openxmlformats.org/drawingml/2006/main" w="5647">
            <a:solidFill>
              <a:srgbClr val="52779C"/>
            </a:solidFill>
            <a:prstDash val="solid"/>
          </a:ln>
        </p:spPr>
      </p:sp>
      <p:sp>
        <p:nvSpPr>
          <p:cNvPr id="619" name="nested-cell-0-3">
            <a:extLst xmlns:a="http://schemas.openxmlformats.org/drawingml/2006/main">
              <a:ext uri="{FF2B5EF4-FFF2-40B4-BE49-F238E27FC236}">
                <a16:creationId xmlns:a16="http://schemas.microsoft.com/office/drawing/2014/main" id="{6A07F857-4348-462D-9B9F-D5FF76DD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651" y="2856369"/>
            <a:ext cx="70586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5647">
            <a:solidFill>
              <a:srgbClr val="4C8B82"/>
            </a:solidFill>
            <a:prstDash val="solid"/>
          </a:ln>
        </p:spPr>
      </p:sp>
      <p:sp>
        <p:nvSpPr>
          <p:cNvPr id="620" name="nested-cell-0-4">
            <a:extLst xmlns:a="http://schemas.openxmlformats.org/drawingml/2006/main">
              <a:ext uri="{FF2B5EF4-FFF2-40B4-BE49-F238E27FC236}">
                <a16:creationId xmlns:a16="http://schemas.microsoft.com/office/drawing/2014/main" id="{7E6E6458-65E3-4AFD-89D3-A1695155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411" y="2856369"/>
            <a:ext cx="70586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5647">
            <a:solidFill>
              <a:srgbClr val="4C8B82"/>
            </a:solidFill>
            <a:prstDash val="solid"/>
          </a:ln>
        </p:spPr>
      </p:sp>
      <p:sp>
        <p:nvSpPr>
          <p:cNvPr id="621" name="nested-cell-0-5">
            <a:extLst xmlns:a="http://schemas.openxmlformats.org/drawingml/2006/main">
              <a:ext uri="{FF2B5EF4-FFF2-40B4-BE49-F238E27FC236}">
                <a16:creationId xmlns:a16="http://schemas.microsoft.com/office/drawing/2014/main" id="{360E6BD5-F584-4722-9EB8-E6221660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171" y="2856369"/>
            <a:ext cx="70586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5647">
            <a:solidFill>
              <a:srgbClr val="4C8B82"/>
            </a:solidFill>
            <a:prstDash val="solid"/>
          </a:ln>
        </p:spPr>
      </p:sp>
      <p:sp>
        <p:nvSpPr>
          <p:cNvPr id="622" name="donor-group-1">
            <a:extLst xmlns:a="http://schemas.openxmlformats.org/drawingml/2006/main">
              <a:ext uri="{FF2B5EF4-FFF2-40B4-BE49-F238E27FC236}">
                <a16:creationId xmlns:a16="http://schemas.microsoft.com/office/drawing/2014/main" id="{1CCDB1EA-4291-4315-B94D-5D1ECA5F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163" y="2625789"/>
            <a:ext cx="512923" cy="555274"/>
          </a:xfrm>
          <a:prstGeom xmlns:a="http://schemas.openxmlformats.org/drawingml/2006/main" prst="roundRect">
            <a:avLst>
              <a:gd name="adj" fmla="val 14856"/>
            </a:avLst>
          </a:prstGeom>
          <a:noFill xmlns:a="http://schemas.openxmlformats.org/drawingml/2006/main"/>
          <a:ln xmlns:a="http://schemas.openxmlformats.org/drawingml/2006/main" w="6117">
            <a:solidFill>
              <a:srgbClr val="D7DEE3"/>
            </a:solidFill>
            <a:prstDash val="solid"/>
          </a:ln>
        </p:spPr>
      </p:sp>
      <p:sp>
        <p:nvSpPr>
          <p:cNvPr id="623" name="donor-group-label-1">
            <a:extLst xmlns:a="http://schemas.openxmlformats.org/drawingml/2006/main">
              <a:ext uri="{FF2B5EF4-FFF2-40B4-BE49-F238E27FC236}">
                <a16:creationId xmlns:a16="http://schemas.microsoft.com/office/drawing/2014/main" id="{7A22CCF1-31E2-4AA3-8553-DA237D90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163" y="3049303"/>
            <a:ext cx="512923" cy="108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D02</a:t>
            </a:r>
          </a:p>
        </p:txBody>
      </p:sp>
      <p:sp>
        <p:nvSpPr>
          <p:cNvPr id="624" name="nested-cell-1-0">
            <a:extLst xmlns:a="http://schemas.openxmlformats.org/drawingml/2006/main">
              <a:ext uri="{FF2B5EF4-FFF2-40B4-BE49-F238E27FC236}">
                <a16:creationId xmlns:a16="http://schemas.microsoft.com/office/drawing/2014/main" id="{F2B2D63A-6296-4BB9-89ED-F4DCC9A3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571" y="2705786"/>
            <a:ext cx="70586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6"/>
          </a:solidFill>
          <a:ln xmlns:a="http://schemas.openxmlformats.org/drawingml/2006/main" w="5647">
            <a:solidFill>
              <a:srgbClr val="52779C"/>
            </a:solidFill>
            <a:prstDash val="solid"/>
          </a:ln>
        </p:spPr>
      </p:sp>
      <p:sp>
        <p:nvSpPr>
          <p:cNvPr id="625" name="nested-cell-1-1">
            <a:extLst xmlns:a="http://schemas.openxmlformats.org/drawingml/2006/main">
              <a:ext uri="{FF2B5EF4-FFF2-40B4-BE49-F238E27FC236}">
                <a16:creationId xmlns:a16="http://schemas.microsoft.com/office/drawing/2014/main" id="{149081EE-74E5-45B2-85C6-46448B50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331" y="2705786"/>
            <a:ext cx="70586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6"/>
          </a:solidFill>
          <a:ln xmlns:a="http://schemas.openxmlformats.org/drawingml/2006/main" w="5647">
            <a:solidFill>
              <a:srgbClr val="52779C"/>
            </a:solidFill>
            <a:prstDash val="solid"/>
          </a:ln>
        </p:spPr>
      </p:sp>
      <p:sp>
        <p:nvSpPr>
          <p:cNvPr id="626" name="nested-cell-1-2">
            <a:extLst xmlns:a="http://schemas.openxmlformats.org/drawingml/2006/main">
              <a:ext uri="{FF2B5EF4-FFF2-40B4-BE49-F238E27FC236}">
                <a16:creationId xmlns:a16="http://schemas.microsoft.com/office/drawing/2014/main" id="{F01CEC05-EABA-4BBB-989B-5F32AB7B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5091" y="2705786"/>
            <a:ext cx="70586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6"/>
          </a:solidFill>
          <a:ln xmlns:a="http://schemas.openxmlformats.org/drawingml/2006/main" w="5647">
            <a:solidFill>
              <a:srgbClr val="52779C"/>
            </a:solidFill>
            <a:prstDash val="solid"/>
          </a:ln>
        </p:spPr>
      </p:sp>
      <p:sp>
        <p:nvSpPr>
          <p:cNvPr id="627" name="nested-cell-1-3">
            <a:extLst xmlns:a="http://schemas.openxmlformats.org/drawingml/2006/main">
              <a:ext uri="{FF2B5EF4-FFF2-40B4-BE49-F238E27FC236}">
                <a16:creationId xmlns:a16="http://schemas.microsoft.com/office/drawing/2014/main" id="{89D84268-1A86-422F-870C-B37712C3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571" y="2856369"/>
            <a:ext cx="70586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5647">
            <a:solidFill>
              <a:srgbClr val="4C8B82"/>
            </a:solidFill>
            <a:prstDash val="solid"/>
          </a:ln>
        </p:spPr>
      </p:sp>
      <p:sp>
        <p:nvSpPr>
          <p:cNvPr id="628" name="nested-cell-1-4">
            <a:extLst xmlns:a="http://schemas.openxmlformats.org/drawingml/2006/main">
              <a:ext uri="{FF2B5EF4-FFF2-40B4-BE49-F238E27FC236}">
                <a16:creationId xmlns:a16="http://schemas.microsoft.com/office/drawing/2014/main" id="{A5DE515E-8061-4143-8A13-1CA2E67F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331" y="2856369"/>
            <a:ext cx="70586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5647">
            <a:solidFill>
              <a:srgbClr val="4C8B82"/>
            </a:solidFill>
            <a:prstDash val="solid"/>
          </a:ln>
        </p:spPr>
      </p:sp>
      <p:sp>
        <p:nvSpPr>
          <p:cNvPr id="629" name="nested-cell-1-5">
            <a:extLst xmlns:a="http://schemas.openxmlformats.org/drawingml/2006/main">
              <a:ext uri="{FF2B5EF4-FFF2-40B4-BE49-F238E27FC236}">
                <a16:creationId xmlns:a16="http://schemas.microsoft.com/office/drawing/2014/main" id="{009F9E16-7AA5-4FC1-ACFA-90BAF758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5091" y="2856369"/>
            <a:ext cx="70586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5647">
            <a:solidFill>
              <a:srgbClr val="4C8B82"/>
            </a:solidFill>
            <a:prstDash val="solid"/>
          </a:ln>
        </p:spPr>
      </p:sp>
      <p:sp>
        <p:nvSpPr>
          <p:cNvPr id="630" name="donor-group-2">
            <a:extLst xmlns:a="http://schemas.openxmlformats.org/drawingml/2006/main">
              <a:ext uri="{FF2B5EF4-FFF2-40B4-BE49-F238E27FC236}">
                <a16:creationId xmlns:a16="http://schemas.microsoft.com/office/drawing/2014/main" id="{167B3F10-01BA-4818-B0B5-AC5EB891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83" y="2625789"/>
            <a:ext cx="512923" cy="555274"/>
          </a:xfrm>
          <a:prstGeom xmlns:a="http://schemas.openxmlformats.org/drawingml/2006/main" prst="roundRect">
            <a:avLst>
              <a:gd name="adj" fmla="val 14856"/>
            </a:avLst>
          </a:prstGeom>
          <a:noFill xmlns:a="http://schemas.openxmlformats.org/drawingml/2006/main"/>
          <a:ln xmlns:a="http://schemas.openxmlformats.org/drawingml/2006/main" w="6117">
            <a:solidFill>
              <a:srgbClr val="D7DEE3"/>
            </a:solidFill>
            <a:prstDash val="solid"/>
          </a:ln>
        </p:spPr>
      </p:sp>
      <p:sp>
        <p:nvSpPr>
          <p:cNvPr id="631" name="donor-group-label-2">
            <a:extLst xmlns:a="http://schemas.openxmlformats.org/drawingml/2006/main">
              <a:ext uri="{FF2B5EF4-FFF2-40B4-BE49-F238E27FC236}">
                <a16:creationId xmlns:a16="http://schemas.microsoft.com/office/drawing/2014/main" id="{E64AD4C4-E5B4-43FE-ADEF-D02AB31F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83" y="3049303"/>
            <a:ext cx="512923" cy="108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D03</a:t>
            </a:r>
          </a:p>
        </p:txBody>
      </p:sp>
      <p:sp>
        <p:nvSpPr>
          <p:cNvPr id="632" name="nested-cell-2-0">
            <a:extLst xmlns:a="http://schemas.openxmlformats.org/drawingml/2006/main">
              <a:ext uri="{FF2B5EF4-FFF2-40B4-BE49-F238E27FC236}">
                <a16:creationId xmlns:a16="http://schemas.microsoft.com/office/drawing/2014/main" id="{BCE71928-98FB-4B0D-BD51-C0A787E8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491" y="2705786"/>
            <a:ext cx="70586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6"/>
          </a:solidFill>
          <a:ln xmlns:a="http://schemas.openxmlformats.org/drawingml/2006/main" w="5647">
            <a:solidFill>
              <a:srgbClr val="52779C"/>
            </a:solidFill>
            <a:prstDash val="solid"/>
          </a:ln>
        </p:spPr>
      </p:sp>
      <p:sp>
        <p:nvSpPr>
          <p:cNvPr id="633" name="nested-cell-2-1">
            <a:extLst xmlns:a="http://schemas.openxmlformats.org/drawingml/2006/main">
              <a:ext uri="{FF2B5EF4-FFF2-40B4-BE49-F238E27FC236}">
                <a16:creationId xmlns:a16="http://schemas.microsoft.com/office/drawing/2014/main" id="{8873B2D4-7959-4191-8E00-47B44149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251" y="2705786"/>
            <a:ext cx="70586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6"/>
          </a:solidFill>
          <a:ln xmlns:a="http://schemas.openxmlformats.org/drawingml/2006/main" w="5647">
            <a:solidFill>
              <a:srgbClr val="52779C"/>
            </a:solidFill>
            <a:prstDash val="solid"/>
          </a:ln>
        </p:spPr>
      </p:sp>
      <p:sp>
        <p:nvSpPr>
          <p:cNvPr id="634" name="nested-cell-2-2">
            <a:extLst xmlns:a="http://schemas.openxmlformats.org/drawingml/2006/main">
              <a:ext uri="{FF2B5EF4-FFF2-40B4-BE49-F238E27FC236}">
                <a16:creationId xmlns:a16="http://schemas.microsoft.com/office/drawing/2014/main" id="{A718E3CD-15AB-4BA8-A00D-26D65ACA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011" y="2705786"/>
            <a:ext cx="70586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6"/>
          </a:solidFill>
          <a:ln xmlns:a="http://schemas.openxmlformats.org/drawingml/2006/main" w="5647">
            <a:solidFill>
              <a:srgbClr val="52779C"/>
            </a:solidFill>
            <a:prstDash val="solid"/>
          </a:ln>
        </p:spPr>
      </p:sp>
      <p:sp>
        <p:nvSpPr>
          <p:cNvPr id="635" name="nested-cell-2-3">
            <a:extLst xmlns:a="http://schemas.openxmlformats.org/drawingml/2006/main">
              <a:ext uri="{FF2B5EF4-FFF2-40B4-BE49-F238E27FC236}">
                <a16:creationId xmlns:a16="http://schemas.microsoft.com/office/drawing/2014/main" id="{CE66C44E-B1F3-488F-BF0F-527EEE66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491" y="2856369"/>
            <a:ext cx="70586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5647">
            <a:solidFill>
              <a:srgbClr val="4C8B82"/>
            </a:solidFill>
            <a:prstDash val="solid"/>
          </a:ln>
        </p:spPr>
      </p:sp>
      <p:sp>
        <p:nvSpPr>
          <p:cNvPr id="636" name="nested-cell-2-4">
            <a:extLst xmlns:a="http://schemas.openxmlformats.org/drawingml/2006/main">
              <a:ext uri="{FF2B5EF4-FFF2-40B4-BE49-F238E27FC236}">
                <a16:creationId xmlns:a16="http://schemas.microsoft.com/office/drawing/2014/main" id="{D89A722E-174C-4E86-B3AF-2CA89489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251" y="2856369"/>
            <a:ext cx="70586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5647">
            <a:solidFill>
              <a:srgbClr val="4C8B82"/>
            </a:solidFill>
            <a:prstDash val="solid"/>
          </a:ln>
        </p:spPr>
      </p:sp>
      <p:sp>
        <p:nvSpPr>
          <p:cNvPr id="637" name="nested-cell-2-5">
            <a:extLst xmlns:a="http://schemas.openxmlformats.org/drawingml/2006/main">
              <a:ext uri="{FF2B5EF4-FFF2-40B4-BE49-F238E27FC236}">
                <a16:creationId xmlns:a16="http://schemas.microsoft.com/office/drawing/2014/main" id="{D17B61F5-AB23-4795-AC79-585C3889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011" y="2856369"/>
            <a:ext cx="70586" cy="84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5647">
            <a:solidFill>
              <a:srgbClr val="4C8B82"/>
            </a:solidFill>
            <a:prstDash val="solid"/>
          </a:ln>
        </p:spPr>
      </p:sp>
      <p:sp>
        <p:nvSpPr>
          <p:cNvPr id="638" name="cells-to-donor-summary-anchor-1-a">
            <a:extLst xmlns:a="http://schemas.openxmlformats.org/drawingml/2006/main">
              <a:ext uri="{FF2B5EF4-FFF2-40B4-BE49-F238E27FC236}">
                <a16:creationId xmlns:a16="http://schemas.microsoft.com/office/drawing/2014/main" id="{8476C58D-921C-44BC-A69D-56EF2507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977" y="322812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9" name="cells-to-donor-summary-anchor-1-b">
            <a:extLst xmlns:a="http://schemas.openxmlformats.org/drawingml/2006/main">
              <a:ext uri="{FF2B5EF4-FFF2-40B4-BE49-F238E27FC236}">
                <a16:creationId xmlns:a16="http://schemas.microsoft.com/office/drawing/2014/main" id="{DA40A324-4212-493B-8612-2BF581D6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977" y="3397526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8" name=""/>
          <p:cNvCxnSpPr>
            <a:stCxn xmlns:a="http://schemas.openxmlformats.org/drawingml/2006/main" id="638" idx="2"/>
            <a:endCxn xmlns:a="http://schemas.openxmlformats.org/drawingml/2006/main" id="639" idx="0"/>
          </p:cNvCxnSpPr>
          <p:nvPr/>
        </p:nvCxnSpPr>
        <p:spPr>
          <a:xfrm xmlns:a="http://schemas.openxmlformats.org/drawingml/2006/main">
            <a:off x="5581001" y="3228167"/>
            <a:ext cx="0" cy="169359"/>
          </a:xfrm>
          <a:prstGeom xmlns:a="http://schemas.openxmlformats.org/drawingml/2006/main" prst="straightConnector1">
            <a:avLst/>
          </a:prstGeom>
          <a:ln xmlns:a="http://schemas.openxmlformats.org/drawingml/2006/main" w="8470">
            <a:solidFill>
              <a:srgbClr val="56636F"/>
            </a:solidFill>
            <a:prstDash val="solid"/>
            <a:tailEnd type="triangle" w="med" len="med"/>
          </a:ln>
        </p:spPr>
      </p:cxnSp>
      <p:sp>
        <p:nvSpPr>
          <p:cNvPr id="641" name="summary-control">
            <a:extLst xmlns:a="http://schemas.openxmlformats.org/drawingml/2006/main">
              <a:ext uri="{FF2B5EF4-FFF2-40B4-BE49-F238E27FC236}">
                <a16:creationId xmlns:a16="http://schemas.microsoft.com/office/drawing/2014/main" id="{421C0F01-E2FD-46F4-832D-7CAC380C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643" y="3449289"/>
            <a:ext cx="79997" cy="79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6"/>
          </a:solidFill>
          <a:ln xmlns:a="http://schemas.openxmlformats.org/drawingml/2006/main" w="7529">
            <a:solidFill>
              <a:srgbClr val="52779C"/>
            </a:solidFill>
            <a:prstDash val="solid"/>
          </a:ln>
        </p:spPr>
      </p:sp>
      <p:sp>
        <p:nvSpPr>
          <p:cNvPr id="642" name="summary-stimulated">
            <a:extLst xmlns:a="http://schemas.openxmlformats.org/drawingml/2006/main">
              <a:ext uri="{FF2B5EF4-FFF2-40B4-BE49-F238E27FC236}">
                <a16:creationId xmlns:a16="http://schemas.microsoft.com/office/drawing/2014/main" id="{3F80298D-44D1-41D1-8186-EE05D859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74" y="3439877"/>
            <a:ext cx="103526" cy="103526"/>
          </a:xfrm>
          <a:custGeom xmlns:a="http://schemas.openxmlformats.org/drawingml/2006/main">
            <a:pathLst>
              <a:path w="209550" h="209550">
                <a:moveTo>
                  <a:pt x="104775" y="0"/>
                </a:moveTo>
                <a:lnTo>
                  <a:pt x="209550" y="104775"/>
                </a:lnTo>
                <a:lnTo>
                  <a:pt x="104775" y="209550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E7F2EF"/>
          </a:solidFill>
          <a:ln xmlns:a="http://schemas.openxmlformats.org/drawingml/2006/main" w="8000">
            <a:solidFill>
              <a:srgbClr val="4C8B82"/>
            </a:solidFill>
            <a:prstDash val="solid"/>
          </a:ln>
        </p:spPr>
      </p:sp>
      <p:sp>
        <p:nvSpPr>
          <p:cNvPr id="643" name="paired-summary-anchor-1-a">
            <a:extLst xmlns:a="http://schemas.openxmlformats.org/drawingml/2006/main">
              <a:ext uri="{FF2B5EF4-FFF2-40B4-BE49-F238E27FC236}">
                <a16:creationId xmlns:a16="http://schemas.microsoft.com/office/drawing/2014/main" id="{9431333E-D58F-44D5-9C60-55DFFC2B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580" y="349164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4" name="paired-summary-anchor-1-b">
            <a:extLst xmlns:a="http://schemas.openxmlformats.org/drawingml/2006/main">
              <a:ext uri="{FF2B5EF4-FFF2-40B4-BE49-F238E27FC236}">
                <a16:creationId xmlns:a16="http://schemas.microsoft.com/office/drawing/2014/main" id="{4F19E895-FB46-4152-90F8-54E4A1BB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140" y="3491640"/>
            <a:ext cx="47" cy="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3" name=""/>
          <p:cNvCxnSpPr>
            <a:stCxn xmlns:a="http://schemas.openxmlformats.org/drawingml/2006/main" id="643" idx="3"/>
            <a:endCxn xmlns:a="http://schemas.openxmlformats.org/drawingml/2006/main" id="644" idx="1"/>
          </p:cNvCxnSpPr>
          <p:nvPr/>
        </p:nvCxnSpPr>
        <p:spPr>
          <a:xfrm xmlns:a="http://schemas.openxmlformats.org/drawingml/2006/main">
            <a:off x="5171627" y="3491664"/>
            <a:ext cx="790513" cy="0"/>
          </a:xfrm>
          <a:prstGeom xmlns:a="http://schemas.openxmlformats.org/drawingml/2006/main" prst="straightConnector1">
            <a:avLst/>
          </a:prstGeom>
          <a:ln xmlns:a="http://schemas.openxmlformats.org/drawingml/2006/main" w="6117">
            <a:solidFill>
              <a:srgbClr val="56636F"/>
            </a:solidFill>
            <a:prstDash val="solid"/>
          </a:ln>
        </p:spPr>
      </p:cxnSp>
      <p:sp>
        <p:nvSpPr>
          <p:cNvPr id="646" name="paired-summary-label">
            <a:extLst xmlns:a="http://schemas.openxmlformats.org/drawingml/2006/main">
              <a:ext uri="{FF2B5EF4-FFF2-40B4-BE49-F238E27FC236}">
                <a16:creationId xmlns:a16="http://schemas.microsoft.com/office/drawing/2014/main" id="{9C10ABA6-3F13-4108-92E7-5FDB1FF7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363" y="3604577"/>
            <a:ext cx="1792877" cy="117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7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37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Paired donor summaries</a:t>
            </a:r>
          </a:p>
        </p:txBody>
      </p:sp>
      <p:sp>
        <p:nvSpPr>
          <p:cNvPr id="647" name="donor-unit-label">
            <a:extLst xmlns:a="http://schemas.openxmlformats.org/drawingml/2006/main">
              <a:ext uri="{FF2B5EF4-FFF2-40B4-BE49-F238E27FC236}">
                <a16:creationId xmlns:a16="http://schemas.microsoft.com/office/drawing/2014/main" id="{EFD8C11B-1BEE-41AB-AB15-28EA8A6D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423" y="3764571"/>
            <a:ext cx="1858757" cy="122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Donor difference is the unit</a:t>
            </a:r>
          </a:p>
        </p:txBody>
      </p:sp>
      <p:sp>
        <p:nvSpPr>
          <p:cNvPr id="648" name="nature-disclosure">
            <a:extLst xmlns:a="http://schemas.openxmlformats.org/drawingml/2006/main">
              <a:ext uri="{FF2B5EF4-FFF2-40B4-BE49-F238E27FC236}">
                <a16:creationId xmlns:a16="http://schemas.microsoft.com/office/drawing/2014/main" id="{A930244F-246A-496B-8B3B-9146DB4F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91" y="3957506"/>
            <a:ext cx="6437417" cy="122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74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574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Illustrative concept. Cell geometry, tile shading and donor examples are not measurements.</a:t>
            </a:r>
          </a:p>
        </p:txBody>
      </p:sp>
    </p:spTree>
    <p:extLst>
      <p:ext uri="{BB962C8B-B14F-4D97-AF65-F5344CB8AC3E}">
        <p14:creationId xmlns:p14="http://schemas.microsoft.com/office/powerpoint/2010/main" val="15714860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Slides>1</ns0:Slides>
  <ns0:Notes>1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ns0="http://schemas.openxmlformats.org/package/2006/metadata/core-properties">
  <dc:creator>Open Research Skills contributors</dc:creator>
  <ns0:lastModifiedBy>Open Research Skills contributors</ns0:lastModifiedBy>
  <dc:title>Nature spatial mechanism</dc:title>
</ns0:coreProperties>
</file>