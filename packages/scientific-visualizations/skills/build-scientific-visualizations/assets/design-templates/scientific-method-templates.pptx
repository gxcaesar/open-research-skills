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48d46babd486f" /><Relationship Type="http://schemas.openxmlformats.org/officeDocument/2006/relationships/extended-properties" Target="/docProps/app.xml" Id="Raa7ff6e0879e42dd" /><Relationship Type="http://schemas.openxmlformats.org/officeDocument/2006/relationships/officeDocument" Target="/ppt/presentation.xml" Id="R7cb69253d112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60a8f582c418a"/>
  </p:sldMasterIdLst>
  <p:notesMasterIdLst>
    <p:notesMasterId xmlns:r="http://schemas.openxmlformats.org/officeDocument/2006/relationships" r:id="Reb23d8a81103419d"/>
  </p:notesMasterIdLst>
  <p:sldIdLst>
    <p:sldId xmlns:r="http://schemas.openxmlformats.org/officeDocument/2006/relationships" id="256" r:id="Rdac3787566154645"/>
    <p:sldId xmlns:r="http://schemas.openxmlformats.org/officeDocument/2006/relationships" id="257" r:id="Ra645d3d2c2f44bce"/>
    <p:sldId xmlns:r="http://schemas.openxmlformats.org/officeDocument/2006/relationships" id="258" r:id="Rc98b790555324d95"/>
  </p:sldIdLst>
  <p:sldSz cx="6480000" cy="39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7e1fb91e34426" /><Relationship Type="http://schemas.openxmlformats.org/officeDocument/2006/relationships/slideMaster" Target="/ppt/slideMasters/slideMaster1.xml" Id="R7c360a8f582c418a" /><Relationship Type="http://schemas.openxmlformats.org/officeDocument/2006/relationships/notesMaster" Target="/ppt/notesMasters/notesMaster1.xml" Id="Reb23d8a81103419d" /><Relationship Type="http://schemas.openxmlformats.org/officeDocument/2006/relationships/presProps" Target="/ppt/presProps.xml" Id="Ra7f2c5d51d9f487d" /><Relationship Type="http://schemas.openxmlformats.org/officeDocument/2006/relationships/tableStyles" Target="/ppt/tableStyles.xml" Id="Re48b0e1d7e1f4ba5" /><Relationship Type="http://schemas.openxmlformats.org/officeDocument/2006/relationships/slide" Target="/ppt/slides/slide1.xml" Id="Rdac3787566154645" /><Relationship Type="http://schemas.openxmlformats.org/officeDocument/2006/relationships/slide" Target="/ppt/slides/slide2.xml" Id="Ra645d3d2c2f44bce" /><Relationship Type="http://schemas.openxmlformats.org/officeDocument/2006/relationships/slide" Target="/ppt/slides/slide3.xml" Id="Rc98b790555324d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4c7b21f16a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64085062b47eb" /><Relationship Type="http://schemas.openxmlformats.org/officeDocument/2006/relationships/notesMaster" Target="/ppt/notesMasters/notesMaster1.xml" Id="R003a4e48a627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0f67ec47774293" /><Relationship Type="http://schemas.openxmlformats.org/officeDocument/2006/relationships/notesMaster" Target="/ppt/notesMasters/notesMaster1.xml" Id="Ra6dd15beee94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4d86a5e0142f4" /><Relationship Type="http://schemas.openxmlformats.org/officeDocument/2006/relationships/notesMaster" Target="/ppt/notesMasters/notesMaster1.xml" Id="R145c7695f0b643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https://proceedings.mlr.press/v267/schneider25a.html (Schneider et al., 2025), Sections 3.1–3.3 and Figure 1. Equation 4 motivates p(I; γ, ϕ); Equation 6 motivates the displayed posterior-predictive approximation. The editable labels (I, ψ) and p(I, ψ; γ*, ϕ*) explicitly expand the joint latent notation in Equation 5; this is a notation-rendering choice and adds no scientific assumption. This source-corrected schematic uses a generic DAG rather than a recovered topology. Visual design was AI-assisted; scientific content was checked against the cited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layout template. Replace all placeholders before use. This slide presents no empirical result or method-performance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Reusable comparison layout template. The two routes are neutral placeholders and do not encode a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8838809c5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5cbde9c02a4dc4" /><Relationship Type="http://schemas.openxmlformats.org/officeDocument/2006/relationships/slideLayout" Target="/ppt/slideLayouts/slideLayout1.xml" Id="Ra1755b6cc8944d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55b6cc8944d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d04b41d344897" /><Relationship Type="http://schemas.openxmlformats.org/officeDocument/2006/relationships/notesSlide" Target="/ppt/notesSlides/notesSlide1.xml" Id="R4518168d723e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318304327405f" /><Relationship Type="http://schemas.openxmlformats.org/officeDocument/2006/relationships/notesSlide" Target="/ppt/notesSlides/notesSlide2.xml" Id="R3c19d614fc7d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b8a5bbe914c73" /><Relationship Type="http://schemas.openxmlformats.org/officeDocument/2006/relationships/notesSlide" Target="/ppt/notesSlides/notesSlide3.xml" Id="Reb88501cd0f0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789B07-F45B-4A01-99E5-C454E86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6200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Generative intervention model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76F939D-2276-4DE6-884B-BD6C3DB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" y="295275"/>
            <a:ext cx="617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315B7D"/>
            </a:solidFill>
            <a:prstDash val="solid"/>
          </a:ln>
        </p:spPr>
      </p:sp>
      <p:sp>
        <p:nvSpPr>
          <p:cNvPr id="3" name="learning-stage-label">
            <a:extLst xmlns:a="http://schemas.openxmlformats.org/drawingml/2006/main">
              <a:ext uri="{FF2B5EF4-FFF2-40B4-BE49-F238E27FC236}">
                <a16:creationId xmlns:a16="http://schemas.microsoft.com/office/drawing/2014/main" id="{6D40A2DB-B38A-4980-AF74-63E21FE3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Learn from observed environments</a:t>
            </a:r>
          </a:p>
        </p:txBody>
      </p:sp>
      <p:sp>
        <p:nvSpPr>
          <p:cNvPr id="4" name="observed-heading">
            <a:extLst xmlns:a="http://schemas.openxmlformats.org/drawingml/2006/main">
              <a:ext uri="{FF2B5EF4-FFF2-40B4-BE49-F238E27FC236}">
                <a16:creationId xmlns:a16="http://schemas.microsoft.com/office/drawing/2014/main" id="{D0BB5F7E-FE2B-4222-ACFE-6CBAC2E2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571500"/>
            <a:ext cx="1352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15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Observed environments</a:t>
            </a:r>
          </a:p>
        </p:txBody>
      </p:sp>
      <p:sp>
        <p:nvSpPr>
          <p:cNvPr id="5" name="observed-x-label">
            <a:extLst xmlns:a="http://schemas.openxmlformats.org/drawingml/2006/main">
              <a:ext uri="{FF2B5EF4-FFF2-40B4-BE49-F238E27FC236}">
                <a16:creationId xmlns:a16="http://schemas.microsoft.com/office/drawing/2014/main" id="{3D39E5E0-C51B-490D-9F1E-71FA7826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86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X⁽ᵏ⁾</a:t>
            </a:r>
          </a:p>
        </p:txBody>
      </p:sp>
      <p:sp>
        <p:nvSpPr>
          <p:cNvPr id="6" name="observed-gamma-label">
            <a:extLst xmlns:a="http://schemas.openxmlformats.org/drawingml/2006/main">
              <a:ext uri="{FF2B5EF4-FFF2-40B4-BE49-F238E27FC236}">
                <a16:creationId xmlns:a16="http://schemas.microsoft.com/office/drawing/2014/main" id="{CDCA2AF4-F268-40B1-904E-2BE60218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42950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86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γ⁽ᵏ⁾</a:t>
            </a:r>
          </a:p>
        </p:txBody>
      </p:sp>
      <p:sp>
        <p:nvSpPr>
          <p:cNvPr id="7" name="observed-matrix-layer-0">
            <a:extLst xmlns:a="http://schemas.openxmlformats.org/drawingml/2006/main">
              <a:ext uri="{FF2B5EF4-FFF2-40B4-BE49-F238E27FC236}">
                <a16:creationId xmlns:a16="http://schemas.microsoft.com/office/drawing/2014/main" id="{472BC735-5B56-4429-9358-54A7318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8" name="observed-matrix-layer-1">
            <a:extLst xmlns:a="http://schemas.openxmlformats.org/drawingml/2006/main">
              <a:ext uri="{FF2B5EF4-FFF2-40B4-BE49-F238E27FC236}">
                <a16:creationId xmlns:a16="http://schemas.microsoft.com/office/drawing/2014/main" id="{48326E39-681A-41C4-97CA-CFF77E44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953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9" name="observed-matrix-layer-2">
            <a:extLst xmlns:a="http://schemas.openxmlformats.org/drawingml/2006/main">
              <a:ext uri="{FF2B5EF4-FFF2-40B4-BE49-F238E27FC236}">
                <a16:creationId xmlns:a16="http://schemas.microsoft.com/office/drawing/2014/main" id="{9BAB2245-03AC-4DFD-BFE7-10947B9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438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F3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10" name="observed-cell-0-0">
            <a:extLst xmlns:a="http://schemas.openxmlformats.org/drawingml/2006/main">
              <a:ext uri="{FF2B5EF4-FFF2-40B4-BE49-F238E27FC236}">
                <a16:creationId xmlns:a16="http://schemas.microsoft.com/office/drawing/2014/main" id="{588F87E1-4F4C-41A1-A23C-4024E8C8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81075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AF0"/>
          </a:solidFill>
          <a:ln xmlns:a="http://schemas.openxmlformats.org/drawingml/2006/main" w="0">
            <a:noFill/>
          </a:ln>
        </p:spPr>
      </p:sp>
      <p:sp>
        <p:nvSpPr>
          <p:cNvPr id="11" name="observed-cell-0-1">
            <a:extLst xmlns:a="http://schemas.openxmlformats.org/drawingml/2006/main">
              <a:ext uri="{FF2B5EF4-FFF2-40B4-BE49-F238E27FC236}">
                <a16:creationId xmlns:a16="http://schemas.microsoft.com/office/drawing/2014/main" id="{3F1CCB15-F9FD-4F48-891F-59824F8F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81075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6D0"/>
          </a:solidFill>
          <a:ln xmlns:a="http://schemas.openxmlformats.org/drawingml/2006/main" w="0">
            <a:noFill/>
          </a:ln>
        </p:spPr>
      </p:sp>
      <p:sp>
        <p:nvSpPr>
          <p:cNvPr id="12" name="observed-cell-0-2">
            <a:extLst xmlns:a="http://schemas.openxmlformats.org/drawingml/2006/main">
              <a:ext uri="{FF2B5EF4-FFF2-40B4-BE49-F238E27FC236}">
                <a16:creationId xmlns:a16="http://schemas.microsoft.com/office/drawing/2014/main" id="{759F5188-8943-4113-9F6B-E0A5E7F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981075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DE4"/>
          </a:solidFill>
          <a:ln xmlns:a="http://schemas.openxmlformats.org/drawingml/2006/main" w="0">
            <a:noFill/>
          </a:ln>
        </p:spPr>
      </p:sp>
      <p:sp>
        <p:nvSpPr>
          <p:cNvPr id="13" name="observed-cell-1-0">
            <a:extLst xmlns:a="http://schemas.openxmlformats.org/drawingml/2006/main">
              <a:ext uri="{FF2B5EF4-FFF2-40B4-BE49-F238E27FC236}">
                <a16:creationId xmlns:a16="http://schemas.microsoft.com/office/drawing/2014/main" id="{C371522A-8B7B-4F3D-8609-035ED1BF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69658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7B6"/>
          </a:solidFill>
          <a:ln xmlns:a="http://schemas.openxmlformats.org/drawingml/2006/main" w="0">
            <a:noFill/>
          </a:ln>
        </p:spPr>
      </p:sp>
      <p:sp>
        <p:nvSpPr>
          <p:cNvPr id="14" name="observed-cell-1-1">
            <a:extLst xmlns:a="http://schemas.openxmlformats.org/drawingml/2006/main">
              <a:ext uri="{FF2B5EF4-FFF2-40B4-BE49-F238E27FC236}">
                <a16:creationId xmlns:a16="http://schemas.microsoft.com/office/drawing/2014/main" id="{C8BF108F-2F60-4A26-BCC0-7531D67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69658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5"/>
          </a:solidFill>
          <a:ln xmlns:a="http://schemas.openxmlformats.org/drawingml/2006/main" w="0">
            <a:noFill/>
          </a:ln>
        </p:spPr>
      </p:sp>
      <p:sp>
        <p:nvSpPr>
          <p:cNvPr id="15" name="observed-cell-1-2">
            <a:extLst xmlns:a="http://schemas.openxmlformats.org/drawingml/2006/main">
              <a:ext uri="{FF2B5EF4-FFF2-40B4-BE49-F238E27FC236}">
                <a16:creationId xmlns:a16="http://schemas.microsoft.com/office/drawing/2014/main" id="{6A3DA5D9-37C9-4C34-9EC4-523AC2D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69658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CD4"/>
          </a:solidFill>
          <a:ln xmlns:a="http://schemas.openxmlformats.org/drawingml/2006/main" w="0">
            <a:noFill/>
          </a:ln>
        </p:spPr>
      </p:sp>
      <p:sp>
        <p:nvSpPr>
          <p:cNvPr id="16" name="observed-cell-2-0">
            <a:extLst xmlns:a="http://schemas.openxmlformats.org/drawingml/2006/main">
              <a:ext uri="{FF2B5EF4-FFF2-40B4-BE49-F238E27FC236}">
                <a16:creationId xmlns:a16="http://schemas.microsoft.com/office/drawing/2014/main" id="{244BB348-20EB-4195-BBB2-FD58931E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158240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B7C3"/>
          </a:solidFill>
          <a:ln xmlns:a="http://schemas.openxmlformats.org/drawingml/2006/main" w="0">
            <a:noFill/>
          </a:ln>
        </p:spPr>
      </p:sp>
      <p:sp>
        <p:nvSpPr>
          <p:cNvPr id="17" name="observed-cell-2-1">
            <a:extLst xmlns:a="http://schemas.openxmlformats.org/drawingml/2006/main">
              <a:ext uri="{FF2B5EF4-FFF2-40B4-BE49-F238E27FC236}">
                <a16:creationId xmlns:a16="http://schemas.microsoft.com/office/drawing/2014/main" id="{CFD73DAE-E3E1-4D28-AB7A-1132CC6E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158240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E2E7"/>
          </a:solidFill>
          <a:ln xmlns:a="http://schemas.openxmlformats.org/drawingml/2006/main" w="0">
            <a:noFill/>
          </a:ln>
        </p:spPr>
      </p:sp>
      <p:sp>
        <p:nvSpPr>
          <p:cNvPr id="18" name="observed-cell-2-2">
            <a:extLst xmlns:a="http://schemas.openxmlformats.org/drawingml/2006/main">
              <a:ext uri="{FF2B5EF4-FFF2-40B4-BE49-F238E27FC236}">
                <a16:creationId xmlns:a16="http://schemas.microsoft.com/office/drawing/2014/main" id="{C6BB0824-3753-475F-A583-E4DFC8EA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158240"/>
            <a:ext cx="99060" cy="74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F2"/>
          </a:solidFill>
          <a:ln xmlns:a="http://schemas.openxmlformats.org/drawingml/2006/main" w="0">
            <a:noFill/>
          </a:ln>
        </p:spPr>
      </p:sp>
      <p:sp>
        <p:nvSpPr>
          <p:cNvPr id="19" name="feature-strip-layer-0">
            <a:extLst xmlns:a="http://schemas.openxmlformats.org/drawingml/2006/main">
              <a:ext uri="{FF2B5EF4-FFF2-40B4-BE49-F238E27FC236}">
                <a16:creationId xmlns:a16="http://schemas.microsoft.com/office/drawing/2014/main" id="{33F507AD-BA21-4BC9-9894-FF70D98F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" y="857250"/>
            <a:ext cx="171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20" name="feature-strip-layer-1">
            <a:extLst xmlns:a="http://schemas.openxmlformats.org/drawingml/2006/main">
              <a:ext uri="{FF2B5EF4-FFF2-40B4-BE49-F238E27FC236}">
                <a16:creationId xmlns:a16="http://schemas.microsoft.com/office/drawing/2014/main" id="{37C99CDC-38CC-43E3-93B3-40AD49EE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" y="895350"/>
            <a:ext cx="171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D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21" name="feature-strip-layer-2">
            <a:extLst xmlns:a="http://schemas.openxmlformats.org/drawingml/2006/main">
              <a:ext uri="{FF2B5EF4-FFF2-40B4-BE49-F238E27FC236}">
                <a16:creationId xmlns:a16="http://schemas.microsoft.com/office/drawing/2014/main" id="{4D765C01-E7E7-42D0-B72B-428E158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33450"/>
            <a:ext cx="171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5239">
            <a:solidFill>
              <a:srgbClr val="76BEC6"/>
            </a:solidFill>
            <a:prstDash val="solid"/>
          </a:ln>
        </p:spPr>
      </p:sp>
      <p:sp>
        <p:nvSpPr>
          <p:cNvPr id="22" name="feature-strip-cell-0">
            <a:extLst xmlns:a="http://schemas.openxmlformats.org/drawingml/2006/main">
              <a:ext uri="{FF2B5EF4-FFF2-40B4-BE49-F238E27FC236}">
                <a16:creationId xmlns:a16="http://schemas.microsoft.com/office/drawing/2014/main" id="{5619CA59-522B-4AC6-A0AE-E8298D6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42975"/>
            <a:ext cx="1524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1"/>
          </a:solidFill>
          <a:ln xmlns:a="http://schemas.openxmlformats.org/drawingml/2006/main" w="0">
            <a:noFill/>
          </a:ln>
        </p:spPr>
      </p:sp>
      <p:sp>
        <p:nvSpPr>
          <p:cNvPr id="23" name="feature-strip-cell-1">
            <a:extLst xmlns:a="http://schemas.openxmlformats.org/drawingml/2006/main">
              <a:ext uri="{FF2B5EF4-FFF2-40B4-BE49-F238E27FC236}">
                <a16:creationId xmlns:a16="http://schemas.microsoft.com/office/drawing/2014/main" id="{252B8B27-C7D2-4839-941B-4D2D0E9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27748"/>
            <a:ext cx="1524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0">
            <a:noFill/>
          </a:ln>
        </p:spPr>
      </p:sp>
      <p:sp>
        <p:nvSpPr>
          <p:cNvPr id="24" name="feature-strip-cell-2">
            <a:extLst xmlns:a="http://schemas.openxmlformats.org/drawingml/2006/main">
              <a:ext uri="{FF2B5EF4-FFF2-40B4-BE49-F238E27FC236}">
                <a16:creationId xmlns:a16="http://schemas.microsoft.com/office/drawing/2014/main" id="{D1D658EC-E5CC-4640-ABBF-3F2C814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12520"/>
            <a:ext cx="1524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0">
            <a:noFill/>
          </a:ln>
        </p:spPr>
      </p:sp>
      <p:sp>
        <p:nvSpPr>
          <p:cNvPr id="25" name="feature-strip-cell-3">
            <a:extLst xmlns:a="http://schemas.openxmlformats.org/drawingml/2006/main">
              <a:ext uri="{FF2B5EF4-FFF2-40B4-BE49-F238E27FC236}">
                <a16:creationId xmlns:a16="http://schemas.microsoft.com/office/drawing/2014/main" id="{0BF0AE4D-2FE3-4135-8FBD-1B839A4C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97293"/>
            <a:ext cx="1524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E1"/>
          </a:solidFill>
          <a:ln xmlns:a="http://schemas.openxmlformats.org/drawingml/2006/main" w="0">
            <a:noFill/>
          </a:ln>
        </p:spPr>
      </p:sp>
      <p:sp>
        <p:nvSpPr>
          <p:cNvPr id="26" name="paired-observations">
            <a:extLst xmlns:a="http://schemas.openxmlformats.org/drawingml/2006/main">
              <a:ext uri="{FF2B5EF4-FFF2-40B4-BE49-F238E27FC236}">
                <a16:creationId xmlns:a16="http://schemas.microsoft.com/office/drawing/2014/main" id="{AD33687E-D4B8-440F-82EE-1FCD741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323975"/>
            <a:ext cx="1123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paired observations</a:t>
            </a:r>
          </a:p>
        </p:txBody>
      </p:sp>
      <p:sp>
        <p:nvSpPr>
          <p:cNvPr id="27" name="dataset-label">
            <a:extLst xmlns:a="http://schemas.openxmlformats.org/drawingml/2006/main">
              <a:ext uri="{FF2B5EF4-FFF2-40B4-BE49-F238E27FC236}">
                <a16:creationId xmlns:a16="http://schemas.microsoft.com/office/drawing/2014/main" id="{385D3EA9-CC47-430B-943B-9DB37DB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47800"/>
            <a:ext cx="1276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915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D = {(X⁽ᵏ⁾, γ⁽ᵏ⁾)}</a:t>
            </a:r>
          </a:p>
        </p:txBody>
      </p:sp>
      <p:sp>
        <p:nvSpPr>
          <p:cNvPr id="28" name="observed-data-anchor">
            <a:extLst xmlns:a="http://schemas.openxmlformats.org/drawingml/2006/main">
              <a:ext uri="{FF2B5EF4-FFF2-40B4-BE49-F238E27FC236}">
                <a16:creationId xmlns:a16="http://schemas.microsoft.com/office/drawing/2014/main" id="{74B2748F-C5EA-4049-BEBD-6C416A1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71500"/>
            <a:ext cx="12763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joint-fit-field">
            <a:extLst xmlns:a="http://schemas.openxmlformats.org/drawingml/2006/main">
              <a:ext uri="{FF2B5EF4-FFF2-40B4-BE49-F238E27FC236}">
                <a16:creationId xmlns:a16="http://schemas.microsoft.com/office/drawing/2014/main" id="{018675B5-C1F2-4948-8C41-D8154441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"/>
            <a:ext cx="2705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noFill/>
          </a:ln>
        </p:spPr>
      </p:sp>
      <p:sp>
        <p:nvSpPr>
          <p:cNvPr id="30" name="joint-fit-anchor">
            <a:extLst xmlns:a="http://schemas.openxmlformats.org/drawingml/2006/main">
              <a:ext uri="{FF2B5EF4-FFF2-40B4-BE49-F238E27FC236}">
                <a16:creationId xmlns:a16="http://schemas.microsoft.com/office/drawing/2014/main" id="{C0D6E0A6-D4A2-4EED-B36D-E2744D37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"/>
            <a:ext cx="2705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fit-entry-anchor">
            <a:extLst xmlns:a="http://schemas.openxmlformats.org/drawingml/2006/main">
              <a:ext uri="{FF2B5EF4-FFF2-40B4-BE49-F238E27FC236}">
                <a16:creationId xmlns:a16="http://schemas.microsoft.com/office/drawing/2014/main" id="{37A8AF0C-A9D9-42CF-9A86-C7FAC1D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90600"/>
            <a:ext cx="9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joint-fit-title">
            <a:extLst xmlns:a="http://schemas.openxmlformats.org/drawingml/2006/main">
              <a:ext uri="{FF2B5EF4-FFF2-40B4-BE49-F238E27FC236}">
                <a16:creationId xmlns:a16="http://schemas.microsoft.com/office/drawing/2014/main" id="{AFEC726C-EE57-4AA1-923D-C7D059B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9125"/>
            <a:ext cx="2438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Joint MAP fit on D</a:t>
            </a:r>
          </a:p>
        </p:txBody>
      </p:sp>
      <p:sp>
        <p:nvSpPr>
          <p:cNvPr id="33" name="joint-fit-underline">
            <a:extLst xmlns:a="http://schemas.openxmlformats.org/drawingml/2006/main">
              <a:ext uri="{FF2B5EF4-FFF2-40B4-BE49-F238E27FC236}">
                <a16:creationId xmlns:a16="http://schemas.microsoft.com/office/drawing/2014/main" id="{7DD3994A-FD64-4D5F-AC2E-56CAF058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05025" y="7810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99AAB4"/>
            </a:solidFill>
            <a:prstDash val="solid"/>
          </a:ln>
        </p:spPr>
      </p:sp>
      <p:sp>
        <p:nvSpPr>
          <p:cNvPr id="34" name="phi-heading">
            <a:extLst xmlns:a="http://schemas.openxmlformats.org/drawingml/2006/main">
              <a:ext uri="{FF2B5EF4-FFF2-40B4-BE49-F238E27FC236}">
                <a16:creationId xmlns:a16="http://schemas.microsoft.com/office/drawing/2014/main" id="{3AAD7D2C-FAF7-4EF2-88C3-DB4BF900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3820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GIM parameters</a:t>
            </a:r>
          </a:p>
        </p:txBody>
      </p:sp>
      <p:sp>
        <p:nvSpPr>
          <p:cNvPr id="35" name="phi-left-0">
            <a:extLst xmlns:a="http://schemas.openxmlformats.org/drawingml/2006/main">
              <a:ext uri="{FF2B5EF4-FFF2-40B4-BE49-F238E27FC236}">
                <a16:creationId xmlns:a16="http://schemas.microsoft.com/office/drawing/2014/main" id="{28BFA5CA-7ED8-4512-8B48-765DC8EA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01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36" name="phi-left-1">
            <a:extLst xmlns:a="http://schemas.openxmlformats.org/drawingml/2006/main">
              <a:ext uri="{FF2B5EF4-FFF2-40B4-BE49-F238E27FC236}">
                <a16:creationId xmlns:a16="http://schemas.microsoft.com/office/drawing/2014/main" id="{7DFA9700-AEF1-4DD4-844E-946C478A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17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37" name="phi-left-2">
            <a:extLst xmlns:a="http://schemas.openxmlformats.org/drawingml/2006/main">
              <a:ext uri="{FF2B5EF4-FFF2-40B4-BE49-F238E27FC236}">
                <a16:creationId xmlns:a16="http://schemas.microsoft.com/office/drawing/2014/main" id="{090D0729-E745-4302-9828-7450A2E1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32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38" name="phi-middle-0">
            <a:extLst xmlns:a="http://schemas.openxmlformats.org/drawingml/2006/main">
              <a:ext uri="{FF2B5EF4-FFF2-40B4-BE49-F238E27FC236}">
                <a16:creationId xmlns:a16="http://schemas.microsoft.com/office/drawing/2014/main" id="{7857900E-9C99-4E08-8511-8737A35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095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1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39" name="phi-middle-1">
            <a:extLst xmlns:a="http://schemas.openxmlformats.org/drawingml/2006/main">
              <a:ext uri="{FF2B5EF4-FFF2-40B4-BE49-F238E27FC236}">
                <a16:creationId xmlns:a16="http://schemas.microsoft.com/office/drawing/2014/main" id="{4251B8D9-81EE-4BA5-983D-B53AA41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24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1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40" name="phi-right-0">
            <a:extLst xmlns:a="http://schemas.openxmlformats.org/drawingml/2006/main">
              <a:ext uri="{FF2B5EF4-FFF2-40B4-BE49-F238E27FC236}">
                <a16:creationId xmlns:a16="http://schemas.microsoft.com/office/drawing/2014/main" id="{350930C7-6521-4E92-8EDC-8AA3FFA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019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41" name="phi-right-1">
            <a:extLst xmlns:a="http://schemas.openxmlformats.org/drawingml/2006/main">
              <a:ext uri="{FF2B5EF4-FFF2-40B4-BE49-F238E27FC236}">
                <a16:creationId xmlns:a16="http://schemas.microsoft.com/office/drawing/2014/main" id="{4053A150-6558-420A-BD20-CB18490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7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42" name="phi-right-2">
            <a:extLst xmlns:a="http://schemas.openxmlformats.org/drawingml/2006/main">
              <a:ext uri="{FF2B5EF4-FFF2-40B4-BE49-F238E27FC236}">
                <a16:creationId xmlns:a16="http://schemas.microsoft.com/office/drawing/2014/main" id="{03FB68AE-05B2-4DFE-B4D4-8BE87199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32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43" name="phi-lm-0-0">
            <a:extLst xmlns:a="http://schemas.openxmlformats.org/drawingml/2006/main">
              <a:ext uri="{FF2B5EF4-FFF2-40B4-BE49-F238E27FC236}">
                <a16:creationId xmlns:a16="http://schemas.microsoft.com/office/drawing/2014/main" id="{FB9FB167-FDC4-4B42-9FE6-96352F3B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10620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4" name="phi-lm-0-1">
            <a:extLst xmlns:a="http://schemas.openxmlformats.org/drawingml/2006/main">
              <a:ext uri="{FF2B5EF4-FFF2-40B4-BE49-F238E27FC236}">
                <a16:creationId xmlns:a16="http://schemas.microsoft.com/office/drawing/2014/main" id="{79241DBC-403C-445F-A91A-9BD3615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1062038"/>
            <a:ext cx="21907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5" name="phi-lm-1-0">
            <a:extLst xmlns:a="http://schemas.openxmlformats.org/drawingml/2006/main">
              <a:ext uri="{FF2B5EF4-FFF2-40B4-BE49-F238E27FC236}">
                <a16:creationId xmlns:a16="http://schemas.microsoft.com/office/drawing/2014/main" id="{4A734664-28AD-4CEA-8898-E87D0D5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52650" y="11382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6" name="phi-lm-1-1">
            <a:extLst xmlns:a="http://schemas.openxmlformats.org/drawingml/2006/main">
              <a:ext uri="{FF2B5EF4-FFF2-40B4-BE49-F238E27FC236}">
                <a16:creationId xmlns:a16="http://schemas.microsoft.com/office/drawing/2014/main" id="{FF6CE06D-EEEF-4CDF-B526-DCEE7DE2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52650" y="12144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7" name="phi-lm-2-0">
            <a:extLst xmlns:a="http://schemas.openxmlformats.org/drawingml/2006/main">
              <a:ext uri="{FF2B5EF4-FFF2-40B4-BE49-F238E27FC236}">
                <a16:creationId xmlns:a16="http://schemas.microsoft.com/office/drawing/2014/main" id="{578FC790-F5F9-4198-99AA-5D7587F6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52650" y="1138238"/>
            <a:ext cx="21907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8" name="phi-lm-2-1">
            <a:extLst xmlns:a="http://schemas.openxmlformats.org/drawingml/2006/main">
              <a:ext uri="{FF2B5EF4-FFF2-40B4-BE49-F238E27FC236}">
                <a16:creationId xmlns:a16="http://schemas.microsoft.com/office/drawing/2014/main" id="{1B433B49-9D7D-48E0-AF7C-8226975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52650" y="12906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49" name="phi-mr-0-0">
            <a:extLst xmlns:a="http://schemas.openxmlformats.org/drawingml/2006/main">
              <a:ext uri="{FF2B5EF4-FFF2-40B4-BE49-F238E27FC236}">
                <a16:creationId xmlns:a16="http://schemas.microsoft.com/office/drawing/2014/main" id="{32E887D7-F2EB-4B6B-9B52-37D9D30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57450" y="10620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0" name="phi-mr-0-1">
            <a:extLst xmlns:a="http://schemas.openxmlformats.org/drawingml/2006/main">
              <a:ext uri="{FF2B5EF4-FFF2-40B4-BE49-F238E27FC236}">
                <a16:creationId xmlns:a16="http://schemas.microsoft.com/office/drawing/2014/main" id="{3374650E-9B5C-4379-84C3-93DF4CA6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11382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1" name="phi-mr-0-2">
            <a:extLst xmlns:a="http://schemas.openxmlformats.org/drawingml/2006/main">
              <a:ext uri="{FF2B5EF4-FFF2-40B4-BE49-F238E27FC236}">
                <a16:creationId xmlns:a16="http://schemas.microsoft.com/office/drawing/2014/main" id="{ED096E36-2DAC-4893-92CD-F502535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1138238"/>
            <a:ext cx="21907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2" name="phi-mr-1-0">
            <a:extLst xmlns:a="http://schemas.openxmlformats.org/drawingml/2006/main">
              <a:ext uri="{FF2B5EF4-FFF2-40B4-BE49-F238E27FC236}">
                <a16:creationId xmlns:a16="http://schemas.microsoft.com/office/drawing/2014/main" id="{2AD40FBA-8DFD-4241-8EB1-57C80B31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57450" y="1062038"/>
            <a:ext cx="21907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3" name="phi-mr-1-1">
            <a:extLst xmlns:a="http://schemas.openxmlformats.org/drawingml/2006/main">
              <a:ext uri="{FF2B5EF4-FFF2-40B4-BE49-F238E27FC236}">
                <a16:creationId xmlns:a16="http://schemas.microsoft.com/office/drawing/2014/main" id="{A16C1377-6DE4-4C50-A00B-E0E936A0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57450" y="12144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4" name="phi-mr-1-2">
            <a:extLst xmlns:a="http://schemas.openxmlformats.org/drawingml/2006/main">
              <a:ext uri="{FF2B5EF4-FFF2-40B4-BE49-F238E27FC236}">
                <a16:creationId xmlns:a16="http://schemas.microsoft.com/office/drawing/2014/main" id="{02C7AA6A-8718-46B5-B7EC-1BEDB879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57450" y="1290638"/>
            <a:ext cx="2190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">
            <a:solidFill>
              <a:srgbClr val="315B7D"/>
            </a:solidFill>
            <a:prstDash val="solid"/>
          </a:ln>
        </p:spPr>
      </p:sp>
      <p:sp>
        <p:nvSpPr>
          <p:cNvPr id="55" name="phi-star">
            <a:extLst xmlns:a="http://schemas.openxmlformats.org/drawingml/2006/main">
              <a:ext uri="{FF2B5EF4-FFF2-40B4-BE49-F238E27FC236}">
                <a16:creationId xmlns:a16="http://schemas.microsoft.com/office/drawing/2014/main" id="{2FDB9730-A40C-471F-B94F-4C012383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116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ϕ*</a:t>
            </a:r>
          </a:p>
        </p:txBody>
      </p:sp>
      <p:sp>
        <p:nvSpPr>
          <p:cNvPr id="56" name="phi-anchor">
            <a:extLst xmlns:a="http://schemas.openxmlformats.org/drawingml/2006/main">
              <a:ext uri="{FF2B5EF4-FFF2-40B4-BE49-F238E27FC236}">
                <a16:creationId xmlns:a16="http://schemas.microsoft.com/office/drawing/2014/main" id="{B1008029-3943-471C-9662-88925B05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4287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causal-heading">
            <a:extLst xmlns:a="http://schemas.openxmlformats.org/drawingml/2006/main">
              <a:ext uri="{FF2B5EF4-FFF2-40B4-BE49-F238E27FC236}">
                <a16:creationId xmlns:a16="http://schemas.microsoft.com/office/drawing/2014/main" id="{0C74ACED-D4AA-49F2-A1FE-B9B2B876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838200"/>
            <a:ext cx="952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Causal model</a:t>
            </a:r>
          </a:p>
        </p:txBody>
      </p:sp>
      <p:sp>
        <p:nvSpPr>
          <p:cNvPr id="58" name="fitted-x1">
            <a:extLst xmlns:a="http://schemas.openxmlformats.org/drawingml/2006/main">
              <a:ext uri="{FF2B5EF4-FFF2-40B4-BE49-F238E27FC236}">
                <a16:creationId xmlns:a16="http://schemas.microsoft.com/office/drawing/2014/main" id="{F4A9D28F-1350-4E78-95B8-DBC6A8E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971550"/>
            <a:ext cx="150876" cy="150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59" name="fitted-x2">
            <a:extLst xmlns:a="http://schemas.openxmlformats.org/drawingml/2006/main">
              <a:ext uri="{FF2B5EF4-FFF2-40B4-BE49-F238E27FC236}">
                <a16:creationId xmlns:a16="http://schemas.microsoft.com/office/drawing/2014/main" id="{DA173173-62A7-448D-BDC8-B08AE2A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39012"/>
            <a:ext cx="150876" cy="150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60" name="fitted-x3">
            <a:extLst xmlns:a="http://schemas.openxmlformats.org/drawingml/2006/main">
              <a:ext uri="{FF2B5EF4-FFF2-40B4-BE49-F238E27FC236}">
                <a16:creationId xmlns:a16="http://schemas.microsoft.com/office/drawing/2014/main" id="{DEA6938F-327F-4643-88D6-244BF36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1239012"/>
            <a:ext cx="150876" cy="1508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cxnSp>
        <p:nvCxnSpPr>
          <p:cNvPr id="206" name="fitted-edge-12"/>
          <p:cNvCxnSpPr>
            <a:stCxn xmlns:a="http://schemas.openxmlformats.org/drawingml/2006/main" id="58" idx="4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3694938" y="1122426"/>
            <a:ext cx="274320" cy="116586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cxnSp>
        <p:nvCxnSpPr>
          <p:cNvPr id="207" name="fitted-edge-13"/>
          <p:cNvCxnSpPr>
            <a:stCxn xmlns:a="http://schemas.openxmlformats.org/drawingml/2006/main" id="58" idx="4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969258" y="1122426"/>
            <a:ext cx="274320" cy="116586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cxnSp>
        <p:nvCxnSpPr>
          <p:cNvPr id="208" name="fitted-edge-23"/>
          <p:cNvCxnSpPr>
            <a:stCxn xmlns:a="http://schemas.openxmlformats.org/drawingml/2006/main" id="59" idx="6"/>
            <a:endCxn xmlns:a="http://schemas.openxmlformats.org/drawingml/2006/main" id="60" idx="2"/>
          </p:cNvCxnSpPr>
          <p:nvPr/>
        </p:nvCxnSpPr>
        <p:spPr>
          <a:xfrm xmlns:a="http://schemas.openxmlformats.org/drawingml/2006/main">
            <a:off x="3770376" y="1314450"/>
            <a:ext cx="397764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sp>
        <p:nvSpPr>
          <p:cNvPr id="64" name="fitted-x1-label">
            <a:extLst xmlns:a="http://schemas.openxmlformats.org/drawingml/2006/main">
              <a:ext uri="{FF2B5EF4-FFF2-40B4-BE49-F238E27FC236}">
                <a16:creationId xmlns:a16="http://schemas.microsoft.com/office/drawing/2014/main" id="{76CE61C2-0946-4E9F-93AF-A41920B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820" y="998982"/>
            <a:ext cx="150876" cy="96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X₁</a:t>
            </a:r>
          </a:p>
        </p:txBody>
      </p:sp>
      <p:sp>
        <p:nvSpPr>
          <p:cNvPr id="65" name="fitted-x2-label">
            <a:extLst xmlns:a="http://schemas.openxmlformats.org/drawingml/2006/main">
              <a:ext uri="{FF2B5EF4-FFF2-40B4-BE49-F238E27FC236}">
                <a16:creationId xmlns:a16="http://schemas.microsoft.com/office/drawing/2014/main" id="{EB2BA110-F94F-45AE-B6E8-50E0A9B7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66444"/>
            <a:ext cx="150876" cy="96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X₂</a:t>
            </a:r>
          </a:p>
        </p:txBody>
      </p:sp>
      <p:sp>
        <p:nvSpPr>
          <p:cNvPr id="66" name="fitted-x3-label">
            <a:extLst xmlns:a="http://schemas.openxmlformats.org/drawingml/2006/main">
              <a:ext uri="{FF2B5EF4-FFF2-40B4-BE49-F238E27FC236}">
                <a16:creationId xmlns:a16="http://schemas.microsoft.com/office/drawing/2014/main" id="{7EB845E1-7100-490B-810B-CAEB7BE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140" y="1266444"/>
            <a:ext cx="150876" cy="96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X₃</a:t>
            </a:r>
          </a:p>
        </p:txBody>
      </p:sp>
      <p:sp>
        <p:nvSpPr>
          <p:cNvPr id="67" name="causal-model-formula">
            <a:extLst xmlns:a="http://schemas.openxmlformats.org/drawingml/2006/main">
              <a:ext uri="{FF2B5EF4-FFF2-40B4-BE49-F238E27FC236}">
                <a16:creationId xmlns:a16="http://schemas.microsoft.com/office/drawing/2014/main" id="{E6CC639C-0C36-48E2-89D0-738C926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125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5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M* = {G*, θ*}</a:t>
            </a:r>
          </a:p>
        </p:txBody>
      </p:sp>
      <p:sp>
        <p:nvSpPr>
          <p:cNvPr id="68" name="top-model-anchor">
            <a:extLst xmlns:a="http://schemas.openxmlformats.org/drawingml/2006/main">
              <a:ext uri="{FF2B5EF4-FFF2-40B4-BE49-F238E27FC236}">
                <a16:creationId xmlns:a16="http://schemas.microsoft.com/office/drawing/2014/main" id="{2E263BD3-A277-4C51-87BD-483F77F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" name="observed-to-fit-connector"/>
          <p:cNvCxnSpPr>
            <a:stCxn xmlns:a="http://schemas.openxmlformats.org/drawingml/2006/main" id="28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1466850" y="1076325"/>
            <a:ext cx="295275" cy="47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5B7D"/>
            </a:solidFill>
            <a:prstDash val="solid"/>
            <a:tailEnd type="triangle" w="sm" len="sm"/>
          </a:ln>
        </p:spPr>
      </p:cxnSp>
      <p:sp>
        <p:nvSpPr>
          <p:cNvPr id="70" name="observed-to-fit-label">
            <a:extLst xmlns:a="http://schemas.openxmlformats.org/drawingml/2006/main">
              <a:ext uri="{FF2B5EF4-FFF2-40B4-BE49-F238E27FC236}">
                <a16:creationId xmlns:a16="http://schemas.microsoft.com/office/drawing/2014/main" id="{82F97025-7CB9-48CE-B487-65319EBC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143000"/>
            <a:ext cx="361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315B7D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15B7D"/>
                </a:solidFill>
                <a:latin typeface="Arial"/>
                <a:ea typeface="Arial"/>
                <a:cs typeface="Arial"/>
              </a:rPr>
              <a:t>fit jointly</a:t>
            </a:r>
          </a:p>
        </p:txBody>
      </p:sp>
      <p:sp>
        <p:nvSpPr>
          <p:cNvPr id="71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C2BF8E21-7989-4250-86E6-4E9C363C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" y="1724025"/>
            <a:ext cx="617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315B7D"/>
            </a:solidFill>
            <a:prstDash val="solid"/>
          </a:ln>
        </p:spPr>
      </p:sp>
      <p:sp>
        <p:nvSpPr>
          <p:cNvPr id="72" name="prediction-section-title">
            <a:extLst xmlns:a="http://schemas.openxmlformats.org/drawingml/2006/main">
              <a:ext uri="{FF2B5EF4-FFF2-40B4-BE49-F238E27FC236}">
                <a16:creationId xmlns:a16="http://schemas.microsoft.com/office/drawing/2014/main" id="{6506615D-11B0-4863-87B9-D5F04E2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781175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5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Predict an unseen perturbation</a:t>
            </a:r>
          </a:p>
        </p:txBody>
      </p:sp>
      <p:sp>
        <p:nvSpPr>
          <p:cNvPr id="73" name="unseen-heading">
            <a:extLst xmlns:a="http://schemas.openxmlformats.org/drawingml/2006/main">
              <a:ext uri="{FF2B5EF4-FFF2-40B4-BE49-F238E27FC236}">
                <a16:creationId xmlns:a16="http://schemas.microsoft.com/office/drawing/2014/main" id="{C82CA8E1-4DCE-4096-B588-0B5C6A9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0002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Unseen features</a:t>
            </a:r>
          </a:p>
        </p:txBody>
      </p:sp>
      <p:sp>
        <p:nvSpPr>
          <p:cNvPr id="74" name="gamma-shell">
            <a:extLst xmlns:a="http://schemas.openxmlformats.org/drawingml/2006/main">
              <a:ext uri="{FF2B5EF4-FFF2-40B4-BE49-F238E27FC236}">
                <a16:creationId xmlns:a16="http://schemas.microsoft.com/office/drawing/2014/main" id="{697E587F-E01F-4848-BABB-4529231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09800"/>
            <a:ext cx="171450" cy="552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9FA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75" name="gamma-star-cell-0">
            <a:extLst xmlns:a="http://schemas.openxmlformats.org/drawingml/2006/main">
              <a:ext uri="{FF2B5EF4-FFF2-40B4-BE49-F238E27FC236}">
                <a16:creationId xmlns:a16="http://schemas.microsoft.com/office/drawing/2014/main" id="{5B4DC1DC-2D15-4688-A3A9-4F1B1F2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228850"/>
            <a:ext cx="142875" cy="81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0">
            <a:noFill/>
          </a:ln>
        </p:spPr>
      </p:sp>
      <p:sp>
        <p:nvSpPr>
          <p:cNvPr id="76" name="gamma-star-cell-1">
            <a:extLst xmlns:a="http://schemas.openxmlformats.org/drawingml/2006/main">
              <a:ext uri="{FF2B5EF4-FFF2-40B4-BE49-F238E27FC236}">
                <a16:creationId xmlns:a16="http://schemas.microsoft.com/office/drawing/2014/main" id="{0A6B7132-FA67-4B22-97FD-A5A4304F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325053"/>
            <a:ext cx="142875" cy="81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7"/>
          </a:solidFill>
          <a:ln xmlns:a="http://schemas.openxmlformats.org/drawingml/2006/main" w="0">
            <a:noFill/>
          </a:ln>
        </p:spPr>
      </p:sp>
      <p:sp>
        <p:nvSpPr>
          <p:cNvPr id="77" name="gamma-star-cell-2">
            <a:extLst xmlns:a="http://schemas.openxmlformats.org/drawingml/2006/main">
              <a:ext uri="{FF2B5EF4-FFF2-40B4-BE49-F238E27FC236}">
                <a16:creationId xmlns:a16="http://schemas.microsoft.com/office/drawing/2014/main" id="{302D44AE-1216-49A8-9BF3-95D5A180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421255"/>
            <a:ext cx="142875" cy="81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0">
            <a:noFill/>
          </a:ln>
        </p:spPr>
      </p:sp>
      <p:sp>
        <p:nvSpPr>
          <p:cNvPr id="78" name="gamma-star-cell-3">
            <a:extLst xmlns:a="http://schemas.openxmlformats.org/drawingml/2006/main">
              <a:ext uri="{FF2B5EF4-FFF2-40B4-BE49-F238E27FC236}">
                <a16:creationId xmlns:a16="http://schemas.microsoft.com/office/drawing/2014/main" id="{A813E22E-3469-4A92-9212-EF575893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517458"/>
            <a:ext cx="142875" cy="81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noFill/>
          </a:ln>
        </p:spPr>
      </p:sp>
      <p:sp>
        <p:nvSpPr>
          <p:cNvPr id="79" name="gamma-star-cell-4">
            <a:extLst xmlns:a="http://schemas.openxmlformats.org/drawingml/2006/main">
              <a:ext uri="{FF2B5EF4-FFF2-40B4-BE49-F238E27FC236}">
                <a16:creationId xmlns:a16="http://schemas.microsoft.com/office/drawing/2014/main" id="{5444CD71-77A4-48F7-BD94-1ED0793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8" y="2613660"/>
            <a:ext cx="142875" cy="81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DA"/>
          </a:solidFill>
          <a:ln xmlns:a="http://schemas.openxmlformats.org/drawingml/2006/main" w="0">
            <a:noFill/>
          </a:ln>
        </p:spPr>
      </p:sp>
      <p:sp>
        <p:nvSpPr>
          <p:cNvPr id="80" name="gamma-ellipsis">
            <a:extLst xmlns:a="http://schemas.openxmlformats.org/drawingml/2006/main">
              <a:ext uri="{FF2B5EF4-FFF2-40B4-BE49-F238E27FC236}">
                <a16:creationId xmlns:a16="http://schemas.microsoft.com/office/drawing/2014/main" id="{93A17B53-90EA-4792-B443-490AAF95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47925"/>
            <a:ext cx="1333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⋮</a:t>
            </a:r>
          </a:p>
        </p:txBody>
      </p:sp>
      <p:sp>
        <p:nvSpPr>
          <p:cNvPr id="81" name="gamma-star">
            <a:extLst xmlns:a="http://schemas.openxmlformats.org/drawingml/2006/main">
              <a:ext uri="{FF2B5EF4-FFF2-40B4-BE49-F238E27FC236}">
                <a16:creationId xmlns:a16="http://schemas.microsoft.com/office/drawing/2014/main" id="{2F88B2AD-4329-4FC8-AFCE-C2AED640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90825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116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γ*</a:t>
            </a:r>
          </a:p>
        </p:txBody>
      </p:sp>
      <p:sp>
        <p:nvSpPr>
          <p:cNvPr id="82" name="gamma-anchor">
            <a:extLst xmlns:a="http://schemas.openxmlformats.org/drawingml/2006/main">
              <a:ext uri="{FF2B5EF4-FFF2-40B4-BE49-F238E27FC236}">
                <a16:creationId xmlns:a16="http://schemas.microsoft.com/office/drawing/2014/main" id="{33FAF7E2-34A5-42C0-83DE-0BFCD20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098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latent-heading">
            <a:extLst xmlns:a="http://schemas.openxmlformats.org/drawingml/2006/main">
              <a:ext uri="{FF2B5EF4-FFF2-40B4-BE49-F238E27FC236}">
                <a16:creationId xmlns:a16="http://schemas.microsoft.com/office/drawing/2014/main" id="{BF048A24-D408-41F4-92B5-8B7E83A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1000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Latent intervention</a:t>
            </a:r>
          </a:p>
        </p:txBody>
      </p:sp>
      <p:sp>
        <p:nvSpPr>
          <p:cNvPr id="84" name="gamma-stage-anchor">
            <a:extLst xmlns:a="http://schemas.openxmlformats.org/drawingml/2006/main">
              <a:ext uri="{FF2B5EF4-FFF2-40B4-BE49-F238E27FC236}">
                <a16:creationId xmlns:a16="http://schemas.microsoft.com/office/drawing/2014/main" id="{F1706E65-FA40-4C20-9D4D-2F8433C1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209800"/>
            <a:ext cx="619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latent-stage-anchor">
            <a:extLst xmlns:a="http://schemas.openxmlformats.org/drawingml/2006/main">
              <a:ext uri="{FF2B5EF4-FFF2-40B4-BE49-F238E27FC236}">
                <a16:creationId xmlns:a16="http://schemas.microsoft.com/office/drawing/2014/main" id="{509AA700-6BE3-45EF-B288-7D278EE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1000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target-mask-shell">
            <a:extLst xmlns:a="http://schemas.openxmlformats.org/drawingml/2006/main">
              <a:ext uri="{FF2B5EF4-FFF2-40B4-BE49-F238E27FC236}">
                <a16:creationId xmlns:a16="http://schemas.microsoft.com/office/drawing/2014/main" id="{982563E2-E043-4028-ACC1-F9DE5648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304800" cy="552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9FA"/>
          </a:solidFill>
          <a:ln xmlns:a="http://schemas.openxmlformats.org/drawingml/2006/main" w="7620">
            <a:solidFill>
              <a:srgbClr val="99AAB4"/>
            </a:solidFill>
            <a:prstDash val="solid"/>
          </a:ln>
        </p:spPr>
      </p:sp>
      <p:sp>
        <p:nvSpPr>
          <p:cNvPr id="87" name="target-mask-title">
            <a:extLst xmlns:a="http://schemas.openxmlformats.org/drawingml/2006/main">
              <a:ext uri="{FF2B5EF4-FFF2-40B4-BE49-F238E27FC236}">
                <a16:creationId xmlns:a16="http://schemas.microsoft.com/office/drawing/2014/main" id="{A6019ED5-BBCD-4F85-A4B2-2C7B4003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38375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8" name="target-mask-cell-0">
            <a:extLst xmlns:a="http://schemas.openxmlformats.org/drawingml/2006/main">
              <a:ext uri="{FF2B5EF4-FFF2-40B4-BE49-F238E27FC236}">
                <a16:creationId xmlns:a16="http://schemas.microsoft.com/office/drawing/2014/main" id="{F58FD920-31E9-481B-805C-75142A34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381250"/>
            <a:ext cx="152400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noFill/>
          </a:ln>
        </p:spPr>
      </p:sp>
      <p:sp>
        <p:nvSpPr>
          <p:cNvPr id="89" name="target-mask-cell-1">
            <a:extLst xmlns:a="http://schemas.openxmlformats.org/drawingml/2006/main">
              <a:ext uri="{FF2B5EF4-FFF2-40B4-BE49-F238E27FC236}">
                <a16:creationId xmlns:a16="http://schemas.microsoft.com/office/drawing/2014/main" id="{4B59E763-67D6-4D1F-B7BF-61C7D8E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459355"/>
            <a:ext cx="152400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9B"/>
          </a:solidFill>
          <a:ln xmlns:a="http://schemas.openxmlformats.org/drawingml/2006/main" w="0">
            <a:noFill/>
          </a:ln>
        </p:spPr>
      </p:sp>
      <p:sp>
        <p:nvSpPr>
          <p:cNvPr id="90" name="target-mask-cell-2">
            <a:extLst xmlns:a="http://schemas.openxmlformats.org/drawingml/2006/main">
              <a:ext uri="{FF2B5EF4-FFF2-40B4-BE49-F238E27FC236}">
                <a16:creationId xmlns:a16="http://schemas.microsoft.com/office/drawing/2014/main" id="{68A93C7F-3EDB-4801-9C21-1D0C7DE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37460"/>
            <a:ext cx="152400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7"/>
          </a:solidFill>
          <a:ln xmlns:a="http://schemas.openxmlformats.org/drawingml/2006/main" w="0">
            <a:noFill/>
          </a:ln>
        </p:spPr>
      </p:sp>
      <p:sp>
        <p:nvSpPr>
          <p:cNvPr id="91" name="target-mask-cell-3">
            <a:extLst xmlns:a="http://schemas.openxmlformats.org/drawingml/2006/main">
              <a:ext uri="{FF2B5EF4-FFF2-40B4-BE49-F238E27FC236}">
                <a16:creationId xmlns:a16="http://schemas.microsoft.com/office/drawing/2014/main" id="{4E142B38-76F8-4300-9919-99026279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15565"/>
            <a:ext cx="152400" cy="59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1"/>
          </a:solidFill>
          <a:ln xmlns:a="http://schemas.openxmlformats.org/drawingml/2006/main" w="0">
            <a:noFill/>
          </a:ln>
        </p:spPr>
      </p:sp>
      <p:sp>
        <p:nvSpPr>
          <p:cNvPr id="92" name="target-mask-caption">
            <a:extLst xmlns:a="http://schemas.openxmlformats.org/drawingml/2006/main">
              <a:ext uri="{FF2B5EF4-FFF2-40B4-BE49-F238E27FC236}">
                <a16:creationId xmlns:a16="http://schemas.microsoft.com/office/drawing/2014/main" id="{39C0CD49-41E0-41C2-972C-41C81CF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93" name="target-mask-anchor">
            <a:extLst xmlns:a="http://schemas.openxmlformats.org/drawingml/2006/main">
              <a:ext uri="{FF2B5EF4-FFF2-40B4-BE49-F238E27FC236}">
                <a16:creationId xmlns:a16="http://schemas.microsoft.com/office/drawing/2014/main" id="{FE36849A-24FC-4441-B0E6-8300B70A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304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parameter-shell">
            <a:extLst xmlns:a="http://schemas.openxmlformats.org/drawingml/2006/main">
              <a:ext uri="{FF2B5EF4-FFF2-40B4-BE49-F238E27FC236}">
                <a16:creationId xmlns:a16="http://schemas.microsoft.com/office/drawing/2014/main" id="{761B15CD-945F-4A51-A0A2-6228ED98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09800"/>
            <a:ext cx="447675" cy="5524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5F9FA"/>
          </a:solidFill>
          <a:ln xmlns:a="http://schemas.openxmlformats.org/drawingml/2006/main" w="7620">
            <a:solidFill>
              <a:srgbClr val="99AAB4"/>
            </a:solidFill>
            <a:prstDash val="solid"/>
          </a:ln>
        </p:spPr>
      </p:sp>
      <p:sp>
        <p:nvSpPr>
          <p:cNvPr id="95" name="parameter-title">
            <a:extLst xmlns:a="http://schemas.openxmlformats.org/drawingml/2006/main">
              <a:ext uri="{FF2B5EF4-FFF2-40B4-BE49-F238E27FC236}">
                <a16:creationId xmlns:a16="http://schemas.microsoft.com/office/drawing/2014/main" id="{F5423769-BB8B-48F3-8EB9-3826E5B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38375"/>
            <a:ext cx="447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938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ψ</a:t>
            </a:r>
          </a:p>
        </p:txBody>
      </p:sp>
      <p:sp>
        <p:nvSpPr>
          <p:cNvPr id="96" name="parameter-density">
            <a:extLst xmlns:a="http://schemas.openxmlformats.org/drawingml/2006/main">
              <a:ext uri="{FF2B5EF4-FFF2-40B4-BE49-F238E27FC236}">
                <a16:creationId xmlns:a16="http://schemas.microsoft.com/office/drawing/2014/main" id="{08E034E3-9EC2-425D-B107-0EDEE4D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390775"/>
            <a:ext cx="352425" cy="247650"/>
          </a:xfrm>
          <a:custGeom xmlns:a="http://schemas.openxmlformats.org/drawingml/2006/main">
            <a:pathLst>
              <a:path w="952500" h="952500">
                <a:moveTo>
                  <a:pt x="0" y="914400"/>
                </a:moveTo>
                <a:lnTo>
                  <a:pt x="0" y="905862"/>
                </a:lnTo>
                <a:lnTo>
                  <a:pt x="39687" y="898492"/>
                </a:lnTo>
                <a:lnTo>
                  <a:pt x="79375" y="886151"/>
                </a:lnTo>
                <a:lnTo>
                  <a:pt x="119063" y="866593"/>
                </a:lnTo>
                <a:lnTo>
                  <a:pt x="158750" y="837292"/>
                </a:lnTo>
                <a:lnTo>
                  <a:pt x="198438" y="795872"/>
                </a:lnTo>
                <a:lnTo>
                  <a:pt x="238125" y="740757"/>
                </a:lnTo>
                <a:lnTo>
                  <a:pt x="277813" y="671959"/>
                </a:lnTo>
                <a:lnTo>
                  <a:pt x="317500" y="591797"/>
                </a:lnTo>
                <a:lnTo>
                  <a:pt x="357188" y="505285"/>
                </a:lnTo>
                <a:lnTo>
                  <a:pt x="396875" y="419935"/>
                </a:lnTo>
                <a:lnTo>
                  <a:pt x="436562" y="344838"/>
                </a:lnTo>
                <a:lnTo>
                  <a:pt x="476250" y="289142"/>
                </a:lnTo>
                <a:lnTo>
                  <a:pt x="515938" y="260227"/>
                </a:lnTo>
                <a:lnTo>
                  <a:pt x="555625" y="262112"/>
                </a:lnTo>
                <a:lnTo>
                  <a:pt x="595313" y="294531"/>
                </a:lnTo>
                <a:lnTo>
                  <a:pt x="635000" y="352997"/>
                </a:lnTo>
                <a:lnTo>
                  <a:pt x="674688" y="429822"/>
                </a:lnTo>
                <a:lnTo>
                  <a:pt x="714375" y="515773"/>
                </a:lnTo>
                <a:lnTo>
                  <a:pt x="754062" y="601876"/>
                </a:lnTo>
                <a:lnTo>
                  <a:pt x="793750" y="680885"/>
                </a:lnTo>
                <a:lnTo>
                  <a:pt x="833438" y="748112"/>
                </a:lnTo>
                <a:lnTo>
                  <a:pt x="873125" y="801545"/>
                </a:lnTo>
                <a:lnTo>
                  <a:pt x="912813" y="841405"/>
                </a:lnTo>
                <a:lnTo>
                  <a:pt x="952500" y="869403"/>
                </a:lnTo>
                <a:lnTo>
                  <a:pt x="952500" y="914400"/>
                </a:lnTo>
                <a:close/>
              </a:path>
            </a:pathLst>
          </a:custGeom>
          <a:solidFill xmlns:a="http://schemas.openxmlformats.org/drawingml/2006/main">
            <a:srgbClr val="B9E2E5"/>
          </a:solidFill>
          <a:ln xmlns:a="http://schemas.openxmlformats.org/drawingml/2006/main" w="10478">
            <a:solidFill>
              <a:srgbClr val="008E9B"/>
            </a:solidFill>
            <a:prstDash val="solid"/>
          </a:ln>
        </p:spPr>
      </p:sp>
      <p:sp>
        <p:nvSpPr>
          <p:cNvPr id="97" name="parameter-density-axis">
            <a:extLst xmlns:a="http://schemas.openxmlformats.org/drawingml/2006/main">
              <a:ext uri="{FF2B5EF4-FFF2-40B4-BE49-F238E27FC236}">
                <a16:creationId xmlns:a16="http://schemas.microsoft.com/office/drawing/2014/main" id="{8D685E06-1590-4F20-908A-E59C4FAD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2628519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98" name="parameter-caption">
            <a:extLst xmlns:a="http://schemas.openxmlformats.org/drawingml/2006/main">
              <a:ext uri="{FF2B5EF4-FFF2-40B4-BE49-F238E27FC236}">
                <a16:creationId xmlns:a16="http://schemas.microsoft.com/office/drawing/2014/main" id="{7EFC611E-7F90-4C74-836D-08E2869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676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parameter</a:t>
            </a:r>
          </a:p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9" name="parameter-anchor">
            <a:extLst xmlns:a="http://schemas.openxmlformats.org/drawingml/2006/main">
              <a:ext uri="{FF2B5EF4-FFF2-40B4-BE49-F238E27FC236}">
                <a16:creationId xmlns:a16="http://schemas.microsoft.com/office/drawing/2014/main" id="{CF173A2B-53D2-4F52-AA6C-919C15E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09800"/>
            <a:ext cx="44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latent-pair-label">
            <a:extLst xmlns:a="http://schemas.openxmlformats.org/drawingml/2006/main">
              <a:ext uri="{FF2B5EF4-FFF2-40B4-BE49-F238E27FC236}">
                <a16:creationId xmlns:a16="http://schemas.microsoft.com/office/drawing/2014/main" id="{EB3517C1-2A07-463E-8A75-2FE6755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1000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915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(I, ψ)</a:t>
            </a:r>
          </a:p>
        </p:txBody>
      </p:sp>
      <p:sp>
        <p:nvSpPr>
          <p:cNvPr id="101" name="latent-conditional">
            <a:extLst xmlns:a="http://schemas.openxmlformats.org/drawingml/2006/main">
              <a:ext uri="{FF2B5EF4-FFF2-40B4-BE49-F238E27FC236}">
                <a16:creationId xmlns:a16="http://schemas.microsoft.com/office/drawing/2014/main" id="{40DAE9C9-4B9C-4105-8870-476ACB1F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0001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657985"/>
                </a:solidFill>
                <a:latin typeface="Arial"/>
                <a:ea typeface="Arial"/>
                <a:cs typeface="Arial"/>
              </a:rPr>
              <a:t>p(I, ψ; γ*, ϕ*)</a:t>
            </a:r>
          </a:p>
        </p:txBody>
      </p:sp>
      <p:sp>
        <p:nvSpPr>
          <p:cNvPr id="102" name="marginalization-bracket">
            <a:extLst xmlns:a="http://schemas.openxmlformats.org/drawingml/2006/main">
              <a:ext uri="{FF2B5EF4-FFF2-40B4-BE49-F238E27FC236}">
                <a16:creationId xmlns:a16="http://schemas.microsoft.com/office/drawing/2014/main" id="{21601CD4-D81A-4E6E-81A6-0631729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43275"/>
            <a:ext cx="676275" cy="114300"/>
          </a:xfrm>
          <a:custGeom xmlns:a="http://schemas.openxmlformats.org/drawingml/2006/main">
            <a:pathLst>
              <a:path w="952500" h="952500">
                <a:moveTo>
                  <a:pt x="28575" y="142875"/>
                </a:moveTo>
                <a:lnTo>
                  <a:pt x="28575" y="628650"/>
                </a:lnTo>
                <a:lnTo>
                  <a:pt x="466725" y="838200"/>
                </a:lnTo>
                <a:lnTo>
                  <a:pt x="923925" y="628650"/>
                </a:lnTo>
                <a:lnTo>
                  <a:pt x="923925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315B7D"/>
            </a:solidFill>
            <a:prstDash val="solid"/>
          </a:ln>
        </p:spPr>
      </p:sp>
      <p:sp>
        <p:nvSpPr>
          <p:cNvPr id="103" name="marginalization-label">
            <a:extLst xmlns:a="http://schemas.openxmlformats.org/drawingml/2006/main">
              <a:ext uri="{FF2B5EF4-FFF2-40B4-BE49-F238E27FC236}">
                <a16:creationId xmlns:a16="http://schemas.microsoft.com/office/drawing/2014/main" id="{946D2D8B-862D-43A6-82FF-C5E2FF2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48050"/>
            <a:ext cx="10001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marginalize I, ψ</a:t>
            </a:r>
          </a:p>
        </p:txBody>
      </p:sp>
      <p:sp>
        <p:nvSpPr>
          <p:cNvPr id="104" name="mechanism-heading">
            <a:extLst xmlns:a="http://schemas.openxmlformats.org/drawingml/2006/main">
              <a:ext uri="{FF2B5EF4-FFF2-40B4-BE49-F238E27FC236}">
                <a16:creationId xmlns:a16="http://schemas.microsoft.com/office/drawing/2014/main" id="{ACE9ABDB-6DA8-49E2-A3C5-72FF4C9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1504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Modified mechanisms</a:t>
            </a:r>
          </a:p>
        </p:txBody>
      </p:sp>
      <p:sp>
        <p:nvSpPr>
          <p:cNvPr id="105" name="modified-x1">
            <a:extLst xmlns:a="http://schemas.openxmlformats.org/drawingml/2006/main">
              <a:ext uri="{FF2B5EF4-FFF2-40B4-BE49-F238E27FC236}">
                <a16:creationId xmlns:a16="http://schemas.microsoft.com/office/drawing/2014/main" id="{27A29495-F5F4-4F21-B892-C50BEF5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945" y="2200275"/>
            <a:ext cx="171831" cy="1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sp>
        <p:nvSpPr>
          <p:cNvPr id="106" name="modified-x2">
            <a:extLst xmlns:a="http://schemas.openxmlformats.org/drawingml/2006/main">
              <a:ext uri="{FF2B5EF4-FFF2-40B4-BE49-F238E27FC236}">
                <a16:creationId xmlns:a16="http://schemas.microsoft.com/office/drawing/2014/main" id="{3659CC83-6480-469F-90B2-19B807B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04885"/>
            <a:ext cx="171831" cy="1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107" name="modified-x3">
            <a:extLst xmlns:a="http://schemas.openxmlformats.org/drawingml/2006/main">
              <a:ext uri="{FF2B5EF4-FFF2-40B4-BE49-F238E27FC236}">
                <a16:creationId xmlns:a16="http://schemas.microsoft.com/office/drawing/2014/main" id="{DA66C668-D284-4E15-BCFC-92D9ADD0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2504885"/>
            <a:ext cx="171831" cy="17183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113B63"/>
            </a:solidFill>
            <a:prstDash val="solid"/>
          </a:ln>
        </p:spPr>
      </p:sp>
      <p:cxnSp>
        <p:nvCxnSpPr>
          <p:cNvPr id="253" name="modified-edge-12"/>
          <p:cNvCxnSpPr>
            <a:stCxn xmlns:a="http://schemas.openxmlformats.org/drawingml/2006/main" id="105" idx="4"/>
            <a:endCxn xmlns:a="http://schemas.openxmlformats.org/drawingml/2006/main" id="106" idx="0"/>
          </p:cNvCxnSpPr>
          <p:nvPr/>
        </p:nvCxnSpPr>
        <p:spPr>
          <a:xfrm xmlns:a="http://schemas.openxmlformats.org/drawingml/2006/main" flipH="1">
            <a:off x="3143441" y="2372106"/>
            <a:ext cx="312420" cy="132779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cxnSp>
        <p:nvCxnSpPr>
          <p:cNvPr id="254" name="modified-edge-13"/>
          <p:cNvCxnSpPr>
            <a:stCxn xmlns:a="http://schemas.openxmlformats.org/drawingml/2006/main" id="105" idx="4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3455861" y="2372106"/>
            <a:ext cx="312420" cy="132779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cxnSp>
        <p:nvCxnSpPr>
          <p:cNvPr id="255" name="modified-edge-23"/>
          <p:cNvCxnSpPr>
            <a:stCxn xmlns:a="http://schemas.openxmlformats.org/drawingml/2006/main" id="106" idx="6"/>
            <a:endCxn xmlns:a="http://schemas.openxmlformats.org/drawingml/2006/main" id="107" idx="2"/>
          </p:cNvCxnSpPr>
          <p:nvPr/>
        </p:nvCxnSpPr>
        <p:spPr>
          <a:xfrm xmlns:a="http://schemas.openxmlformats.org/drawingml/2006/main">
            <a:off x="3229356" y="2590801"/>
            <a:ext cx="453009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203846"/>
            </a:solidFill>
            <a:prstDash val="solid"/>
            <a:tailEnd type="triangle" w="sm" len="sm"/>
          </a:ln>
        </p:spPr>
      </p:cxnSp>
      <p:sp>
        <p:nvSpPr>
          <p:cNvPr id="111" name="modified-x1-label">
            <a:extLst xmlns:a="http://schemas.openxmlformats.org/drawingml/2006/main">
              <a:ext uri="{FF2B5EF4-FFF2-40B4-BE49-F238E27FC236}">
                <a16:creationId xmlns:a16="http://schemas.microsoft.com/office/drawing/2014/main" id="{635EC2E2-3BAF-4FE0-B1AA-0A1092FC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945" y="2231517"/>
            <a:ext cx="171831" cy="109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X₁</a:t>
            </a:r>
          </a:p>
        </p:txBody>
      </p:sp>
      <p:sp>
        <p:nvSpPr>
          <p:cNvPr id="112" name="modified-x2-label">
            <a:extLst xmlns:a="http://schemas.openxmlformats.org/drawingml/2006/main">
              <a:ext uri="{FF2B5EF4-FFF2-40B4-BE49-F238E27FC236}">
                <a16:creationId xmlns:a16="http://schemas.microsoft.com/office/drawing/2014/main" id="{60DD9561-0A6C-473E-9DC1-35AB2686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36127"/>
            <a:ext cx="171831" cy="109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X₂</a:t>
            </a:r>
          </a:p>
        </p:txBody>
      </p:sp>
      <p:sp>
        <p:nvSpPr>
          <p:cNvPr id="113" name="modified-x3-label">
            <a:extLst xmlns:a="http://schemas.openxmlformats.org/drawingml/2006/main">
              <a:ext uri="{FF2B5EF4-FFF2-40B4-BE49-F238E27FC236}">
                <a16:creationId xmlns:a16="http://schemas.microsoft.com/office/drawing/2014/main" id="{737772F2-2907-4EFC-8635-5D95B54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365" y="2536127"/>
            <a:ext cx="171831" cy="109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X₃</a:t>
            </a:r>
          </a:p>
        </p:txBody>
      </p:sp>
      <p:sp>
        <p:nvSpPr>
          <p:cNvPr id="114" name="old-mechanism">
            <a:extLst xmlns:a="http://schemas.openxmlformats.org/drawingml/2006/main">
              <a:ext uri="{FF2B5EF4-FFF2-40B4-BE49-F238E27FC236}">
                <a16:creationId xmlns:a16="http://schemas.microsoft.com/office/drawing/2014/main" id="{7FAC107E-1A30-4096-B4AB-20FA6FD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14650"/>
            <a:ext cx="657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657985"/>
                </a:solidFill>
                <a:latin typeface="Arial"/>
                <a:ea typeface="Arial"/>
                <a:cs typeface="Arial"/>
              </a:rPr>
              <a:t>pᵢ(xᵢ | paᵢ; θ)</a:t>
            </a:r>
          </a:p>
        </p:txBody>
      </p:sp>
      <p:sp>
        <p:nvSpPr>
          <p:cNvPr id="115" name="old-mechanism-anchor">
            <a:extLst xmlns:a="http://schemas.openxmlformats.org/drawingml/2006/main">
              <a:ext uri="{FF2B5EF4-FFF2-40B4-BE49-F238E27FC236}">
                <a16:creationId xmlns:a16="http://schemas.microsoft.com/office/drawing/2014/main" id="{C2C545E4-F65F-4AFB-AA39-DCAD8C33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14650"/>
            <a:ext cx="657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new-mechanism-anchor">
            <a:extLst xmlns:a="http://schemas.openxmlformats.org/drawingml/2006/main">
              <a:ext uri="{FF2B5EF4-FFF2-40B4-BE49-F238E27FC236}">
                <a16:creationId xmlns:a16="http://schemas.microsoft.com/office/drawing/2014/main" id="{22B540E5-39F2-4CB5-938B-AE8F3134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76550"/>
            <a:ext cx="7239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117" name="new-mechanism">
            <a:extLst xmlns:a="http://schemas.openxmlformats.org/drawingml/2006/main">
              <a:ext uri="{FF2B5EF4-FFF2-40B4-BE49-F238E27FC236}">
                <a16:creationId xmlns:a16="http://schemas.microsoft.com/office/drawing/2014/main" id="{E69E4DCF-0B34-4CA2-A0C1-F4FA2E00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666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p̃ᵢ(xᵢ | paᵢ; θ, ψ)</a:t>
            </a:r>
          </a:p>
        </p:txBody>
      </p:sp>
      <p:cxnSp>
        <p:nvCxnSpPr>
          <p:cNvPr id="263" name="mechanism-replacement-arrow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3543300" y="2971800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B98132"/>
            </a:solidFill>
            <a:prstDash val="solid"/>
            <a:tailEnd type="triangle" w="sm" len="sm"/>
          </a:ln>
        </p:spPr>
      </p:cxnSp>
      <p:sp>
        <p:nvSpPr>
          <p:cNvPr id="119" name="local-replacement-label">
            <a:extLst xmlns:a="http://schemas.openxmlformats.org/drawingml/2006/main">
              <a:ext uri="{FF2B5EF4-FFF2-40B4-BE49-F238E27FC236}">
                <a16:creationId xmlns:a16="http://schemas.microsoft.com/office/drawing/2014/main" id="{69504188-1075-4F78-9F7A-5F88889A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76575"/>
            <a:ext cx="8858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B98132"/>
                </a:solidFill>
                <a:latin typeface="Arial"/>
                <a:ea typeface="Arial"/>
                <a:cs typeface="Arial"/>
              </a:rPr>
              <a:t>local replacement</a:t>
            </a:r>
          </a:p>
        </p:txBody>
      </p:sp>
      <p:sp>
        <p:nvSpPr>
          <p:cNvPr id="120" name="unchanged-label">
            <a:extLst xmlns:a="http://schemas.openxmlformats.org/drawingml/2006/main">
              <a:ext uri="{FF2B5EF4-FFF2-40B4-BE49-F238E27FC236}">
                <a16:creationId xmlns:a16="http://schemas.microsoft.com/office/drawing/2014/main" id="{6500AF6F-DE81-4616-99E6-B1AB8BE2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90875"/>
            <a:ext cx="15049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all other mechanisms unchanged</a:t>
            </a:r>
          </a:p>
        </p:txBody>
      </p:sp>
      <p:sp>
        <p:nvSpPr>
          <p:cNvPr id="121" name="predictive-heading">
            <a:extLst xmlns:a="http://schemas.openxmlformats.org/drawingml/2006/main">
              <a:ext uri="{FF2B5EF4-FFF2-40B4-BE49-F238E27FC236}">
                <a16:creationId xmlns:a16="http://schemas.microsoft.com/office/drawing/2014/main" id="{BE9BA6F9-587E-4367-85EC-4686719F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00250"/>
            <a:ext cx="1495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Predictive response</a:t>
            </a:r>
          </a:p>
        </p:txBody>
      </p:sp>
      <p:sp>
        <p:nvSpPr>
          <p:cNvPr id="122" name="predictive-y-axis">
            <a:extLst xmlns:a="http://schemas.openxmlformats.org/drawingml/2006/main">
              <a:ext uri="{FF2B5EF4-FFF2-40B4-BE49-F238E27FC236}">
                <a16:creationId xmlns:a16="http://schemas.microsoft.com/office/drawing/2014/main" id="{18333620-EFDB-4B43-9B50-A56E6DD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81600" y="227647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123" name="predictive-x-axis">
            <a:extLst xmlns:a="http://schemas.openxmlformats.org/drawingml/2006/main">
              <a:ext uri="{FF2B5EF4-FFF2-40B4-BE49-F238E27FC236}">
                <a16:creationId xmlns:a16="http://schemas.microsoft.com/office/drawing/2014/main" id="{D6260767-8DB5-4F5A-B768-24C4A228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81600" y="28098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124" name="predictive-density">
            <a:extLst xmlns:a="http://schemas.openxmlformats.org/drawingml/2006/main">
              <a:ext uri="{FF2B5EF4-FFF2-40B4-BE49-F238E27FC236}">
                <a16:creationId xmlns:a16="http://schemas.microsoft.com/office/drawing/2014/main" id="{2FBBEE6D-AA95-43B8-9FB7-DF93ED7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95525"/>
            <a:ext cx="628650" cy="504825"/>
          </a:xfrm>
          <a:custGeom xmlns:a="http://schemas.openxmlformats.org/drawingml/2006/main">
            <a:pathLst>
              <a:path w="952500" h="952500">
                <a:moveTo>
                  <a:pt x="0" y="914400"/>
                </a:moveTo>
                <a:lnTo>
                  <a:pt x="0" y="905862"/>
                </a:lnTo>
                <a:lnTo>
                  <a:pt x="39687" y="898492"/>
                </a:lnTo>
                <a:lnTo>
                  <a:pt x="79375" y="886151"/>
                </a:lnTo>
                <a:lnTo>
                  <a:pt x="119063" y="866593"/>
                </a:lnTo>
                <a:lnTo>
                  <a:pt x="158750" y="837292"/>
                </a:lnTo>
                <a:lnTo>
                  <a:pt x="198438" y="795872"/>
                </a:lnTo>
                <a:lnTo>
                  <a:pt x="238125" y="740757"/>
                </a:lnTo>
                <a:lnTo>
                  <a:pt x="277813" y="671959"/>
                </a:lnTo>
                <a:lnTo>
                  <a:pt x="317500" y="591797"/>
                </a:lnTo>
                <a:lnTo>
                  <a:pt x="357188" y="505285"/>
                </a:lnTo>
                <a:lnTo>
                  <a:pt x="396875" y="419935"/>
                </a:lnTo>
                <a:lnTo>
                  <a:pt x="436562" y="344838"/>
                </a:lnTo>
                <a:lnTo>
                  <a:pt x="476250" y="289142"/>
                </a:lnTo>
                <a:lnTo>
                  <a:pt x="515938" y="260227"/>
                </a:lnTo>
                <a:lnTo>
                  <a:pt x="555625" y="262112"/>
                </a:lnTo>
                <a:lnTo>
                  <a:pt x="595313" y="294531"/>
                </a:lnTo>
                <a:lnTo>
                  <a:pt x="635000" y="352997"/>
                </a:lnTo>
                <a:lnTo>
                  <a:pt x="674688" y="429822"/>
                </a:lnTo>
                <a:lnTo>
                  <a:pt x="714375" y="515773"/>
                </a:lnTo>
                <a:lnTo>
                  <a:pt x="754062" y="601876"/>
                </a:lnTo>
                <a:lnTo>
                  <a:pt x="793750" y="680885"/>
                </a:lnTo>
                <a:lnTo>
                  <a:pt x="833438" y="748112"/>
                </a:lnTo>
                <a:lnTo>
                  <a:pt x="873125" y="801545"/>
                </a:lnTo>
                <a:lnTo>
                  <a:pt x="912813" y="841405"/>
                </a:lnTo>
                <a:lnTo>
                  <a:pt x="952500" y="869403"/>
                </a:lnTo>
                <a:lnTo>
                  <a:pt x="952500" y="914400"/>
                </a:lnTo>
                <a:close/>
              </a:path>
            </a:pathLst>
          </a:custGeom>
          <a:solidFill xmlns:a="http://schemas.openxmlformats.org/drawingml/2006/main">
            <a:srgbClr val="B7E0E3"/>
          </a:solidFill>
          <a:ln xmlns:a="http://schemas.openxmlformats.org/drawingml/2006/main" w="10478">
            <a:solidFill>
              <a:srgbClr val="008E9B"/>
            </a:solidFill>
            <a:prstDash val="solid"/>
          </a:ln>
        </p:spPr>
      </p:sp>
      <p:sp>
        <p:nvSpPr>
          <p:cNvPr id="125" name="predictive-density-axis">
            <a:extLst xmlns:a="http://schemas.openxmlformats.org/drawingml/2006/main">
              <a:ext uri="{FF2B5EF4-FFF2-40B4-BE49-F238E27FC236}">
                <a16:creationId xmlns:a16="http://schemas.microsoft.com/office/drawing/2014/main" id="{3BD86D02-DAC0-4EF2-9C99-5F60A47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7325" y="2780157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126" name="predictive-x-label">
            <a:extLst xmlns:a="http://schemas.openxmlformats.org/drawingml/2006/main">
              <a:ext uri="{FF2B5EF4-FFF2-40B4-BE49-F238E27FC236}">
                <a16:creationId xmlns:a16="http://schemas.microsoft.com/office/drawing/2014/main" id="{7080A8F8-1249-46DF-9579-F9403FD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1333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27" name="predictive-formula">
            <a:extLst xmlns:a="http://schemas.openxmlformats.org/drawingml/2006/main">
              <a:ext uri="{FF2B5EF4-FFF2-40B4-BE49-F238E27FC236}">
                <a16:creationId xmlns:a16="http://schemas.microsoft.com/office/drawing/2014/main" id="{26BC7EC5-4086-4BCA-9CA5-EE0B419E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52750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5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1005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p(x | D; γ*)</a:t>
            </a:r>
          </a:p>
        </p:txBody>
      </p:sp>
      <p:sp>
        <p:nvSpPr>
          <p:cNvPr id="128" name="predictive-anchor">
            <a:extLst xmlns:a="http://schemas.openxmlformats.org/drawingml/2006/main">
              <a:ext uri="{FF2B5EF4-FFF2-40B4-BE49-F238E27FC236}">
                <a16:creationId xmlns:a16="http://schemas.microsoft.com/office/drawing/2014/main" id="{D191AC4F-F360-4234-BD31-337A378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91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mechanism-stage-anchor">
            <a:extLst xmlns:a="http://schemas.openxmlformats.org/drawingml/2006/main">
              <a:ext uri="{FF2B5EF4-FFF2-40B4-BE49-F238E27FC236}">
                <a16:creationId xmlns:a16="http://schemas.microsoft.com/office/drawing/2014/main" id="{24ABABAA-6DB7-42EB-8685-12B3F23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098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prediction-stage-anchor">
            <a:extLst xmlns:a="http://schemas.openxmlformats.org/drawingml/2006/main">
              <a:ext uri="{FF2B5EF4-FFF2-40B4-BE49-F238E27FC236}">
                <a16:creationId xmlns:a16="http://schemas.microsoft.com/office/drawing/2014/main" id="{80EA5EB7-6DC0-4E6F-80F8-2418707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91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conditioning-arrow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28675" y="25336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15B7D"/>
            </a:solidFill>
            <a:prstDash val="dash"/>
          </a:ln>
        </p:spPr>
      </p:cxnSp>
      <p:cxnSp>
        <p:nvCxnSpPr>
          <p:cNvPr id="277" name="apply-arrow"/>
          <p:cNvCxnSpPr>
            <a:stCxn xmlns:a="http://schemas.openxmlformats.org/drawingml/2006/main" id="85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2333625" y="25336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8E9B"/>
            </a:solidFill>
            <a:prstDash val="solid"/>
            <a:tailEnd type="triangle" w="sm" len="sm"/>
          </a:ln>
        </p:spPr>
      </p:cxnSp>
      <p:cxnSp>
        <p:nvCxnSpPr>
          <p:cNvPr id="278" name="generate-arrow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4391025" y="25336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8E9B"/>
            </a:solidFill>
            <a:prstDash val="solid"/>
            <a:tailEnd type="triangle" w="sm" len="sm"/>
          </a:ln>
        </p:spPr>
      </p:cxnSp>
      <p:sp>
        <p:nvSpPr>
          <p:cNvPr id="134" name="conditioning-label">
            <a:extLst xmlns:a="http://schemas.openxmlformats.org/drawingml/2006/main">
              <a:ext uri="{FF2B5EF4-FFF2-40B4-BE49-F238E27FC236}">
                <a16:creationId xmlns:a16="http://schemas.microsoft.com/office/drawing/2014/main" id="{B73095C7-3B11-45D7-B3A4-EF91C50B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62200"/>
            <a:ext cx="7143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315B7D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15B7D"/>
                </a:solidFill>
                <a:latin typeface="Arial"/>
                <a:ea typeface="Arial"/>
                <a:cs typeface="Arial"/>
              </a:rPr>
              <a:t>conditioning</a:t>
            </a:r>
          </a:p>
        </p:txBody>
      </p:sp>
      <p:sp>
        <p:nvSpPr>
          <p:cNvPr id="135" name="apply-label">
            <a:extLst xmlns:a="http://schemas.openxmlformats.org/drawingml/2006/main">
              <a:ext uri="{FF2B5EF4-FFF2-40B4-BE49-F238E27FC236}">
                <a16:creationId xmlns:a16="http://schemas.microsoft.com/office/drawing/2014/main" id="{A324071F-DB08-4F05-A060-E2D3289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62200"/>
            <a:ext cx="5524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008E9B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008E9B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136" name="generate-label">
            <a:extLst xmlns:a="http://schemas.openxmlformats.org/drawingml/2006/main">
              <a:ext uri="{FF2B5EF4-FFF2-40B4-BE49-F238E27FC236}">
                <a16:creationId xmlns:a16="http://schemas.microsoft.com/office/drawing/2014/main" id="{9AC6E394-00C0-4807-B208-93E52E2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6667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008E9B"/>
                </a:solidFill>
                <a:latin typeface="Arial"/>
                <a:ea typeface="Arial"/>
                <a:cs typeface="Arial"/>
              </a:defRPr>
            </a:pPr>
            <a:r>
              <a:rPr sz="765" b="1" i="0">
                <a:solidFill>
                  <a:srgbClr val="008E9B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37" name="shared-phi-connector">
            <a:extLst xmlns:a="http://schemas.openxmlformats.org/drawingml/2006/main">
              <a:ext uri="{FF2B5EF4-FFF2-40B4-BE49-F238E27FC236}">
                <a16:creationId xmlns:a16="http://schemas.microsoft.com/office/drawing/2014/main" id="{4AC3556A-75F3-4C91-AD16-ADA77C85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1543050"/>
            <a:ext cx="609600" cy="666750"/>
          </a:xfrm>
          <a:custGeom xmlns:a="http://schemas.openxmlformats.org/drawingml/2006/main">
            <a:pathLst>
              <a:path w="952500" h="952500">
                <a:moveTo>
                  <a:pt x="0" y="0"/>
                </a:moveTo>
                <a:lnTo>
                  <a:pt x="0" y="133350"/>
                </a:lnTo>
                <a:lnTo>
                  <a:pt x="952500" y="133350"/>
                </a:lnTo>
                <a:lnTo>
                  <a:pt x="952500" y="895350"/>
                </a:lnTo>
                <a:lnTo>
                  <a:pt x="361950" y="895350"/>
                </a:lnTo>
                <a:lnTo>
                  <a:pt x="36195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15B7D"/>
            </a:solidFill>
            <a:prstDash val="dash"/>
          </a:ln>
        </p:spPr>
      </p:sp>
      <p:cxnSp>
        <p:nvCxnSpPr>
          <p:cNvPr id="283" name="shared-model-connector"/>
          <p:cNvCxnSpPr>
            <a:stCxn xmlns:a="http://schemas.openxmlformats.org/drawingml/2006/main" id="68" idx="3"/>
            <a:endCxn xmlns:a="http://schemas.openxmlformats.org/drawingml/2006/main" id="129" idx="3"/>
          </p:cNvCxnSpPr>
          <p:nvPr/>
        </p:nvCxnSpPr>
        <p:spPr>
          <a:xfrm xmlns:a="http://schemas.openxmlformats.org/drawingml/2006/main">
            <a:off x="4381500" y="1485900"/>
            <a:ext cx="9525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315B7D"/>
            </a:solidFill>
            <a:prstDash val="dash"/>
          </a:ln>
        </p:spPr>
      </p:cxnSp>
      <p:sp>
        <p:nvSpPr>
          <p:cNvPr id="139" name="eq6-field">
            <a:extLst xmlns:a="http://schemas.openxmlformats.org/drawingml/2006/main">
              <a:ext uri="{FF2B5EF4-FFF2-40B4-BE49-F238E27FC236}">
                <a16:creationId xmlns:a16="http://schemas.microsoft.com/office/drawing/2014/main" id="{B61B1E3C-5A59-4669-8306-3CE7AEB9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23336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D8E2E7"/>
            </a:solidFill>
            <a:prstDash val="solid"/>
          </a:ln>
        </p:spPr>
      </p:sp>
      <p:sp>
        <p:nvSpPr>
          <p:cNvPr id="140" name="eq6">
            <a:extLst xmlns:a="http://schemas.openxmlformats.org/drawingml/2006/main">
              <a:ext uri="{FF2B5EF4-FFF2-40B4-BE49-F238E27FC236}">
                <a16:creationId xmlns:a16="http://schemas.microsoft.com/office/drawing/2014/main" id="{3836B91D-FB55-46C2-887B-9FBD828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86175"/>
            <a:ext cx="22383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0" i="1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840" b="0" i="1">
                <a:solidFill>
                  <a:srgbClr val="203846"/>
                </a:solidFill>
                <a:latin typeface="Arial"/>
                <a:ea typeface="Arial"/>
                <a:cs typeface="Arial"/>
              </a:rPr>
              <a:t>p(x | D; γ*) ≈ p(x | M*, ϕ*; γ*)</a:t>
            </a:r>
          </a:p>
        </p:txBody>
      </p:sp>
      <p:sp>
        <p:nvSpPr>
          <p:cNvPr id="141" name="schematic-only-footer">
            <a:extLst xmlns:a="http://schemas.openxmlformats.org/drawingml/2006/main">
              <a:ext uri="{FF2B5EF4-FFF2-40B4-BE49-F238E27FC236}">
                <a16:creationId xmlns:a16="http://schemas.microsoft.com/office/drawing/2014/main" id="{E21F17C2-C81A-4A1A-A9C5-882627EA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762375"/>
            <a:ext cx="2000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Schematic only; graphs/curves not measured</a:t>
            </a:r>
          </a:p>
        </p:txBody>
      </p:sp>
      <p:sp>
        <p:nvSpPr>
          <p:cNvPr id="142" name="legend-solid">
            <a:extLst xmlns:a="http://schemas.openxmlformats.org/drawingml/2006/main">
              <a:ext uri="{FF2B5EF4-FFF2-40B4-BE49-F238E27FC236}">
                <a16:creationId xmlns:a16="http://schemas.microsoft.com/office/drawing/2014/main" id="{83083585-0AAE-4362-9F37-BE55DD68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3705225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008E9B"/>
            </a:solidFill>
            <a:prstDash val="solid"/>
          </a:ln>
        </p:spPr>
      </p:sp>
      <p:sp>
        <p:nvSpPr>
          <p:cNvPr id="143" name="legend-solid-label">
            <a:extLst xmlns:a="http://schemas.openxmlformats.org/drawingml/2006/main">
              <a:ext uri="{FF2B5EF4-FFF2-40B4-BE49-F238E27FC236}">
                <a16:creationId xmlns:a16="http://schemas.microsoft.com/office/drawing/2014/main" id="{468BA89D-1B26-40AF-953B-6C4BF55C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238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solid: named steps</a:t>
            </a:r>
          </a:p>
        </p:txBody>
      </p:sp>
      <p:sp>
        <p:nvSpPr>
          <p:cNvPr id="144" name="legend-dashed">
            <a:extLst xmlns:a="http://schemas.openxmlformats.org/drawingml/2006/main">
              <a:ext uri="{FF2B5EF4-FFF2-40B4-BE49-F238E27FC236}">
                <a16:creationId xmlns:a16="http://schemas.microsoft.com/office/drawing/2014/main" id="{B405DE8A-9796-4AC8-8C74-939DB1FA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382905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315B7D"/>
            </a:solidFill>
            <a:prstDash val="dash"/>
          </a:ln>
        </p:spPr>
      </p:sp>
      <p:sp>
        <p:nvSpPr>
          <p:cNvPr id="145" name="legend-dashed-label">
            <a:extLst xmlns:a="http://schemas.openxmlformats.org/drawingml/2006/main">
              <a:ext uri="{FF2B5EF4-FFF2-40B4-BE49-F238E27FC236}">
                <a16:creationId xmlns:a16="http://schemas.microsoft.com/office/drawing/2014/main" id="{254816DD-226D-4814-95FD-E7963E3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62375"/>
            <a:ext cx="13620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dashed: condition / shared</a:t>
            </a:r>
          </a:p>
        </p:txBody>
      </p:sp>
    </p:spTree>
    <p:extLst>
      <p:ext uri="{BB962C8B-B14F-4D97-AF65-F5344CB8AC3E}">
        <p14:creationId xmlns:p14="http://schemas.microsoft.com/office/powerpoint/2010/main" val="464098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83CF6C-20CE-4D04-A497-CAB7F395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6200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Transformation with optional input</a:t>
            </a:r>
          </a:p>
        </p:txBody>
      </p:sp>
      <p:sp>
        <p:nvSpPr>
          <p:cNvPr id="2" name="template-label">
            <a:extLst xmlns:a="http://schemas.openxmlformats.org/drawingml/2006/main">
              <a:ext uri="{FF2B5EF4-FFF2-40B4-BE49-F238E27FC236}">
                <a16:creationId xmlns:a16="http://schemas.microsoft.com/office/drawing/2014/main" id="{9B738A76-B7CE-4EFD-A051-06B4B32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5250"/>
            <a:ext cx="1428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Reusable layout template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75B6F5B-B0B1-4B5D-B025-B2B02F8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" y="295275"/>
            <a:ext cx="617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315B7D"/>
            </a:solidFill>
            <a:prstDash val="solid"/>
          </a:ln>
        </p:spPr>
      </p:sp>
      <p:sp>
        <p:nvSpPr>
          <p:cNvPr id="4" name="template2-subtitle">
            <a:extLst xmlns:a="http://schemas.openxmlformats.org/drawingml/2006/main">
              <a:ext uri="{FF2B5EF4-FFF2-40B4-BE49-F238E27FC236}">
                <a16:creationId xmlns:a16="http://schemas.microsoft.com/office/drawing/2014/main" id="{2180217F-2F26-4B5A-966D-5855857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"/>
            <a:ext cx="3619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832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Scientific object → core transformation → output representation</a:t>
            </a:r>
          </a:p>
        </p:txBody>
      </p:sp>
      <p:sp>
        <p:nvSpPr>
          <p:cNvPr id="5" name="template2-input-heading">
            <a:extLst xmlns:a="http://schemas.openxmlformats.org/drawingml/2006/main">
              <a:ext uri="{FF2B5EF4-FFF2-40B4-BE49-F238E27FC236}">
                <a16:creationId xmlns:a16="http://schemas.microsoft.com/office/drawing/2014/main" id="{821965E7-11DB-4912-9482-197EBAA7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3425"/>
            <a:ext cx="1238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Input scientific object</a:t>
            </a:r>
          </a:p>
        </p:txBody>
      </p:sp>
      <p:sp>
        <p:nvSpPr>
          <p:cNvPr id="6" name="template2-input-anchor">
            <a:extLst xmlns:a="http://schemas.openxmlformats.org/drawingml/2006/main">
              <a:ext uri="{FF2B5EF4-FFF2-40B4-BE49-F238E27FC236}">
                <a16:creationId xmlns:a16="http://schemas.microsoft.com/office/drawing/2014/main" id="{364B6D06-0C9C-42EC-B11F-2EBE581C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47750"/>
            <a:ext cx="723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7" name="template2-input-dot-0">
            <a:extLst xmlns:a="http://schemas.openxmlformats.org/drawingml/2006/main">
              <a:ext uri="{FF2B5EF4-FFF2-40B4-BE49-F238E27FC236}">
                <a16:creationId xmlns:a16="http://schemas.microsoft.com/office/drawing/2014/main" id="{F4B87295-2B1A-4C95-9361-D6D7481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8" name="template2-input-dot-1">
            <a:extLst xmlns:a="http://schemas.openxmlformats.org/drawingml/2006/main">
              <a:ext uri="{FF2B5EF4-FFF2-40B4-BE49-F238E27FC236}">
                <a16:creationId xmlns:a16="http://schemas.microsoft.com/office/drawing/2014/main" id="{70E662AB-76EF-4D03-8449-6F438736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17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9" name="template2-input-dot-2">
            <a:extLst xmlns:a="http://schemas.openxmlformats.org/drawingml/2006/main">
              <a:ext uri="{FF2B5EF4-FFF2-40B4-BE49-F238E27FC236}">
                <a16:creationId xmlns:a16="http://schemas.microsoft.com/office/drawing/2014/main" id="{130331D3-92B0-4B1A-B961-C9E7629A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10" name="template2-input-dot-3">
            <a:extLst xmlns:a="http://schemas.openxmlformats.org/drawingml/2006/main">
              <a:ext uri="{FF2B5EF4-FFF2-40B4-BE49-F238E27FC236}">
                <a16:creationId xmlns:a16="http://schemas.microsoft.com/office/drawing/2014/main" id="{A150CF30-84AA-4C64-8094-E8E80BCB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514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11" name="template2-input-link-0">
            <a:extLst xmlns:a="http://schemas.openxmlformats.org/drawingml/2006/main">
              <a:ext uri="{FF2B5EF4-FFF2-40B4-BE49-F238E27FC236}">
                <a16:creationId xmlns:a16="http://schemas.microsoft.com/office/drawing/2014/main" id="{4D9592EB-1821-40B3-8D08-EEE6B1A5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4850" y="1228725"/>
            <a:ext cx="2762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315B7D"/>
            </a:solidFill>
            <a:prstDash val="solid"/>
          </a:ln>
        </p:spPr>
      </p:sp>
      <p:sp>
        <p:nvSpPr>
          <p:cNvPr id="12" name="template2-input-link-1">
            <a:extLst xmlns:a="http://schemas.openxmlformats.org/drawingml/2006/main">
              <a:ext uri="{FF2B5EF4-FFF2-40B4-BE49-F238E27FC236}">
                <a16:creationId xmlns:a16="http://schemas.microsoft.com/office/drawing/2014/main" id="{5A60D0F1-CA5A-4803-AD9D-C24062F5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" y="1228725"/>
            <a:ext cx="1238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315B7D"/>
            </a:solidFill>
            <a:prstDash val="solid"/>
          </a:ln>
        </p:spPr>
      </p:sp>
      <p:sp>
        <p:nvSpPr>
          <p:cNvPr id="13" name="template2-input-link-2">
            <a:extLst xmlns:a="http://schemas.openxmlformats.org/drawingml/2006/main">
              <a:ext uri="{FF2B5EF4-FFF2-40B4-BE49-F238E27FC236}">
                <a16:creationId xmlns:a16="http://schemas.microsoft.com/office/drawing/2014/main" id="{E3A071A4-D421-4896-B88D-EAB8A81E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09625" y="1485900"/>
            <a:ext cx="29527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315B7D"/>
            </a:solidFill>
            <a:prstDash val="solid"/>
          </a:ln>
        </p:spPr>
      </p:sp>
      <p:sp>
        <p:nvSpPr>
          <p:cNvPr id="14" name="template2-input-caption">
            <a:extLst xmlns:a="http://schemas.openxmlformats.org/drawingml/2006/main">
              <a:ext uri="{FF2B5EF4-FFF2-40B4-BE49-F238E27FC236}">
                <a16:creationId xmlns:a16="http://schemas.microsoft.com/office/drawing/2014/main" id="{7E1BF448-3A4E-4E05-AEDC-5DB44FFA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52600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replace with study-specific object</a:t>
            </a:r>
          </a:p>
        </p:txBody>
      </p:sp>
      <p:sp>
        <p:nvSpPr>
          <p:cNvPr id="15" name="template2-core-heading">
            <a:extLst xmlns:a="http://schemas.openxmlformats.org/drawingml/2006/main">
              <a:ext uri="{FF2B5EF4-FFF2-40B4-BE49-F238E27FC236}">
                <a16:creationId xmlns:a16="http://schemas.microsoft.com/office/drawing/2014/main" id="{618A7BA9-E0D6-4B22-9FFF-F78C09B1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3425"/>
            <a:ext cx="1600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Core transformation</a:t>
            </a:r>
          </a:p>
        </p:txBody>
      </p:sp>
      <p:sp>
        <p:nvSpPr>
          <p:cNvPr id="16" name="template2-core-anchor">
            <a:extLst xmlns:a="http://schemas.openxmlformats.org/drawingml/2006/main">
              <a:ext uri="{FF2B5EF4-FFF2-40B4-BE49-F238E27FC236}">
                <a16:creationId xmlns:a16="http://schemas.microsoft.com/office/drawing/2014/main" id="{BA325191-3605-4B2E-B170-D0865B2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047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1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17" name="template2-core-node-0">
            <a:extLst xmlns:a="http://schemas.openxmlformats.org/drawingml/2006/main">
              <a:ext uri="{FF2B5EF4-FFF2-40B4-BE49-F238E27FC236}">
                <a16:creationId xmlns:a16="http://schemas.microsoft.com/office/drawing/2014/main" id="{D9A86827-31E9-455B-9345-BD7D447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00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E9B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18" name="template2-core-node-1">
            <a:extLst xmlns:a="http://schemas.openxmlformats.org/drawingml/2006/main">
              <a:ext uri="{FF2B5EF4-FFF2-40B4-BE49-F238E27FC236}">
                <a16:creationId xmlns:a16="http://schemas.microsoft.com/office/drawing/2014/main" id="{50622750-EBE0-445D-B5D8-4719784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19" name="template2-core-node-2">
            <a:extLst xmlns:a="http://schemas.openxmlformats.org/drawingml/2006/main">
              <a:ext uri="{FF2B5EF4-FFF2-40B4-BE49-F238E27FC236}">
                <a16:creationId xmlns:a16="http://schemas.microsoft.com/office/drawing/2014/main" id="{CA3D6FF2-D70F-400C-BCDA-8BCDCE56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36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E9B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20" name="template2-core-node-3">
            <a:extLst xmlns:a="http://schemas.openxmlformats.org/drawingml/2006/main">
              <a:ext uri="{FF2B5EF4-FFF2-40B4-BE49-F238E27FC236}">
                <a16:creationId xmlns:a16="http://schemas.microsoft.com/office/drawing/2014/main" id="{FC91C805-58E8-40AD-894B-71F52E5C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5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E9B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21" name="template2-core-link-0">
            <a:extLst xmlns:a="http://schemas.openxmlformats.org/drawingml/2006/main">
              <a:ext uri="{FF2B5EF4-FFF2-40B4-BE49-F238E27FC236}">
                <a16:creationId xmlns:a16="http://schemas.microsoft.com/office/drawing/2014/main" id="{EC86E208-F3BA-4770-AD7B-C901B7B7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33725" y="1162050"/>
            <a:ext cx="1905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08E9B"/>
            </a:solidFill>
            <a:prstDash val="solid"/>
          </a:ln>
        </p:spPr>
      </p:sp>
      <p:sp>
        <p:nvSpPr>
          <p:cNvPr id="22" name="template2-core-link-1">
            <a:extLst xmlns:a="http://schemas.openxmlformats.org/drawingml/2006/main">
              <a:ext uri="{FF2B5EF4-FFF2-40B4-BE49-F238E27FC236}">
                <a16:creationId xmlns:a16="http://schemas.microsoft.com/office/drawing/2014/main" id="{3AE35F64-7455-4475-8761-8A522832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24225" y="1162050"/>
            <a:ext cx="381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08E9B"/>
            </a:solidFill>
            <a:prstDash val="solid"/>
          </a:ln>
        </p:spPr>
      </p:sp>
      <p:sp>
        <p:nvSpPr>
          <p:cNvPr id="23" name="template2-core-link-2">
            <a:extLst xmlns:a="http://schemas.openxmlformats.org/drawingml/2006/main">
              <a:ext uri="{FF2B5EF4-FFF2-40B4-BE49-F238E27FC236}">
                <a16:creationId xmlns:a16="http://schemas.microsoft.com/office/drawing/2014/main" id="{3EE2B1D3-2B67-421D-8048-1686754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43250" y="1400175"/>
            <a:ext cx="2190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08E9B"/>
            </a:solidFill>
            <a:prstDash val="solid"/>
          </a:ln>
        </p:spPr>
      </p:sp>
      <p:sp>
        <p:nvSpPr>
          <p:cNvPr id="24" name="template2-core-link-3">
            <a:extLst xmlns:a="http://schemas.openxmlformats.org/drawingml/2006/main">
              <a:ext uri="{FF2B5EF4-FFF2-40B4-BE49-F238E27FC236}">
                <a16:creationId xmlns:a16="http://schemas.microsoft.com/office/drawing/2014/main" id="{6447E9D9-E200-4C25-9F52-0D58F03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33725" y="1238250"/>
            <a:ext cx="95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008E9B"/>
            </a:solidFill>
            <a:prstDash val="solid"/>
          </a:ln>
        </p:spPr>
      </p:sp>
      <p:sp>
        <p:nvSpPr>
          <p:cNvPr id="25" name="template2-core-caption">
            <a:extLst xmlns:a="http://schemas.openxmlformats.org/drawingml/2006/main">
              <a:ext uri="{FF2B5EF4-FFF2-40B4-BE49-F238E27FC236}">
                <a16:creationId xmlns:a16="http://schemas.microsoft.com/office/drawing/2014/main" id="{362242AF-3AB8-4E6D-BE07-76472790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90700"/>
            <a:ext cx="1600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name the transformation here</a:t>
            </a:r>
          </a:p>
        </p:txBody>
      </p:sp>
      <p:sp>
        <p:nvSpPr>
          <p:cNvPr id="26" name="template2-output-heading">
            <a:extLst xmlns:a="http://schemas.openxmlformats.org/drawingml/2006/main">
              <a:ext uri="{FF2B5EF4-FFF2-40B4-BE49-F238E27FC236}">
                <a16:creationId xmlns:a16="http://schemas.microsoft.com/office/drawing/2014/main" id="{DF1A389F-802D-4837-BCCC-27DC7C50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33425"/>
            <a:ext cx="1295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Output representation</a:t>
            </a:r>
          </a:p>
        </p:txBody>
      </p:sp>
      <p:sp>
        <p:nvSpPr>
          <p:cNvPr id="27" name="template2-output-anchor">
            <a:extLst xmlns:a="http://schemas.openxmlformats.org/drawingml/2006/main">
              <a:ext uri="{FF2B5EF4-FFF2-40B4-BE49-F238E27FC236}">
                <a16:creationId xmlns:a16="http://schemas.microsoft.com/office/drawing/2014/main" id="{667FD081-A1BD-4880-AA0D-4A08366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047750"/>
            <a:ext cx="85725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F9FA"/>
          </a:solidFill>
          <a:ln xmlns:a="http://schemas.openxmlformats.org/drawingml/2006/main" w="7620">
            <a:solidFill>
              <a:srgbClr val="99AAB4"/>
            </a:solidFill>
            <a:prstDash val="solid"/>
          </a:ln>
        </p:spPr>
      </p:sp>
      <p:sp>
        <p:nvSpPr>
          <p:cNvPr id="28" name="template2-output-density">
            <a:extLst xmlns:a="http://schemas.openxmlformats.org/drawingml/2006/main">
              <a:ext uri="{FF2B5EF4-FFF2-40B4-BE49-F238E27FC236}">
                <a16:creationId xmlns:a16="http://schemas.microsoft.com/office/drawing/2014/main" id="{9C4A34E7-F66B-4CBB-856A-45E68EB8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19200"/>
            <a:ext cx="619125" cy="314325"/>
          </a:xfrm>
          <a:custGeom xmlns:a="http://schemas.openxmlformats.org/drawingml/2006/main">
            <a:pathLst>
              <a:path w="952500" h="952500">
                <a:moveTo>
                  <a:pt x="0" y="914400"/>
                </a:moveTo>
                <a:lnTo>
                  <a:pt x="0" y="905862"/>
                </a:lnTo>
                <a:lnTo>
                  <a:pt x="39687" y="898492"/>
                </a:lnTo>
                <a:lnTo>
                  <a:pt x="79375" y="886151"/>
                </a:lnTo>
                <a:lnTo>
                  <a:pt x="119063" y="866593"/>
                </a:lnTo>
                <a:lnTo>
                  <a:pt x="158750" y="837292"/>
                </a:lnTo>
                <a:lnTo>
                  <a:pt x="198438" y="795872"/>
                </a:lnTo>
                <a:lnTo>
                  <a:pt x="238125" y="740757"/>
                </a:lnTo>
                <a:lnTo>
                  <a:pt x="277813" y="671959"/>
                </a:lnTo>
                <a:lnTo>
                  <a:pt x="317500" y="591797"/>
                </a:lnTo>
                <a:lnTo>
                  <a:pt x="357188" y="505285"/>
                </a:lnTo>
                <a:lnTo>
                  <a:pt x="396875" y="419935"/>
                </a:lnTo>
                <a:lnTo>
                  <a:pt x="436562" y="344838"/>
                </a:lnTo>
                <a:lnTo>
                  <a:pt x="476250" y="289142"/>
                </a:lnTo>
                <a:lnTo>
                  <a:pt x="515938" y="260227"/>
                </a:lnTo>
                <a:lnTo>
                  <a:pt x="555625" y="262112"/>
                </a:lnTo>
                <a:lnTo>
                  <a:pt x="595313" y="294531"/>
                </a:lnTo>
                <a:lnTo>
                  <a:pt x="635000" y="352997"/>
                </a:lnTo>
                <a:lnTo>
                  <a:pt x="674688" y="429822"/>
                </a:lnTo>
                <a:lnTo>
                  <a:pt x="714375" y="515773"/>
                </a:lnTo>
                <a:lnTo>
                  <a:pt x="754062" y="601876"/>
                </a:lnTo>
                <a:lnTo>
                  <a:pt x="793750" y="680885"/>
                </a:lnTo>
                <a:lnTo>
                  <a:pt x="833438" y="748112"/>
                </a:lnTo>
                <a:lnTo>
                  <a:pt x="873125" y="801545"/>
                </a:lnTo>
                <a:lnTo>
                  <a:pt x="912813" y="841405"/>
                </a:lnTo>
                <a:lnTo>
                  <a:pt x="952500" y="869403"/>
                </a:lnTo>
                <a:lnTo>
                  <a:pt x="952500" y="914400"/>
                </a:lnTo>
                <a:close/>
              </a:path>
            </a:pathLst>
          </a:custGeom>
          <a:solidFill xmlns:a="http://schemas.openxmlformats.org/drawingml/2006/main">
            <a:srgbClr val="B7E0E3"/>
          </a:solidFill>
          <a:ln xmlns:a="http://schemas.openxmlformats.org/drawingml/2006/main" w="10478">
            <a:solidFill>
              <a:srgbClr val="008E9B"/>
            </a:solidFill>
            <a:prstDash val="solid"/>
          </a:ln>
        </p:spPr>
      </p:sp>
      <p:sp>
        <p:nvSpPr>
          <p:cNvPr id="29" name="template2-output-density-axis">
            <a:extLst xmlns:a="http://schemas.openxmlformats.org/drawingml/2006/main">
              <a:ext uri="{FF2B5EF4-FFF2-40B4-BE49-F238E27FC236}">
                <a16:creationId xmlns:a16="http://schemas.microsoft.com/office/drawing/2014/main" id="{F76DDF4D-86B0-4CF0-B418-462027C8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6350" y="1520952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30" name="template2-output-caption">
            <a:extLst xmlns:a="http://schemas.openxmlformats.org/drawingml/2006/main">
              <a:ext uri="{FF2B5EF4-FFF2-40B4-BE49-F238E27FC236}">
                <a16:creationId xmlns:a16="http://schemas.microsoft.com/office/drawing/2014/main" id="{BA58103D-924D-4C7D-9855-0CAE6CFA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6212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choose a task-appropriate output</a:t>
            </a:r>
          </a:p>
        </p:txBody>
      </p:sp>
      <p:sp>
        <p:nvSpPr>
          <p:cNvPr id="31" name="template2-optional-anchor">
            <a:extLst xmlns:a="http://schemas.openxmlformats.org/drawingml/2006/main">
              <a:ext uri="{FF2B5EF4-FFF2-40B4-BE49-F238E27FC236}">
                <a16:creationId xmlns:a16="http://schemas.microsoft.com/office/drawing/2014/main" id="{1A3C9D8E-CA8A-453A-BC11-C3EE4FB8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00125"/>
            <a:ext cx="5905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32" name="template2-optional-label">
            <a:extLst xmlns:a="http://schemas.openxmlformats.org/drawingml/2006/main">
              <a:ext uri="{FF2B5EF4-FFF2-40B4-BE49-F238E27FC236}">
                <a16:creationId xmlns:a16="http://schemas.microsoft.com/office/drawing/2014/main" id="{EE55B173-9E74-4112-BAFA-522C940A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057275"/>
            <a:ext cx="514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optional input</a:t>
            </a:r>
          </a:p>
        </p:txBody>
      </p:sp>
      <p:cxnSp>
        <p:nvCxnSpPr>
          <p:cNvPr id="73" name="template2-optional-connector"/>
          <p:cNvCxnSpPr>
            <a:stCxn xmlns:a="http://schemas.openxmlformats.org/drawingml/2006/main" id="31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2628900" y="1114425"/>
            <a:ext cx="276225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315B7D"/>
            </a:solidFill>
            <a:prstDash val="dash"/>
          </a:ln>
        </p:spPr>
      </p:cxnSp>
      <p:cxnSp>
        <p:nvCxnSpPr>
          <p:cNvPr id="74" name="template2-transform-arrow"/>
          <p:cNvCxnSpPr>
            <a:stCxn xmlns:a="http://schemas.openxmlformats.org/drawingml/2006/main" id="6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247775" y="1381125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8E9B"/>
            </a:solidFill>
            <a:prstDash val="solid"/>
            <a:tailEnd type="triangle" w="sm" len="sm"/>
          </a:ln>
        </p:spPr>
      </p:cxnSp>
      <p:sp>
        <p:nvSpPr>
          <p:cNvPr id="35" name="template2-transform-label">
            <a:extLst xmlns:a="http://schemas.openxmlformats.org/drawingml/2006/main">
              <a:ext uri="{FF2B5EF4-FFF2-40B4-BE49-F238E27FC236}">
                <a16:creationId xmlns:a16="http://schemas.microsoft.com/office/drawing/2014/main" id="{80FD3101-B8AA-4BDC-927F-3DC4376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52525"/>
            <a:ext cx="571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0" b="1" i="0">
                <a:solidFill>
                  <a:srgbClr val="008E9B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008E9B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cxnSp>
        <p:nvCxnSpPr>
          <p:cNvPr id="76" name="template2-render-arrow"/>
          <p:cNvCxnSpPr>
            <a:stCxn xmlns:a="http://schemas.openxmlformats.org/drawingml/2006/main" id="16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571875" y="1381125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3811">
            <a:solidFill>
              <a:srgbClr val="008E9B"/>
            </a:solidFill>
            <a:prstDash val="solid"/>
            <a:tailEnd type="triangle" w="sm" len="sm"/>
          </a:ln>
        </p:spPr>
      </p:cxnSp>
      <p:sp>
        <p:nvSpPr>
          <p:cNvPr id="37" name="template2-render-label">
            <a:extLst xmlns:a="http://schemas.openxmlformats.org/drawingml/2006/main">
              <a:ext uri="{FF2B5EF4-FFF2-40B4-BE49-F238E27FC236}">
                <a16:creationId xmlns:a16="http://schemas.microsoft.com/office/drawing/2014/main" id="{B5B7F56C-36E8-4CCF-8778-83B89FA5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152525"/>
            <a:ext cx="6762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0" b="1" i="0">
                <a:solidFill>
                  <a:srgbClr val="008E9B"/>
                </a:solidFill>
                <a:latin typeface="Arial"/>
                <a:ea typeface="Arial"/>
                <a:cs typeface="Arial"/>
              </a:defRPr>
            </a:pPr>
            <a:r>
              <a:rPr sz="780" b="1" i="0">
                <a:solidFill>
                  <a:srgbClr val="008E9B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38" name="template2-bottom-rule">
            <a:extLst xmlns:a="http://schemas.openxmlformats.org/drawingml/2006/main">
              <a:ext uri="{FF2B5EF4-FFF2-40B4-BE49-F238E27FC236}">
                <a16:creationId xmlns:a16="http://schemas.microsoft.com/office/drawing/2014/main" id="{B28C1B1D-B3A5-4189-9BFF-83847B4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2098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8E2E7"/>
            </a:solidFill>
            <a:prstDash val="solid"/>
          </a:ln>
        </p:spPr>
      </p:sp>
      <p:sp>
        <p:nvSpPr>
          <p:cNvPr id="39" name="template2-footer">
            <a:extLst xmlns:a="http://schemas.openxmlformats.org/drawingml/2006/main">
              <a:ext uri="{FF2B5EF4-FFF2-40B4-BE49-F238E27FC236}">
                <a16:creationId xmlns:a16="http://schemas.microsoft.com/office/drawing/2014/main" id="{B9E7862C-97FC-4EE4-84CA-37A5F1C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33625"/>
            <a:ext cx="501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7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57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Use solid connectors for named operations. Use a dashed connector only for optional conditioning or a shared parameter.</a:t>
            </a:r>
          </a:p>
        </p:txBody>
      </p:sp>
      <p:sp>
        <p:nvSpPr>
          <p:cNvPr id="40" name="template2-disclosure">
            <a:extLst xmlns:a="http://schemas.openxmlformats.org/drawingml/2006/main">
              <a:ext uri="{FF2B5EF4-FFF2-40B4-BE49-F238E27FC236}">
                <a16:creationId xmlns:a16="http://schemas.microsoft.com/office/drawing/2014/main" id="{30067C0E-39C5-45D9-A0CB-A00E61F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57475"/>
            <a:ext cx="501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315B7D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315B7D"/>
                </a:solidFill>
                <a:latin typeface="Arial"/>
                <a:ea typeface="Arial"/>
                <a:cs typeface="Arial"/>
              </a:rPr>
              <a:t>Generic labels are placeholders. This template makes no empirical claim.</a:t>
            </a:r>
          </a:p>
        </p:txBody>
      </p:sp>
    </p:spTree>
    <p:extLst>
      <p:ext uri="{BB962C8B-B14F-4D97-AF65-F5344CB8AC3E}">
        <p14:creationId xmlns:p14="http://schemas.microsoft.com/office/powerpoint/2010/main" val="368524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6B7368-DCA3-40F8-BDBD-787FCF7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6200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Matched method comparison</a:t>
            </a:r>
          </a:p>
        </p:txBody>
      </p:sp>
      <p:sp>
        <p:nvSpPr>
          <p:cNvPr id="2" name="template-label">
            <a:extLst xmlns:a="http://schemas.openxmlformats.org/drawingml/2006/main">
              <a:ext uri="{FF2B5EF4-FFF2-40B4-BE49-F238E27FC236}">
                <a16:creationId xmlns:a16="http://schemas.microsoft.com/office/drawing/2014/main" id="{B081CEDD-E7DC-4E67-AF38-42FFEAD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95250"/>
            <a:ext cx="1428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Reusable layout template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8A21ED-24ED-42D4-8DB5-D31D7BE9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2400" y="295275"/>
            <a:ext cx="617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315B7D"/>
            </a:solidFill>
            <a:prstDash val="solid"/>
          </a:ln>
        </p:spPr>
      </p:sp>
      <p:sp>
        <p:nvSpPr>
          <p:cNvPr id="4" name="template3-subtitle">
            <a:extLst xmlns:a="http://schemas.openxmlformats.org/drawingml/2006/main">
              <a:ext uri="{FF2B5EF4-FFF2-40B4-BE49-F238E27FC236}">
                <a16:creationId xmlns:a16="http://schemas.microsoft.com/office/drawing/2014/main" id="{A56F07D9-0CAD-472F-801D-5F80325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"/>
            <a:ext cx="39528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832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A shared input and matched output make the differing operation visible.</a:t>
            </a:r>
          </a:p>
        </p:txBody>
      </p:sp>
      <p:sp>
        <p:nvSpPr>
          <p:cNvPr id="5" name="template3-input-heading">
            <a:extLst xmlns:a="http://schemas.openxmlformats.org/drawingml/2006/main">
              <a:ext uri="{FF2B5EF4-FFF2-40B4-BE49-F238E27FC236}">
                <a16:creationId xmlns:a16="http://schemas.microsoft.com/office/drawing/2014/main" id="{BFECBE58-153C-4380-8375-32FEF8D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76350"/>
            <a:ext cx="9429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Shared input</a:t>
            </a:r>
          </a:p>
        </p:txBody>
      </p:sp>
      <p:sp>
        <p:nvSpPr>
          <p:cNvPr id="6" name="template3-input-anchor">
            <a:extLst xmlns:a="http://schemas.openxmlformats.org/drawingml/2006/main">
              <a:ext uri="{FF2B5EF4-FFF2-40B4-BE49-F238E27FC236}">
                <a16:creationId xmlns:a16="http://schemas.microsoft.com/office/drawing/2014/main" id="{1CED67D4-E8E0-4850-906D-31389EB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2F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7" name="template3-input-dot-0">
            <a:extLst xmlns:a="http://schemas.openxmlformats.org/drawingml/2006/main">
              <a:ext uri="{FF2B5EF4-FFF2-40B4-BE49-F238E27FC236}">
                <a16:creationId xmlns:a16="http://schemas.microsoft.com/office/drawing/2014/main" id="{212153B9-DF6D-4A77-B7BD-E03F1BE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8" name="template3-input-dot-1">
            <a:extLst xmlns:a="http://schemas.openxmlformats.org/drawingml/2006/main">
              <a:ext uri="{FF2B5EF4-FFF2-40B4-BE49-F238E27FC236}">
                <a16:creationId xmlns:a16="http://schemas.microsoft.com/office/drawing/2014/main" id="{552A0D27-4AB5-41D4-B349-165C963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38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9" name="template3-input-dot-2">
            <a:extLst xmlns:a="http://schemas.openxmlformats.org/drawingml/2006/main">
              <a:ext uri="{FF2B5EF4-FFF2-40B4-BE49-F238E27FC236}">
                <a16:creationId xmlns:a16="http://schemas.microsoft.com/office/drawing/2014/main" id="{E09BBE5F-5734-447D-B776-B1DCC81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28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10" name="template3-input-dot-3">
            <a:extLst xmlns:a="http://schemas.openxmlformats.org/drawingml/2006/main">
              <a:ext uri="{FF2B5EF4-FFF2-40B4-BE49-F238E27FC236}">
                <a16:creationId xmlns:a16="http://schemas.microsoft.com/office/drawing/2014/main" id="{845A5939-FAB3-4EB1-9E6A-87ADDC0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EC6"/>
          </a:solidFill>
          <a:ln xmlns:a="http://schemas.openxmlformats.org/drawingml/2006/main" w="7620">
            <a:solidFill>
              <a:srgbClr val="315B7D"/>
            </a:solidFill>
            <a:prstDash val="solid"/>
          </a:ln>
        </p:spPr>
      </p:sp>
      <p:sp>
        <p:nvSpPr>
          <p:cNvPr id="11" name="template3-input-caption">
            <a:extLst xmlns:a="http://schemas.openxmlformats.org/drawingml/2006/main">
              <a:ext uri="{FF2B5EF4-FFF2-40B4-BE49-F238E27FC236}">
                <a16:creationId xmlns:a16="http://schemas.microsoft.com/office/drawing/2014/main" id="{D877C8A2-82A6-42D2-9463-75AC9D6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133600"/>
            <a:ext cx="10001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same source object</a:t>
            </a:r>
          </a:p>
        </p:txBody>
      </p:sp>
      <p:sp>
        <p:nvSpPr>
          <p:cNvPr id="12" name="template3-route-a">
            <a:extLst xmlns:a="http://schemas.openxmlformats.org/drawingml/2006/main">
              <a:ext uri="{FF2B5EF4-FFF2-40B4-BE49-F238E27FC236}">
                <a16:creationId xmlns:a16="http://schemas.microsoft.com/office/drawing/2014/main" id="{25CA9C6B-483D-4534-993F-728C5F1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85800"/>
            <a:ext cx="74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008E9B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008E9B"/>
                </a:solidFill>
                <a:latin typeface="Arial"/>
                <a:ea typeface="Arial"/>
                <a:cs typeface="Arial"/>
              </a:rPr>
              <a:t>Route A</a:t>
            </a:r>
          </a:p>
        </p:txBody>
      </p:sp>
      <p:sp>
        <p:nvSpPr>
          <p:cNvPr id="13" name="template3-route-a-anchor">
            <a:extLst xmlns:a="http://schemas.openxmlformats.org/drawingml/2006/main">
              <a:ext uri="{FF2B5EF4-FFF2-40B4-BE49-F238E27FC236}">
                <a16:creationId xmlns:a16="http://schemas.microsoft.com/office/drawing/2014/main" id="{CF2F3931-156F-47CF-8C12-11795C8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923925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14" name="template3-route-a-operation">
            <a:extLst xmlns:a="http://schemas.openxmlformats.org/drawingml/2006/main">
              <a:ext uri="{FF2B5EF4-FFF2-40B4-BE49-F238E27FC236}">
                <a16:creationId xmlns:a16="http://schemas.microsoft.com/office/drawing/2014/main" id="{E1FD63F9-AB51-4C48-B522-90E66818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28700"/>
            <a:ext cx="1085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Operation A</a:t>
            </a:r>
          </a:p>
        </p:txBody>
      </p:sp>
      <p:sp>
        <p:nvSpPr>
          <p:cNvPr id="15" name="template3-route-a-detail">
            <a:extLst xmlns:a="http://schemas.openxmlformats.org/drawingml/2006/main">
              <a:ext uri="{FF2B5EF4-FFF2-40B4-BE49-F238E27FC236}">
                <a16:creationId xmlns:a16="http://schemas.microsoft.com/office/drawing/2014/main" id="{B8925F72-2F3A-4ACC-B690-616D40C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19200"/>
            <a:ext cx="1085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state the distinct operation</a:t>
            </a:r>
          </a:p>
        </p:txBody>
      </p:sp>
      <p:sp>
        <p:nvSpPr>
          <p:cNvPr id="16" name="template3-route-b">
            <a:extLst xmlns:a="http://schemas.openxmlformats.org/drawingml/2006/main">
              <a:ext uri="{FF2B5EF4-FFF2-40B4-BE49-F238E27FC236}">
                <a16:creationId xmlns:a16="http://schemas.microsoft.com/office/drawing/2014/main" id="{F75EABF2-6F18-4CA4-9A7A-F46FBAF1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90725"/>
            <a:ext cx="74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B98132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B98132"/>
                </a:solidFill>
                <a:latin typeface="Arial"/>
                <a:ea typeface="Arial"/>
                <a:cs typeface="Arial"/>
              </a:rPr>
              <a:t>Route B</a:t>
            </a:r>
          </a:p>
        </p:txBody>
      </p:sp>
      <p:sp>
        <p:nvSpPr>
          <p:cNvPr id="17" name="template3-route-b-anchor">
            <a:extLst xmlns:a="http://schemas.openxmlformats.org/drawingml/2006/main">
              <a:ext uri="{FF2B5EF4-FFF2-40B4-BE49-F238E27FC236}">
                <a16:creationId xmlns:a16="http://schemas.microsoft.com/office/drawing/2014/main" id="{492F4148-9C71-47BB-A4A6-8BF096A3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288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18" name="template3-route-b-operation">
            <a:extLst xmlns:a="http://schemas.openxmlformats.org/drawingml/2006/main">
              <a:ext uri="{FF2B5EF4-FFF2-40B4-BE49-F238E27FC236}">
                <a16:creationId xmlns:a16="http://schemas.microsoft.com/office/drawing/2014/main" id="{374D6DA2-1CEA-4583-80E1-BFB9BC9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333625"/>
            <a:ext cx="10858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840" b="1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Operation B</a:t>
            </a:r>
          </a:p>
        </p:txBody>
      </p:sp>
      <p:sp>
        <p:nvSpPr>
          <p:cNvPr id="19" name="template3-route-b-detail">
            <a:extLst xmlns:a="http://schemas.openxmlformats.org/drawingml/2006/main">
              <a:ext uri="{FF2B5EF4-FFF2-40B4-BE49-F238E27FC236}">
                <a16:creationId xmlns:a16="http://schemas.microsoft.com/office/drawing/2014/main" id="{15286952-3F68-4A21-B699-7AE7BC6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524125"/>
            <a:ext cx="1085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state the distinct operation</a:t>
            </a:r>
          </a:p>
        </p:txBody>
      </p:sp>
      <p:sp>
        <p:nvSpPr>
          <p:cNvPr id="20" name="template3-output-heading">
            <a:extLst xmlns:a="http://schemas.openxmlformats.org/drawingml/2006/main">
              <a:ext uri="{FF2B5EF4-FFF2-40B4-BE49-F238E27FC236}">
                <a16:creationId xmlns:a16="http://schemas.microsoft.com/office/drawing/2014/main" id="{EEE32E6A-8A1C-4EA4-A9EA-6C38A77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1238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113B63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113B63"/>
                </a:solidFill>
                <a:latin typeface="Arial"/>
                <a:ea typeface="Arial"/>
                <a:cs typeface="Arial"/>
              </a:rPr>
              <a:t>Matched output</a:t>
            </a:r>
          </a:p>
        </p:txBody>
      </p:sp>
      <p:sp>
        <p:nvSpPr>
          <p:cNvPr id="21" name="template3-output-frame">
            <a:extLst xmlns:a="http://schemas.openxmlformats.org/drawingml/2006/main">
              <a:ext uri="{FF2B5EF4-FFF2-40B4-BE49-F238E27FC236}">
                <a16:creationId xmlns:a16="http://schemas.microsoft.com/office/drawing/2014/main" id="{C10A7970-3B8C-422B-B4BF-5AE3D83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14400"/>
            <a:ext cx="1390650" cy="188595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5F9FA"/>
          </a:solidFill>
          <a:ln xmlns:a="http://schemas.openxmlformats.org/drawingml/2006/main" w="7620">
            <a:solidFill>
              <a:srgbClr val="99AAB4"/>
            </a:solidFill>
            <a:prstDash val="solid"/>
          </a:ln>
        </p:spPr>
      </p:sp>
      <p:sp>
        <p:nvSpPr>
          <p:cNvPr id="22" name="template3-output-frame-label">
            <a:extLst xmlns:a="http://schemas.openxmlformats.org/drawingml/2006/main">
              <a:ext uri="{FF2B5EF4-FFF2-40B4-BE49-F238E27FC236}">
                <a16:creationId xmlns:a16="http://schemas.microsoft.com/office/drawing/2014/main" id="{3DA9A9FE-E29F-4A56-8C4A-0364EBB9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90600"/>
            <a:ext cx="12001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shared output frame</a:t>
            </a:r>
          </a:p>
        </p:txBody>
      </p:sp>
      <p:sp>
        <p:nvSpPr>
          <p:cNvPr id="23" name="template3-output-a-anchor">
            <a:extLst xmlns:a="http://schemas.openxmlformats.org/drawingml/2006/main">
              <a:ext uri="{FF2B5EF4-FFF2-40B4-BE49-F238E27FC236}">
                <a16:creationId xmlns:a16="http://schemas.microsoft.com/office/drawing/2014/main" id="{0DDEB0B9-8EBA-4EF8-AFA6-B1C9BBC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219200"/>
            <a:ext cx="8382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CEFF1"/>
          </a:solidFill>
          <a:ln xmlns:a="http://schemas.openxmlformats.org/drawingml/2006/main" w="7620">
            <a:solidFill>
              <a:srgbClr val="008E9B"/>
            </a:solidFill>
            <a:prstDash val="solid"/>
          </a:ln>
        </p:spPr>
      </p:sp>
      <p:sp>
        <p:nvSpPr>
          <p:cNvPr id="24" name="template3-output-a-label">
            <a:extLst xmlns:a="http://schemas.openxmlformats.org/drawingml/2006/main">
              <a:ext uri="{FF2B5EF4-FFF2-40B4-BE49-F238E27FC236}">
                <a16:creationId xmlns:a16="http://schemas.microsoft.com/office/drawing/2014/main" id="{9745D5D7-AFB6-4E7B-96DF-E7664CB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76350"/>
            <a:ext cx="6858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Output A</a:t>
            </a:r>
          </a:p>
        </p:txBody>
      </p:sp>
      <p:sp>
        <p:nvSpPr>
          <p:cNvPr id="25" name="template3-output-a-density">
            <a:extLst xmlns:a="http://schemas.openxmlformats.org/drawingml/2006/main">
              <a:ext uri="{FF2B5EF4-FFF2-40B4-BE49-F238E27FC236}">
                <a16:creationId xmlns:a16="http://schemas.microsoft.com/office/drawing/2014/main" id="{CFD61C39-1C1B-4262-ADAB-07A3937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38275"/>
            <a:ext cx="514350" cy="190500"/>
          </a:xfrm>
          <a:custGeom xmlns:a="http://schemas.openxmlformats.org/drawingml/2006/main">
            <a:pathLst>
              <a:path w="952500" h="952500">
                <a:moveTo>
                  <a:pt x="0" y="914400"/>
                </a:moveTo>
                <a:lnTo>
                  <a:pt x="0" y="905862"/>
                </a:lnTo>
                <a:lnTo>
                  <a:pt x="39687" y="898492"/>
                </a:lnTo>
                <a:lnTo>
                  <a:pt x="79375" y="886151"/>
                </a:lnTo>
                <a:lnTo>
                  <a:pt x="119063" y="866593"/>
                </a:lnTo>
                <a:lnTo>
                  <a:pt x="158750" y="837292"/>
                </a:lnTo>
                <a:lnTo>
                  <a:pt x="198438" y="795872"/>
                </a:lnTo>
                <a:lnTo>
                  <a:pt x="238125" y="740757"/>
                </a:lnTo>
                <a:lnTo>
                  <a:pt x="277813" y="671959"/>
                </a:lnTo>
                <a:lnTo>
                  <a:pt x="317500" y="591797"/>
                </a:lnTo>
                <a:lnTo>
                  <a:pt x="357188" y="505285"/>
                </a:lnTo>
                <a:lnTo>
                  <a:pt x="396875" y="419935"/>
                </a:lnTo>
                <a:lnTo>
                  <a:pt x="436562" y="344838"/>
                </a:lnTo>
                <a:lnTo>
                  <a:pt x="476250" y="289142"/>
                </a:lnTo>
                <a:lnTo>
                  <a:pt x="515938" y="260227"/>
                </a:lnTo>
                <a:lnTo>
                  <a:pt x="555625" y="262112"/>
                </a:lnTo>
                <a:lnTo>
                  <a:pt x="595313" y="294531"/>
                </a:lnTo>
                <a:lnTo>
                  <a:pt x="635000" y="352997"/>
                </a:lnTo>
                <a:lnTo>
                  <a:pt x="674688" y="429822"/>
                </a:lnTo>
                <a:lnTo>
                  <a:pt x="714375" y="515773"/>
                </a:lnTo>
                <a:lnTo>
                  <a:pt x="754062" y="601876"/>
                </a:lnTo>
                <a:lnTo>
                  <a:pt x="793750" y="680885"/>
                </a:lnTo>
                <a:lnTo>
                  <a:pt x="833438" y="748112"/>
                </a:lnTo>
                <a:lnTo>
                  <a:pt x="873125" y="801545"/>
                </a:lnTo>
                <a:lnTo>
                  <a:pt x="912813" y="841405"/>
                </a:lnTo>
                <a:lnTo>
                  <a:pt x="952500" y="869403"/>
                </a:lnTo>
                <a:lnTo>
                  <a:pt x="952500" y="914400"/>
                </a:lnTo>
                <a:close/>
              </a:path>
            </a:pathLst>
          </a:custGeom>
          <a:solidFill xmlns:a="http://schemas.openxmlformats.org/drawingml/2006/main">
            <a:srgbClr val="B7E0E3"/>
          </a:solidFill>
          <a:ln xmlns:a="http://schemas.openxmlformats.org/drawingml/2006/main" w="10478">
            <a:solidFill>
              <a:srgbClr val="008E9B"/>
            </a:solidFill>
            <a:prstDash val="solid"/>
          </a:ln>
        </p:spPr>
      </p:sp>
      <p:sp>
        <p:nvSpPr>
          <p:cNvPr id="26" name="template3-output-a-density-axis">
            <a:extLst xmlns:a="http://schemas.openxmlformats.org/drawingml/2006/main">
              <a:ext uri="{FF2B5EF4-FFF2-40B4-BE49-F238E27FC236}">
                <a16:creationId xmlns:a16="http://schemas.microsoft.com/office/drawing/2014/main" id="{1666B3A4-C498-425A-AC7F-BB91891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14925" y="162115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27" name="template3-output-b-anchor">
            <a:extLst xmlns:a="http://schemas.openxmlformats.org/drawingml/2006/main">
              <a:ext uri="{FF2B5EF4-FFF2-40B4-BE49-F238E27FC236}">
                <a16:creationId xmlns:a16="http://schemas.microsoft.com/office/drawing/2014/main" id="{2E5F9108-9D9C-482F-9845-2A7455E9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00250"/>
            <a:ext cx="8382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5E9D2"/>
          </a:solidFill>
          <a:ln xmlns:a="http://schemas.openxmlformats.org/drawingml/2006/main" w="7620">
            <a:solidFill>
              <a:srgbClr val="B98132"/>
            </a:solidFill>
            <a:prstDash val="solid"/>
          </a:ln>
        </p:spPr>
      </p:sp>
      <p:sp>
        <p:nvSpPr>
          <p:cNvPr id="28" name="template3-output-b-label">
            <a:extLst xmlns:a="http://schemas.openxmlformats.org/drawingml/2006/main">
              <a:ext uri="{FF2B5EF4-FFF2-40B4-BE49-F238E27FC236}">
                <a16:creationId xmlns:a16="http://schemas.microsoft.com/office/drawing/2014/main" id="{B2D43118-31E7-46E3-91C6-3F1106D7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057400"/>
            <a:ext cx="6858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203846"/>
                </a:solidFill>
                <a:latin typeface="Arial"/>
                <a:ea typeface="Arial"/>
                <a:cs typeface="Arial"/>
              </a:defRPr>
            </a:pPr>
            <a:r>
              <a:rPr sz="713" b="1" i="0">
                <a:solidFill>
                  <a:srgbClr val="203846"/>
                </a:solidFill>
                <a:latin typeface="Arial"/>
                <a:ea typeface="Arial"/>
                <a:cs typeface="Arial"/>
              </a:rPr>
              <a:t>Output B</a:t>
            </a:r>
          </a:p>
        </p:txBody>
      </p:sp>
      <p:sp>
        <p:nvSpPr>
          <p:cNvPr id="29" name="template3-output-b-density">
            <a:extLst xmlns:a="http://schemas.openxmlformats.org/drawingml/2006/main">
              <a:ext uri="{FF2B5EF4-FFF2-40B4-BE49-F238E27FC236}">
                <a16:creationId xmlns:a16="http://schemas.microsoft.com/office/drawing/2014/main" id="{95E632C3-42D9-4CA3-899A-E270128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19325"/>
            <a:ext cx="514350" cy="190500"/>
          </a:xfrm>
          <a:custGeom xmlns:a="http://schemas.openxmlformats.org/drawingml/2006/main">
            <a:pathLst>
              <a:path w="952500" h="952500">
                <a:moveTo>
                  <a:pt x="0" y="914400"/>
                </a:moveTo>
                <a:lnTo>
                  <a:pt x="0" y="905862"/>
                </a:lnTo>
                <a:lnTo>
                  <a:pt x="39687" y="898492"/>
                </a:lnTo>
                <a:lnTo>
                  <a:pt x="79375" y="886151"/>
                </a:lnTo>
                <a:lnTo>
                  <a:pt x="119063" y="866593"/>
                </a:lnTo>
                <a:lnTo>
                  <a:pt x="158750" y="837292"/>
                </a:lnTo>
                <a:lnTo>
                  <a:pt x="198438" y="795872"/>
                </a:lnTo>
                <a:lnTo>
                  <a:pt x="238125" y="740757"/>
                </a:lnTo>
                <a:lnTo>
                  <a:pt x="277813" y="671959"/>
                </a:lnTo>
                <a:lnTo>
                  <a:pt x="317500" y="591797"/>
                </a:lnTo>
                <a:lnTo>
                  <a:pt x="357188" y="505285"/>
                </a:lnTo>
                <a:lnTo>
                  <a:pt x="396875" y="419935"/>
                </a:lnTo>
                <a:lnTo>
                  <a:pt x="436562" y="344838"/>
                </a:lnTo>
                <a:lnTo>
                  <a:pt x="476250" y="289142"/>
                </a:lnTo>
                <a:lnTo>
                  <a:pt x="515938" y="260227"/>
                </a:lnTo>
                <a:lnTo>
                  <a:pt x="555625" y="262112"/>
                </a:lnTo>
                <a:lnTo>
                  <a:pt x="595313" y="294531"/>
                </a:lnTo>
                <a:lnTo>
                  <a:pt x="635000" y="352997"/>
                </a:lnTo>
                <a:lnTo>
                  <a:pt x="674688" y="429822"/>
                </a:lnTo>
                <a:lnTo>
                  <a:pt x="714375" y="515773"/>
                </a:lnTo>
                <a:lnTo>
                  <a:pt x="754062" y="601876"/>
                </a:lnTo>
                <a:lnTo>
                  <a:pt x="793750" y="680885"/>
                </a:lnTo>
                <a:lnTo>
                  <a:pt x="833438" y="748112"/>
                </a:lnTo>
                <a:lnTo>
                  <a:pt x="873125" y="801545"/>
                </a:lnTo>
                <a:lnTo>
                  <a:pt x="912813" y="841405"/>
                </a:lnTo>
                <a:lnTo>
                  <a:pt x="952500" y="869403"/>
                </a:lnTo>
                <a:lnTo>
                  <a:pt x="952500" y="914400"/>
                </a:lnTo>
                <a:close/>
              </a:path>
            </a:pathLst>
          </a:custGeom>
          <a:solidFill xmlns:a="http://schemas.openxmlformats.org/drawingml/2006/main">
            <a:srgbClr val="B7E0E3"/>
          </a:solidFill>
          <a:ln xmlns:a="http://schemas.openxmlformats.org/drawingml/2006/main" w="10478">
            <a:solidFill>
              <a:srgbClr val="B98132"/>
            </a:solidFill>
            <a:prstDash val="solid"/>
          </a:ln>
        </p:spPr>
      </p:sp>
      <p:sp>
        <p:nvSpPr>
          <p:cNvPr id="30" name="template3-output-b-density-axis">
            <a:extLst xmlns:a="http://schemas.openxmlformats.org/drawingml/2006/main">
              <a:ext uri="{FF2B5EF4-FFF2-40B4-BE49-F238E27FC236}">
                <a16:creationId xmlns:a16="http://schemas.microsoft.com/office/drawing/2014/main" id="{E421D208-71CD-4EF4-9C6D-32C77C8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14925" y="240220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203846"/>
            </a:solidFill>
            <a:prstDash val="solid"/>
          </a:ln>
        </p:spPr>
      </p:sp>
      <p:sp>
        <p:nvSpPr>
          <p:cNvPr id="31" name="template3-output-caption">
            <a:extLst xmlns:a="http://schemas.openxmlformats.org/drawingml/2006/main">
              <a:ext uri="{FF2B5EF4-FFF2-40B4-BE49-F238E27FC236}">
                <a16:creationId xmlns:a16="http://schemas.microsoft.com/office/drawing/2014/main" id="{9117786C-E7BD-448B-9EC1-035C237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47975"/>
            <a:ext cx="1676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657985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985"/>
                </a:solidFill>
                <a:latin typeface="Arial"/>
                <a:ea typeface="Arial"/>
                <a:cs typeface="Arial"/>
              </a:rPr>
              <a:t>compare at a common endpoint</a:t>
            </a:r>
          </a:p>
        </p:txBody>
      </p:sp>
      <p:cxnSp>
        <p:nvCxnSpPr>
          <p:cNvPr id="69" name="template3-input-a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019175" y="1200150"/>
            <a:ext cx="742950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8E9B"/>
            </a:solidFill>
            <a:prstDash val="solid"/>
            <a:tailEnd type="triangle" w="sm" len="sm"/>
          </a:ln>
        </p:spPr>
      </p:cxnSp>
      <p:cxnSp>
        <p:nvCxnSpPr>
          <p:cNvPr id="70" name="template3-input-b"/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" y="1804988"/>
            <a:ext cx="742950" cy="7000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B98132"/>
            </a:solidFill>
            <a:prstDash val="solid"/>
            <a:tailEnd type="triangle" w="sm" len="sm"/>
          </a:ln>
        </p:spPr>
      </p:cxnSp>
      <p:cxnSp>
        <p:nvCxnSpPr>
          <p:cNvPr id="71" name="template3-a-output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000375" y="1200150"/>
            <a:ext cx="1962150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8E9B"/>
            </a:solidFill>
            <a:prstDash val="solid"/>
            <a:tailEnd type="triangle" w="sm" len="sm"/>
          </a:ln>
        </p:spPr>
      </p:cxnSp>
      <p:cxnSp>
        <p:nvCxnSpPr>
          <p:cNvPr id="72" name="template3-b-output"/>
          <p:cNvCxnSpPr>
            <a:stCxn xmlns:a="http://schemas.openxmlformats.org/drawingml/2006/main" id="1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3000375" y="2247900"/>
            <a:ext cx="196215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B98132"/>
            </a:solidFill>
            <a:prstDash val="solid"/>
            <a:tailEnd type="triangle" w="sm" len="sm"/>
          </a:ln>
        </p:spPr>
      </p:cxnSp>
      <p:sp>
        <p:nvSpPr>
          <p:cNvPr id="36" name="template3-bottom-rule">
            <a:extLst xmlns:a="http://schemas.openxmlformats.org/drawingml/2006/main">
              <a:ext uri="{FF2B5EF4-FFF2-40B4-BE49-F238E27FC236}">
                <a16:creationId xmlns:a16="http://schemas.microsoft.com/office/drawing/2014/main" id="{F6C64FDF-1B3A-4C4B-B04B-11BF515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067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8E2E7"/>
            </a:solidFill>
            <a:prstDash val="solid"/>
          </a:ln>
        </p:spPr>
      </p:sp>
      <p:sp>
        <p:nvSpPr>
          <p:cNvPr id="37" name="template3-disclosure">
            <a:extLst xmlns:a="http://schemas.openxmlformats.org/drawingml/2006/main">
              <a:ext uri="{FF2B5EF4-FFF2-40B4-BE49-F238E27FC236}">
                <a16:creationId xmlns:a16="http://schemas.microsoft.com/office/drawing/2014/main" id="{72B7A13A-4518-4CBE-BFA4-E9D49AB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14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7" b="0" i="0">
                <a:solidFill>
                  <a:srgbClr val="315B7D"/>
                </a:solidFill>
                <a:latin typeface="Arial"/>
                <a:ea typeface="Arial"/>
                <a:cs typeface="Arial"/>
              </a:defRPr>
            </a:pPr>
            <a:r>
              <a:rPr sz="757" b="0" i="0">
                <a:solidFill>
                  <a:srgbClr val="315B7D"/>
                </a:solidFill>
                <a:latin typeface="Arial"/>
                <a:ea typeface="Arial"/>
                <a:cs typeface="Arial"/>
              </a:rPr>
              <a:t>Template only. It does not claim that either route is better, faster, or more accurate.</a:t>
            </a:r>
          </a:p>
        </p:txBody>
      </p:sp>
    </p:spTree>
    <p:extLst>
      <p:ext uri="{BB962C8B-B14F-4D97-AF65-F5344CB8AC3E}">
        <p14:creationId xmlns:p14="http://schemas.microsoft.com/office/powerpoint/2010/main" val="434597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3</ns0:Slides>
  <ns0:Notes>3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Scientific method templates</dc:title>
</ns0:coreProperties>
</file>